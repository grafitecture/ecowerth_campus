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de-DE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Titel (cover). Kicker, Titel, Untertitel, Name und Funktion, Datum und Ort. Rechts der Kreislauf der Website mit den drei Marken im Kern.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Agenda (agenda). Ohne 'items' stehen hier die Kapitel der 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Kapitel (chapter). Der Ring zeigt die Kapitel als Kreislauf: das aktuelle in Grün, erledigte 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Einstieg (hook). Frage oder Zitat, Ausgangslage, Antwort von ECOWERTH.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Punkte (points). Zwei bis vier Punkte mit Kurztitel und Erklärung, die Standardfolie. Rechtsgrundlagen als Paragrafen-Chips.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Punkte + Foto (points_photo).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Punkte + Grafik (points_chart). Balken mit Wert 0–100 und eigener Anzeige.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Aussage (statement). Eine große Zahl oder ein Merksatz mit kurzer Erklärung.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Kennzahlen (facts). Zwei bis vier Kennzahlen auf dem grünen Band, wie auf der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Marken (brands). Zwei oder drei Spalten; 'brand' setzt Wortmarke und Farbe der Untermarke.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Checkliste (checklist). Bis zu acht nummerierte Punkte, ab sechs in zwei Spalten, optional mit Fokus-Box.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Schritte (steps). Drei bis fünf Schritte mit Titel und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Schritte mit Fotos (steps). Zwei bis vier Fotos in einer Reihe; fehlt ein Foto, steht ein Platzhalter mit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Vergleich (compare). Stile: do_dont (links richtig), myth_fact (rechts richtig), neutral (beide Seiten gleichwertig).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Tabelle (matrix). Bis zu zehn Zeilen und sieben Spalten; Zellen true (Haken), false (Strich) oder kurzer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Skala (scale). Schlagworte ('tags'), eine geordnete Skala ('scale') oder ein Zeitstrahl ('timeline'), darunter ein bis zwei Punkte.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Foto (photo). Foto über die ganze Folie, Textkarte unten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Zwei Fotos (photo_pair). Produktbilder mit 'fit' ganz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Foto mit Markierungen (photo_annotated). Bis zu fünf Markierungen, Position als Anteil der Bildfläche.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Praxisfall (case). Fall in zwei, drei Sätzen und bis zu fünf Zeilen; Spaltenköpfe über 'columns'.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Zitat (quote). Zitat mit Porträt, Name und Funktion; ohne Foto rückt der Text nach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Wissenscheck (quiz). Frage mit drei Antworten, Auflösung auf der Folgefolie.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Laut Pflichtenmatrix gelten für Importeure KrWG, ElektroG und BattG – ElektroG und BattG, soweit Elektrogeräte bzw. Batterien betroffen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Zusammenfassung (summary). Bis zu fünf Punkte mit Haken.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Abschluss (closing). Bis zu drei nächste Schritte und eine Kontaktkarte.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Titel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84200"/>
            <a:ext cx="2133600" cy="355600"/>
          </a:xfrm>
          <a:prstGeom prst="rect">
            <a:avLst/>
          </a:prstGeom>
        </p:spPr>
      </p:pic>
      <p:sp>
        <p:nvSpPr>
          <p:cNvPr id="3" name="cover-loop-hair"/>
          <p:cNvSpPr/>
          <p:nvPr/>
        </p:nvSpPr>
        <p:spPr>
          <a:xfrm>
            <a:off x="6781800" y="1193800"/>
            <a:ext cx="4724400" cy="4724400"/>
          </a:xfrm>
          <a:prstGeom prst="ellipse">
            <a:avLst/>
          </a:prstGeom>
          <a:noFill/>
          <a:ln w="12700">
            <a:solidFill>
              <a:srgbClr val="325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over-loop-arc-1"/>
          <p:cNvSpPr/>
          <p:nvPr/>
        </p:nvSpPr>
        <p:spPr>
          <a:xfrm>
            <a:off x="7166344" y="1578344"/>
            <a:ext cx="3955312" cy="3955312"/>
          </a:xfrm>
          <a:prstGeom prst="arc">
            <a:avLst>
              <a:gd name="adj1" fmla="val 13382958"/>
              <a:gd name="adj2" fmla="val 19017042"/>
            </a:avLst>
          </a:prstGeom>
          <a:noFill/>
          <a:ln w="274674" cap="rnd">
            <a:solidFill>
              <a:srgbClr val="117E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over-loop-arc-2"/>
          <p:cNvSpPr/>
          <p:nvPr/>
        </p:nvSpPr>
        <p:spPr>
          <a:xfrm>
            <a:off x="7166344" y="1578344"/>
            <a:ext cx="3955312" cy="3955312"/>
          </a:xfrm>
          <a:prstGeom prst="arc">
            <a:avLst>
              <a:gd name="adj1" fmla="val 20592676"/>
              <a:gd name="adj2" fmla="val 4626761"/>
            </a:avLst>
          </a:prstGeom>
          <a:noFill/>
          <a:ln w="274674" cap="rnd">
            <a:solidFill>
              <a:srgbClr val="6EA5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over-loop-arc-3"/>
          <p:cNvSpPr/>
          <p:nvPr/>
        </p:nvSpPr>
        <p:spPr>
          <a:xfrm>
            <a:off x="7166344" y="1578344"/>
            <a:ext cx="3955312" cy="3955312"/>
          </a:xfrm>
          <a:prstGeom prst="arc">
            <a:avLst>
              <a:gd name="adj1" fmla="val 6202395"/>
              <a:gd name="adj2" fmla="val 11836480"/>
            </a:avLst>
          </a:prstGeom>
          <a:noFill/>
          <a:ln w="274674" cap="rnd">
            <a:solidFill>
              <a:srgbClr val="AC19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over-loop-dot"/>
          <p:cNvSpPr/>
          <p:nvPr/>
        </p:nvSpPr>
        <p:spPr>
          <a:xfrm>
            <a:off x="10489326" y="2146989"/>
            <a:ext cx="549349" cy="5493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ver-loop-core"/>
          <p:cNvSpPr/>
          <p:nvPr/>
        </p:nvSpPr>
        <p:spPr>
          <a:xfrm>
            <a:off x="7633291" y="2045291"/>
            <a:ext cx="3021419" cy="30214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ver-loop-name-1"/>
          <p:cNvSpPr txBox="1"/>
          <p:nvPr/>
        </p:nvSpPr>
        <p:spPr>
          <a:xfrm>
            <a:off x="7633291" y="2958858"/>
            <a:ext cx="3021419" cy="3537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89" b="0" i="0" lang="de-DE" spc="151">
                <a:solidFill>
                  <a:srgbClr val="0F6AA6"/>
                </a:solidFill>
                <a:latin typeface="IBM Plex Mono Medium"/>
              </a:rPr>
              <a:t>ECOLOGICON</a:t>
            </a:r>
          </a:p>
        </p:txBody>
      </p:sp>
      <p:sp>
        <p:nvSpPr>
          <p:cNvPr id="10" name="cover-loop-name-2"/>
          <p:cNvSpPr txBox="1"/>
          <p:nvPr/>
        </p:nvSpPr>
        <p:spPr>
          <a:xfrm>
            <a:off x="7633291" y="3398337"/>
            <a:ext cx="3021419" cy="3537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89" b="0" i="0" lang="de-DE" spc="151">
                <a:solidFill>
                  <a:srgbClr val="4F7A1E"/>
                </a:solidFill>
                <a:latin typeface="IBM Plex Mono Medium"/>
              </a:rPr>
              <a:t>ECORELOOP</a:t>
            </a:r>
          </a:p>
        </p:txBody>
      </p:sp>
      <p:sp>
        <p:nvSpPr>
          <p:cNvPr id="11" name="cover-loop-name-3"/>
          <p:cNvSpPr txBox="1"/>
          <p:nvPr/>
        </p:nvSpPr>
        <p:spPr>
          <a:xfrm>
            <a:off x="7633291" y="3837816"/>
            <a:ext cx="3021419" cy="3537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89" b="0" i="0" lang="de-DE" spc="151">
                <a:solidFill>
                  <a:srgbClr val="AC1920"/>
                </a:solidFill>
                <a:latin typeface="IBM Plex Mono Medium"/>
              </a:rPr>
              <a:t>ECOINVEST</a:t>
            </a:r>
          </a:p>
        </p:txBody>
      </p:sp>
      <p:sp>
        <p:nvSpPr>
          <p:cNvPr id="12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20828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ECOWERTH · Präsentation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736600" y="2362200"/>
            <a:ext cx="571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58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idx="12" hasCustomPrompt="1"/>
          </p:nvPr>
        </p:nvSpPr>
        <p:spPr>
          <a:xfrm>
            <a:off x="762000" y="43815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200" b="0" i="0">
                <a:solidFill>
                  <a:srgbClr val="E8EEF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Untertitel</a:t>
            </a:r>
          </a:p>
        </p:txBody>
      </p:sp>
      <p:sp>
        <p:nvSpPr>
          <p:cNvPr id="15" name="Presenter"/>
          <p:cNvSpPr>
            <a:spLocks noGrp="1"/>
          </p:cNvSpPr>
          <p:nvPr>
            <p:ph type="body" idx="13" hasCustomPrompt="1"/>
          </p:nvPr>
        </p:nvSpPr>
        <p:spPr>
          <a:xfrm>
            <a:off x="762000" y="5448300"/>
            <a:ext cx="558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00" b="0" i="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</a:defRPr>
            </a:lvl1pPr>
          </a:lstStyle>
          <a:p>
            <a:r>
              <a:rPr lang="de-DE" dirty="0"/>
              <a:t>Name</a:t>
            </a:r>
          </a:p>
        </p:txBody>
      </p:sp>
      <p:sp>
        <p:nvSpPr>
          <p:cNvPr id="16" name="Credentials"/>
          <p:cNvSpPr>
            <a:spLocks noGrp="1"/>
          </p:cNvSpPr>
          <p:nvPr>
            <p:ph type="body" idx="14" hasCustomPrompt="1"/>
          </p:nvPr>
        </p:nvSpPr>
        <p:spPr>
          <a:xfrm>
            <a:off x="762000" y="5778500"/>
            <a:ext cx="558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A3B6C9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r>
              <a:rPr lang="de-DE" dirty="0"/>
              <a:t>Funktion
Datum · Ort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Kapitel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hapter-hair"/>
          <p:cNvSpPr/>
          <p:nvPr/>
        </p:nvSpPr>
        <p:spPr>
          <a:xfrm>
            <a:off x="889000" y="1905000"/>
            <a:ext cx="3810000" cy="3810000"/>
          </a:xfrm>
          <a:prstGeom prst="ellipse">
            <a:avLst/>
          </a:prstGeom>
          <a:noFill/>
          <a:ln w="12700">
            <a:solidFill>
              <a:srgbClr val="325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umber"/>
          <p:cNvSpPr>
            <a:spLocks noGrp="1"/>
          </p:cNvSpPr>
          <p:nvPr>
            <p:ph type="body" idx="16" hasCustomPrompt="1"/>
          </p:nvPr>
        </p:nvSpPr>
        <p:spPr>
          <a:xfrm>
            <a:off x="1524000" y="2984500"/>
            <a:ext cx="254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01</a:t>
            </a:r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5334000" y="24892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1 von 5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5308600" y="2768600"/>
            <a:ext cx="6121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60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Line"/>
          <p:cNvSpPr>
            <a:spLocks noGrp="1"/>
          </p:cNvSpPr>
          <p:nvPr>
            <p:ph type="body" idx="17" hasCustomPrompt="1"/>
          </p:nvPr>
        </p:nvSpPr>
        <p:spPr>
          <a:xfrm>
            <a:off x="5334000" y="3759200"/>
            <a:ext cx="5588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rgbClr val="E8EEF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Ein Satz zu diesem Kapitel.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Einstieg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ruth-card"/>
          <p:cNvSpPr/>
          <p:nvPr/>
        </p:nvSpPr>
        <p:spPr>
          <a:xfrm>
            <a:off x="762000" y="3429000"/>
            <a:ext cx="5080000" cy="21590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nswer-card"/>
          <p:cNvSpPr/>
          <p:nvPr/>
        </p:nvSpPr>
        <p:spPr>
          <a:xfrm>
            <a:off x="6096000" y="3429000"/>
            <a:ext cx="5334000" cy="21590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nswer-card-accent"/>
          <p:cNvSpPr/>
          <p:nvPr/>
        </p:nvSpPr>
        <p:spPr>
          <a:xfrm>
            <a:off x="6096000" y="3429000"/>
            <a:ext cx="38100" cy="21590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9" name="Quote"/>
          <p:cNvSpPr>
            <a:spLocks noGrp="1"/>
          </p:cNvSpPr>
          <p:nvPr>
            <p:ph type="body" idx="18" hasCustomPrompt="1"/>
          </p:nvPr>
        </p:nvSpPr>
        <p:spPr>
          <a:xfrm>
            <a:off x="762000" y="1270000"/>
            <a:ext cx="9906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400" b="0" i="0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lvl1pPr>
          </a:lstStyle>
          <a:p>
            <a:r>
              <a:rPr lang="de-DE" dirty="0"/>
              <a:t>Die Frage Ihres Gegenübers</a:t>
            </a:r>
          </a:p>
        </p:txBody>
      </p:sp>
      <p:sp>
        <p:nvSpPr>
          <p:cNvPr id="10" name="TruthLabel"/>
          <p:cNvSpPr>
            <a:spLocks noGrp="1"/>
          </p:cNvSpPr>
          <p:nvPr>
            <p:ph type="body" idx="19" hasCustomPrompt="1"/>
          </p:nvPr>
        </p:nvSpPr>
        <p:spPr>
          <a:xfrm>
            <a:off x="1079500" y="3683000"/>
            <a:ext cx="444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10">
                <a:solidFill>
                  <a:srgbClr val="A3B6C9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Ausgangslage</a:t>
            </a:r>
          </a:p>
        </p:txBody>
      </p:sp>
      <p:sp>
        <p:nvSpPr>
          <p:cNvPr id="11" name="TruthText"/>
          <p:cNvSpPr>
            <a:spLocks noGrp="1"/>
          </p:cNvSpPr>
          <p:nvPr>
            <p:ph type="body" idx="20" hasCustomPrompt="1"/>
          </p:nvPr>
        </p:nvSpPr>
        <p:spPr>
          <a:xfrm>
            <a:off x="1079500" y="3987800"/>
            <a:ext cx="4445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00" b="0" i="0">
                <a:solidFill>
                  <a:srgbClr val="E8EEF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Was heute passiert.</a:t>
            </a:r>
          </a:p>
        </p:txBody>
      </p:sp>
      <p:sp>
        <p:nvSpPr>
          <p:cNvPr id="12" name="AnswerLabel"/>
          <p:cNvSpPr>
            <a:spLocks noGrp="1"/>
          </p:cNvSpPr>
          <p:nvPr>
            <p:ph type="body" idx="21" hasCustomPrompt="1"/>
          </p:nvPr>
        </p:nvSpPr>
        <p:spPr>
          <a:xfrm>
            <a:off x="6413500" y="3683000"/>
            <a:ext cx="469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10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Unsere Antwort</a:t>
            </a:r>
          </a:p>
        </p:txBody>
      </p:sp>
      <p:sp>
        <p:nvSpPr>
          <p:cNvPr id="13" name="AnswerText"/>
          <p:cNvSpPr>
            <a:spLocks noGrp="1"/>
          </p:cNvSpPr>
          <p:nvPr>
            <p:ph type="body" idx="22" hasCustomPrompt="1"/>
          </p:nvPr>
        </p:nvSpPr>
        <p:spPr>
          <a:xfrm>
            <a:off x="6413500" y="3987800"/>
            <a:ext cx="4699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00" b="0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Wie ECOWERTH es löst.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Punk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Points"/>
          <p:cNvSpPr>
            <a:spLocks noGrp="1"/>
          </p:cNvSpPr>
          <p:nvPr>
            <p:ph type="body" idx="26" hasCustomPrompt="1"/>
          </p:nvPr>
        </p:nvSpPr>
        <p:spPr>
          <a:xfrm>
            <a:off x="762000" y="2159000"/>
            <a:ext cx="9906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indent="-457200" algn="l">
              <a:spcBef>
                <a:spcPts val="2200"/>
              </a:spcBef>
              <a:spcAft>
                <a:spcPts val="0"/>
              </a:spcAft>
              <a:buNone/>
              <a:tabLst>
                <a:tab pos="457200" algn="l"/>
              </a:tabLst>
              <a:defRPr sz="22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  <a:lvl2pPr marL="4572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2pPr>
          </a:lstStyle>
          <a:p>
            <a:r>
              <a:rPr lang="de-DE" dirty="0"/>
              <a:t>01	Punkt</a:t>
            </a:r>
          </a:p>
          <a:p>
            <a:pPr lvl="1"/>
            <a:r>
              <a:rPr lang="de-DE" dirty="0"/>
              <a:t>Kurze Erklärung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Punkte + F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Points"/>
          <p:cNvSpPr>
            <a:spLocks noGrp="1"/>
          </p:cNvSpPr>
          <p:nvPr>
            <p:ph type="body" idx="26" hasCustomPrompt="1"/>
          </p:nvPr>
        </p:nvSpPr>
        <p:spPr>
          <a:xfrm>
            <a:off x="762000" y="2159000"/>
            <a:ext cx="4826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indent="-457200" algn="l">
              <a:spcBef>
                <a:spcPts val="2200"/>
              </a:spcBef>
              <a:spcAft>
                <a:spcPts val="0"/>
              </a:spcAft>
              <a:buNone/>
              <a:tabLst>
                <a:tab pos="457200" algn="l"/>
              </a:tabLst>
              <a:defRPr sz="22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  <a:lvl2pPr marL="4572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2pPr>
          </a:lstStyle>
          <a:p>
            <a:r>
              <a:rPr lang="de-DE" dirty="0"/>
              <a:t>01	Punkt</a:t>
            </a:r>
          </a:p>
          <a:p>
            <a:pPr lvl="1"/>
            <a:r>
              <a:rPr lang="de-DE" dirty="0"/>
              <a:t>Kurze Erklärung</a:t>
            </a:r>
          </a:p>
        </p:txBody>
      </p:sp>
      <p:sp>
        <p:nvSpPr>
          <p:cNvPr id="8" name="Photo"/>
          <p:cNvSpPr>
            <a:spLocks noGrp="1"/>
          </p:cNvSpPr>
          <p:nvPr>
            <p:ph type="pic" idx="15" hasCustomPrompt="1"/>
          </p:nvPr>
        </p:nvSpPr>
        <p:spPr>
          <a:xfrm>
            <a:off x="6096000" y="2095500"/>
            <a:ext cx="5334000" cy="300355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Foto einfügen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27" hasCustomPrompt="1"/>
          </p:nvPr>
        </p:nvSpPr>
        <p:spPr>
          <a:xfrm>
            <a:off x="6096000" y="5207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Bildunterschrift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Punkte + Graf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Points"/>
          <p:cNvSpPr>
            <a:spLocks noGrp="1"/>
          </p:cNvSpPr>
          <p:nvPr>
            <p:ph type="body" idx="26" hasCustomPrompt="1"/>
          </p:nvPr>
        </p:nvSpPr>
        <p:spPr>
          <a:xfrm>
            <a:off x="762000" y="2159000"/>
            <a:ext cx="4826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indent="-457200" algn="l">
              <a:spcBef>
                <a:spcPts val="2200"/>
              </a:spcBef>
              <a:spcAft>
                <a:spcPts val="0"/>
              </a:spcAft>
              <a:buNone/>
              <a:tabLst>
                <a:tab pos="457200" algn="l"/>
              </a:tabLst>
              <a:defRPr sz="22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  <a:lvl2pPr marL="4572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2pPr>
          </a:lstStyle>
          <a:p>
            <a:r>
              <a:rPr lang="de-DE" dirty="0"/>
              <a:t>01	Punkt</a:t>
            </a:r>
          </a:p>
          <a:p>
            <a:pPr lvl="1"/>
            <a:r>
              <a:rPr lang="de-DE" dirty="0"/>
              <a:t>Kurze Erklärung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Auss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Big"/>
          <p:cNvSpPr>
            <a:spLocks noGrp="1"/>
          </p:cNvSpPr>
          <p:nvPr>
            <p:ph type="body" idx="28" hasCustomPrompt="1"/>
          </p:nvPr>
        </p:nvSpPr>
        <p:spPr>
          <a:xfrm>
            <a:off x="723900" y="1447800"/>
            <a:ext cx="9906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5000" b="0" i="0">
                <a:solidFill>
                  <a:srgbClr val="4F7A1E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4</a:t>
            </a:r>
          </a:p>
        </p:txBody>
      </p:sp>
      <p:sp>
        <p:nvSpPr>
          <p:cNvPr id="7" name="Statement"/>
          <p:cNvSpPr>
            <a:spLocks noGrp="1"/>
          </p:cNvSpPr>
          <p:nvPr>
            <p:ph type="body" idx="29" hasCustomPrompt="1"/>
          </p:nvPr>
        </p:nvSpPr>
        <p:spPr>
          <a:xfrm>
            <a:off x="762000" y="36195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Aussage in ein bis zwei Zeilen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30" hasCustomPrompt="1"/>
          </p:nvPr>
        </p:nvSpPr>
        <p:spPr>
          <a:xfrm>
            <a:off x="762000" y="4699000"/>
            <a:ext cx="9906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Ergänzender Satz.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Kennzahle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acts-band"/>
          <p:cNvSpPr/>
          <p:nvPr/>
        </p:nvSpPr>
        <p:spPr>
          <a:xfrm>
            <a:off x="0" y="3429000"/>
            <a:ext cx="12192000" cy="22225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8" name="Lead"/>
          <p:cNvSpPr>
            <a:spLocks noGrp="1"/>
          </p:cNvSpPr>
          <p:nvPr>
            <p:ph type="body" idx="37" hasCustomPrompt="1"/>
          </p:nvPr>
        </p:nvSpPr>
        <p:spPr>
          <a:xfrm>
            <a:off x="762000" y="20955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Einleitender Satz zu den Kennzahlen.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Marke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Checklis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Schrit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Tabel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Skal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Points"/>
          <p:cNvSpPr>
            <a:spLocks noGrp="1"/>
          </p:cNvSpPr>
          <p:nvPr>
            <p:ph type="body" idx="26" hasCustomPrompt="1"/>
          </p:nvPr>
        </p:nvSpPr>
        <p:spPr>
          <a:xfrm>
            <a:off x="762000" y="38100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457200" indent="-457200" algn="l">
              <a:spcBef>
                <a:spcPts val="2200"/>
              </a:spcBef>
              <a:spcAft>
                <a:spcPts val="0"/>
              </a:spcAft>
              <a:buNone/>
              <a:tabLst>
                <a:tab pos="457200" algn="l"/>
              </a:tabLst>
              <a:defRPr sz="22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  <a:lvl2pPr marL="4572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2pPr>
          </a:lstStyle>
          <a:p>
            <a:r>
              <a:rPr lang="de-DE" dirty="0"/>
              <a:t>01	Punkt</a:t>
            </a:r>
          </a:p>
          <a:p>
            <a:pPr lvl="1"/>
            <a:r>
              <a:rPr lang="de-DE" dirty="0"/>
              <a:t>Kurze Erklärung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Foto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>
            <a:spLocks noGrp="1"/>
          </p:cNvSpPr>
          <p:nvPr>
            <p:ph type="pic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Foto einfügen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4826000"/>
            <a:ext cx="8890000" cy="393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wrap="square" lIns="279400" tIns="152400" rIns="2794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762000" y="5207000"/>
            <a:ext cx="8890000" cy="647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wrap="square" lIns="279400" tIns="50800" rIns="2794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Fototitel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idx="27" hasCustomPrompt="1"/>
          </p:nvPr>
        </p:nvSpPr>
        <p:spPr>
          <a:xfrm>
            <a:off x="762000" y="5842000"/>
            <a:ext cx="8890000" cy="5588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wrap="square" lIns="279400" tIns="0" rIns="279400" bIns="13970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E8EEF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Bildunterschrift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Zwei Fo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PhotoLeft"/>
          <p:cNvSpPr>
            <a:spLocks noGrp="1"/>
          </p:cNvSpPr>
          <p:nvPr>
            <p:ph type="pic" idx="31" hasCustomPrompt="1"/>
          </p:nvPr>
        </p:nvSpPr>
        <p:spPr>
          <a:xfrm>
            <a:off x="762000" y="2159000"/>
            <a:ext cx="5207000" cy="292735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Foto einfügen</a:t>
            </a:r>
          </a:p>
        </p:txBody>
      </p:sp>
      <p:sp>
        <p:nvSpPr>
          <p:cNvPr id="8" name="PhotoRight"/>
          <p:cNvSpPr>
            <a:spLocks noGrp="1"/>
          </p:cNvSpPr>
          <p:nvPr>
            <p:ph type="pic" idx="32" hasCustomPrompt="1"/>
          </p:nvPr>
        </p:nvSpPr>
        <p:spPr>
          <a:xfrm>
            <a:off x="6223000" y="2159000"/>
            <a:ext cx="5207000" cy="292735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Foto einfügen</a:t>
            </a:r>
          </a:p>
        </p:txBody>
      </p:sp>
      <p:sp>
        <p:nvSpPr>
          <p:cNvPr id="9" name="LabelLeft"/>
          <p:cNvSpPr>
            <a:spLocks noGrp="1"/>
          </p:cNvSpPr>
          <p:nvPr>
            <p:ph type="body" idx="33" hasCustomPrompt="1"/>
          </p:nvPr>
        </p:nvSpPr>
        <p:spPr>
          <a:xfrm>
            <a:off x="762000" y="5232400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Links</a:t>
            </a:r>
          </a:p>
        </p:txBody>
      </p:sp>
      <p:sp>
        <p:nvSpPr>
          <p:cNvPr id="10" name="LabelRight"/>
          <p:cNvSpPr>
            <a:spLocks noGrp="1"/>
          </p:cNvSpPr>
          <p:nvPr>
            <p:ph type="body" idx="34" hasCustomPrompt="1"/>
          </p:nvPr>
        </p:nvSpPr>
        <p:spPr>
          <a:xfrm>
            <a:off x="6223000" y="5232400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Rechts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Foto mit Markierunge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Photo"/>
          <p:cNvSpPr>
            <a:spLocks noGrp="1"/>
          </p:cNvSpPr>
          <p:nvPr>
            <p:ph type="pic" idx="15" hasCustomPrompt="1"/>
          </p:nvPr>
        </p:nvSpPr>
        <p:spPr>
          <a:xfrm>
            <a:off x="762000" y="2095500"/>
            <a:ext cx="6350000" cy="357505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Foto einfügen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Praxis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Story"/>
          <p:cNvSpPr>
            <a:spLocks noGrp="1"/>
          </p:cNvSpPr>
          <p:nvPr>
            <p:ph type="body" idx="35" hasCustomPrompt="1"/>
          </p:nvPr>
        </p:nvSpPr>
        <p:spPr>
          <a:xfrm>
            <a:off x="762000" y="21336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rgbClr val="043751"/>
                </a:solidFill>
                <a:latin typeface="Archivo"/>
                <a:ea typeface="Archivo"/>
                <a:cs typeface="Archivo"/>
              </a:defRPr>
            </a:lvl1pPr>
          </a:lstStyle>
          <a:p>
            <a:r>
              <a:rPr lang="de-DE" dirty="0"/>
              <a:t>Der Fall in zwei, drei Sätzen.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 Zitat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Photo"/>
          <p:cNvSpPr>
            <a:spLocks noGrp="1"/>
          </p:cNvSpPr>
          <p:nvPr>
            <p:ph type="pic" idx="15" hasCustomPrompt="1"/>
          </p:nvPr>
        </p:nvSpPr>
        <p:spPr>
          <a:xfrm>
            <a:off x="762000" y="1587500"/>
            <a:ext cx="3048000" cy="381000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A6079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Foto einfügen</a:t>
            </a:r>
          </a:p>
        </p:txBody>
      </p:sp>
      <p:sp>
        <p:nvSpPr>
          <p:cNvPr id="7" name="Quote"/>
          <p:cNvSpPr>
            <a:spLocks noGrp="1"/>
          </p:cNvSpPr>
          <p:nvPr>
            <p:ph type="body" idx="18" hasCustomPrompt="1"/>
          </p:nvPr>
        </p:nvSpPr>
        <p:spPr>
          <a:xfrm>
            <a:off x="4572000" y="1587500"/>
            <a:ext cx="6858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 b="0" i="0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lvl1pPr>
          </a:lstStyle>
          <a:p>
            <a:r>
              <a:rPr lang="de-DE" dirty="0"/>
              <a:t>„Zitat in zwei bis vier Zeilen.“</a:t>
            </a:r>
          </a:p>
        </p:txBody>
      </p:sp>
      <p:sp>
        <p:nvSpPr>
          <p:cNvPr id="8" name="Name"/>
          <p:cNvSpPr>
            <a:spLocks noGrp="1"/>
          </p:cNvSpPr>
          <p:nvPr>
            <p:ph type="body" idx="38" hasCustomPrompt="1"/>
          </p:nvPr>
        </p:nvSpPr>
        <p:spPr>
          <a:xfrm>
            <a:off x="4572000" y="4699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Name</a:t>
            </a:r>
          </a:p>
        </p:txBody>
      </p:sp>
      <p:sp>
        <p:nvSpPr>
          <p:cNvPr id="9" name="Role"/>
          <p:cNvSpPr>
            <a:spLocks noGrp="1"/>
          </p:cNvSpPr>
          <p:nvPr>
            <p:ph type="body" idx="39" hasCustomPrompt="1"/>
          </p:nvPr>
        </p:nvSpPr>
        <p:spPr>
          <a:xfrm>
            <a:off x="4572000" y="5080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10">
                <a:solidFill>
                  <a:srgbClr val="A3B6C9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Funktion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Wissenscheck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Question"/>
          <p:cNvSpPr>
            <a:spLocks noGrp="1"/>
          </p:cNvSpPr>
          <p:nvPr>
            <p:ph type="body" idx="36" hasCustomPrompt="1"/>
          </p:nvPr>
        </p:nvSpPr>
        <p:spPr>
          <a:xfrm>
            <a:off x="762000" y="1270000"/>
            <a:ext cx="9906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4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Frage?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Zusammenfassu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4F7A1E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043751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 Abschluss">
    <p:bg>
      <p:bgPr>
        <a:solidFill>
          <a:srgbClr val="043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"/>
            <a:ext cx="1219200" cy="203200"/>
          </a:xfrm>
          <a:prstGeom prst="rect">
            <a:avLst/>
          </a:prstGeom>
        </p:spPr>
      </p:pic>
      <p:sp>
        <p:nvSpPr>
          <p:cNvPr id="3" name="head-line"/>
          <p:cNvSpPr/>
          <p:nvPr/>
        </p:nvSpPr>
        <p:spPr>
          <a:xfrm>
            <a:off x="0" y="704850"/>
            <a:ext cx="1219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ot-line"/>
          <p:cNvSpPr/>
          <p:nvPr/>
        </p:nvSpPr>
        <p:spPr>
          <a:xfrm>
            <a:off x="762000" y="6242050"/>
            <a:ext cx="10668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ext-card"/>
          <p:cNvSpPr/>
          <p:nvPr/>
        </p:nvSpPr>
        <p:spPr>
          <a:xfrm>
            <a:off x="7366000" y="2159000"/>
            <a:ext cx="4064000" cy="26670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-card-accent"/>
          <p:cNvSpPr/>
          <p:nvPr/>
        </p:nvSpPr>
        <p:spPr>
          <a:xfrm>
            <a:off x="7366000" y="2159000"/>
            <a:ext cx="38100" cy="26670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762000" y="1003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 cap="all" spc="182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Kapitel · Thema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742950" y="12446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0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9" name="NextLabel"/>
          <p:cNvSpPr>
            <a:spLocks noGrp="1"/>
          </p:cNvSpPr>
          <p:nvPr>
            <p:ph type="body" idx="23" hasCustomPrompt="1"/>
          </p:nvPr>
        </p:nvSpPr>
        <p:spPr>
          <a:xfrm>
            <a:off x="7683500" y="24384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10">
                <a:solidFill>
                  <a:srgbClr val="8FC65A"/>
                </a:solidFill>
                <a:latin typeface="IBM Plex Mono Medium"/>
                <a:ea typeface="IBM Plex Mono Medium"/>
                <a:cs typeface="IBM Plex Mono Medium"/>
              </a:defRPr>
            </a:lvl1pPr>
          </a:lstStyle>
          <a:p>
            <a:r>
              <a:rPr lang="de-DE" dirty="0"/>
              <a:t>Kontakt</a:t>
            </a:r>
          </a:p>
        </p:txBody>
      </p:sp>
      <p:sp>
        <p:nvSpPr>
          <p:cNvPr id="10" name="NextTitle"/>
          <p:cNvSpPr>
            <a:spLocks noGrp="1"/>
          </p:cNvSpPr>
          <p:nvPr>
            <p:ph type="body" idx="24" hasCustomPrompt="1"/>
          </p:nvPr>
        </p:nvSpPr>
        <p:spPr>
          <a:xfrm>
            <a:off x="7683500" y="27178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0" i="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defRPr>
            </a:lvl1pPr>
          </a:lstStyle>
          <a:p>
            <a:r>
              <a:rPr lang="de-DE" dirty="0"/>
              <a:t>Name</a:t>
            </a:r>
          </a:p>
        </p:txBody>
      </p:sp>
      <p:sp>
        <p:nvSpPr>
          <p:cNvPr id="11" name="NextText"/>
          <p:cNvSpPr>
            <a:spLocks noGrp="1"/>
          </p:cNvSpPr>
          <p:nvPr>
            <p:ph type="body" idx="25" hasCustomPrompt="1"/>
          </p:nvPr>
        </p:nvSpPr>
        <p:spPr>
          <a:xfrm>
            <a:off x="7683500" y="3403600"/>
            <a:ext cx="3429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E8EEF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r>
              <a:rPr lang="de-DE" dirty="0"/>
              <a:t>Funktion, Telefon, E-Mail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4000" kern="1200">
          <a:solidFill>
            <a:srgbClr val="04375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200" kern="1200">
          <a:solidFill>
            <a:srgbClr val="04375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4A6079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4A6079"/>
          </a:solidFill>
          <a:latin typeface="+mn-lt"/>
          <a:ea typeface="+mn-ea"/>
          <a:cs typeface="+mn-cs"/>
        </a:defRPr>
      </a:lvl3pPr>
    </p:bodyStyle>
    <p:otherStyle>
      <a:defPPr>
        <a:defRPr lang="de-DE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04375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01 ·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Zukunft im Kreislauf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Kreislaufwirtschaft aus einer Hand. Ganzheitlich. Rechtskonform. Nachhaltig.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Florian Werthmann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Geschäftsführer, ecowerth GmbH</a:t>
            </a:r>
          </a:p>
          <a:p>
            <a:r>
              <a:t>Oktober 2026 · Reichenberg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02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</a:t>
            </a:r>
          </a:p>
        </p:txBody>
      </p:sp>
      <p:sp>
        <p:nvSpPr>
          <p:cNvPr id="4" name="agenda-rule"/>
          <p:cNvSpPr/>
          <p:nvPr/>
        </p:nvSpPr>
        <p:spPr>
          <a:xfrm>
            <a:off x="762000" y="2152650"/>
            <a:ext cx="106680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genda-num-1"/>
          <p:cNvSpPr txBox="1"/>
          <p:nvPr/>
        </p:nvSpPr>
        <p:spPr>
          <a:xfrm>
            <a:off x="762000" y="2159000"/>
            <a:ext cx="5715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F7A1E"/>
                </a:solidFill>
                <a:latin typeface="IBM Plex Mono Medium"/>
              </a:rPr>
              <a:t>01</a:t>
            </a:r>
          </a:p>
        </p:txBody>
      </p:sp>
      <p:sp>
        <p:nvSpPr>
          <p:cNvPr id="6" name="agenda-title-1"/>
          <p:cNvSpPr txBox="1"/>
          <p:nvPr/>
        </p:nvSpPr>
        <p:spPr>
          <a:xfrm>
            <a:off x="1397000" y="2159000"/>
            <a:ext cx="444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 lang="de-DE">
                <a:solidFill>
                  <a:srgbClr val="043751"/>
                </a:solidFill>
                <a:latin typeface="Archivo SemiBold"/>
              </a:rPr>
              <a:t>Die Gruppe</a:t>
            </a:r>
          </a:p>
        </p:txBody>
      </p:sp>
      <p:sp>
        <p:nvSpPr>
          <p:cNvPr id="7" name="agenda-text-1"/>
          <p:cNvSpPr txBox="1"/>
          <p:nvPr/>
        </p:nvSpPr>
        <p:spPr>
          <a:xfrm>
            <a:off x="6223000" y="2159000"/>
            <a:ext cx="520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Vier Unternehmen. Ein Kreislauf.</a:t>
            </a:r>
          </a:p>
        </p:txBody>
      </p:sp>
      <p:sp>
        <p:nvSpPr>
          <p:cNvPr id="8" name="agenda-line-1"/>
          <p:cNvSpPr/>
          <p:nvPr/>
        </p:nvSpPr>
        <p:spPr>
          <a:xfrm>
            <a:off x="762000" y="28638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agenda-num-2"/>
          <p:cNvSpPr txBox="1"/>
          <p:nvPr/>
        </p:nvSpPr>
        <p:spPr>
          <a:xfrm>
            <a:off x="762000" y="2870200"/>
            <a:ext cx="5715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F7A1E"/>
                </a:solidFill>
                <a:latin typeface="IBM Plex Mono Medium"/>
              </a:rPr>
              <a:t>02</a:t>
            </a:r>
          </a:p>
        </p:txBody>
      </p:sp>
      <p:sp>
        <p:nvSpPr>
          <p:cNvPr id="10" name="agenda-title-2"/>
          <p:cNvSpPr txBox="1"/>
          <p:nvPr/>
        </p:nvSpPr>
        <p:spPr>
          <a:xfrm>
            <a:off x="1397000" y="2870200"/>
            <a:ext cx="444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 lang="de-DE">
                <a:solidFill>
                  <a:srgbClr val="043751"/>
                </a:solidFill>
                <a:latin typeface="Archivo SemiBold"/>
              </a:rPr>
              <a:t>Unsere Marken</a:t>
            </a:r>
          </a:p>
        </p:txBody>
      </p:sp>
      <p:sp>
        <p:nvSpPr>
          <p:cNvPr id="11" name="agenda-text-2"/>
          <p:cNvSpPr txBox="1"/>
          <p:nvPr/>
        </p:nvSpPr>
        <p:spPr>
          <a:xfrm>
            <a:off x="6223000" y="2870200"/>
            <a:ext cx="520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Ein Dach, drei Marken.</a:t>
            </a:r>
          </a:p>
        </p:txBody>
      </p:sp>
      <p:sp>
        <p:nvSpPr>
          <p:cNvPr id="12" name="agenda-line-2"/>
          <p:cNvSpPr/>
          <p:nvPr/>
        </p:nvSpPr>
        <p:spPr>
          <a:xfrm>
            <a:off x="762000" y="3575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genda-num-3"/>
          <p:cNvSpPr txBox="1"/>
          <p:nvPr/>
        </p:nvSpPr>
        <p:spPr>
          <a:xfrm>
            <a:off x="762000" y="3581400"/>
            <a:ext cx="5715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F7A1E"/>
                </a:solidFill>
                <a:latin typeface="IBM Plex Mono Medium"/>
              </a:rPr>
              <a:t>03</a:t>
            </a:r>
          </a:p>
        </p:txBody>
      </p:sp>
      <p:sp>
        <p:nvSpPr>
          <p:cNvPr id="14" name="agenda-title-3"/>
          <p:cNvSpPr txBox="1"/>
          <p:nvPr/>
        </p:nvSpPr>
        <p:spPr>
          <a:xfrm>
            <a:off x="1397000" y="3581400"/>
            <a:ext cx="444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 lang="de-DE">
                <a:solidFill>
                  <a:srgbClr val="043751"/>
                </a:solidFill>
                <a:latin typeface="Archivo SemiBold"/>
              </a:rPr>
              <a:t>Leistungen</a:t>
            </a:r>
          </a:p>
        </p:txBody>
      </p:sp>
      <p:sp>
        <p:nvSpPr>
          <p:cNvPr id="15" name="agenda-text-3"/>
          <p:cNvSpPr txBox="1"/>
          <p:nvPr/>
        </p:nvSpPr>
        <p:spPr>
          <a:xfrm>
            <a:off x="6223000" y="3581400"/>
            <a:ext cx="520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Acht Leistungsfelder entlang der Pflichtenkette.</a:t>
            </a:r>
          </a:p>
        </p:txBody>
      </p:sp>
      <p:sp>
        <p:nvSpPr>
          <p:cNvPr id="16" name="agenda-line-3"/>
          <p:cNvSpPr/>
          <p:nvPr/>
        </p:nvSpPr>
        <p:spPr>
          <a:xfrm>
            <a:off x="762000" y="42862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genda-num-4"/>
          <p:cNvSpPr txBox="1"/>
          <p:nvPr/>
        </p:nvSpPr>
        <p:spPr>
          <a:xfrm>
            <a:off x="762000" y="4292600"/>
            <a:ext cx="5715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F7A1E"/>
                </a:solidFill>
                <a:latin typeface="IBM Plex Mono Medium"/>
              </a:rPr>
              <a:t>04</a:t>
            </a:r>
          </a:p>
        </p:txBody>
      </p:sp>
      <p:sp>
        <p:nvSpPr>
          <p:cNvPr id="18" name="agenda-title-4"/>
          <p:cNvSpPr txBox="1"/>
          <p:nvPr/>
        </p:nvSpPr>
        <p:spPr>
          <a:xfrm>
            <a:off x="1397000" y="4292600"/>
            <a:ext cx="444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 lang="de-DE">
                <a:solidFill>
                  <a:srgbClr val="043751"/>
                </a:solidFill>
                <a:latin typeface="Archivo SemiBold"/>
              </a:rPr>
              <a:t>Rechtsrahmen</a:t>
            </a:r>
          </a:p>
        </p:txBody>
      </p:sp>
      <p:sp>
        <p:nvSpPr>
          <p:cNvPr id="19" name="agenda-text-4"/>
          <p:cNvSpPr txBox="1"/>
          <p:nvPr/>
        </p:nvSpPr>
        <p:spPr>
          <a:xfrm>
            <a:off x="6223000" y="4292600"/>
            <a:ext cx="520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Ihre Pflichten. Unsere Systematik.</a:t>
            </a:r>
          </a:p>
        </p:txBody>
      </p:sp>
      <p:sp>
        <p:nvSpPr>
          <p:cNvPr id="20" name="agenda-line-4"/>
          <p:cNvSpPr/>
          <p:nvPr/>
        </p:nvSpPr>
        <p:spPr>
          <a:xfrm>
            <a:off x="762000" y="49974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genda-num-5"/>
          <p:cNvSpPr txBox="1"/>
          <p:nvPr/>
        </p:nvSpPr>
        <p:spPr>
          <a:xfrm>
            <a:off x="762000" y="5003800"/>
            <a:ext cx="5715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F7A1E"/>
                </a:solidFill>
                <a:latin typeface="IBM Plex Mono Medium"/>
              </a:rPr>
              <a:t>05</a:t>
            </a:r>
          </a:p>
        </p:txBody>
      </p:sp>
      <p:sp>
        <p:nvSpPr>
          <p:cNvPr id="22" name="agenda-title-5"/>
          <p:cNvSpPr txBox="1"/>
          <p:nvPr/>
        </p:nvSpPr>
        <p:spPr>
          <a:xfrm>
            <a:off x="1397000" y="5003800"/>
            <a:ext cx="444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 lang="de-DE">
                <a:solidFill>
                  <a:srgbClr val="043751"/>
                </a:solidFill>
                <a:latin typeface="Archivo SemiBold"/>
              </a:rPr>
              <a:t>Zusammenarbeit</a:t>
            </a:r>
          </a:p>
        </p:txBody>
      </p:sp>
      <p:sp>
        <p:nvSpPr>
          <p:cNvPr id="23" name="agenda-text-5"/>
          <p:cNvSpPr txBox="1"/>
          <p:nvPr/>
        </p:nvSpPr>
        <p:spPr>
          <a:xfrm>
            <a:off x="6223000" y="5003800"/>
            <a:ext cx="520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Ein Gespräch, in dem Ihre Pflichten sortiert werden.</a:t>
            </a:r>
          </a:p>
        </p:txBody>
      </p:sp>
      <p:sp>
        <p:nvSpPr>
          <p:cNvPr id="24" name="agenda-line-5"/>
          <p:cNvSpPr/>
          <p:nvPr/>
        </p:nvSpPr>
        <p:spPr>
          <a:xfrm>
            <a:off x="762000" y="57086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26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7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8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9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31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03 · chapter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Marken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Ein Dach, drei Marken.</a:t>
            </a:r>
          </a:p>
        </p:txBody>
      </p:sp>
      <p:sp>
        <p:nvSpPr>
          <p:cNvPr id="6" name="ring-seg-1-done"/>
          <p:cNvSpPr/>
          <p:nvPr/>
        </p:nvSpPr>
        <p:spPr>
          <a:xfrm>
            <a:off x="1206500" y="2222500"/>
            <a:ext cx="3175000" cy="3175000"/>
          </a:xfrm>
          <a:prstGeom prst="arc">
            <a:avLst>
              <a:gd name="adj1" fmla="val 16612530"/>
              <a:gd name="adj2" fmla="val 20107470"/>
            </a:avLst>
          </a:prstGeom>
          <a:noFill/>
          <a:ln w="190500" cap="rnd">
            <a:solidFill>
              <a:srgbClr val="A3B6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ing-seg-2-active"/>
          <p:cNvSpPr/>
          <p:nvPr/>
        </p:nvSpPr>
        <p:spPr>
          <a:xfrm>
            <a:off x="1206500" y="2222500"/>
            <a:ext cx="3175000" cy="3175000"/>
          </a:xfrm>
          <a:prstGeom prst="arc">
            <a:avLst>
              <a:gd name="adj1" fmla="val 20932530"/>
              <a:gd name="adj2" fmla="val 2827470"/>
            </a:avLst>
          </a:prstGeom>
          <a:noFill/>
          <a:ln w="190500" cap="rnd">
            <a:solidFill>
              <a:srgbClr val="6EA5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ing-seg-3-todo"/>
          <p:cNvSpPr/>
          <p:nvPr/>
        </p:nvSpPr>
        <p:spPr>
          <a:xfrm>
            <a:off x="1206500" y="2222500"/>
            <a:ext cx="3175000" cy="3175000"/>
          </a:xfrm>
          <a:prstGeom prst="arc">
            <a:avLst>
              <a:gd name="adj1" fmla="val 3652530"/>
              <a:gd name="adj2" fmla="val 7147470"/>
            </a:avLst>
          </a:prstGeom>
          <a:noFill/>
          <a:ln w="190500" cap="rnd">
            <a:solidFill>
              <a:srgbClr val="325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ing-seg-4-todo"/>
          <p:cNvSpPr/>
          <p:nvPr/>
        </p:nvSpPr>
        <p:spPr>
          <a:xfrm>
            <a:off x="1206500" y="2222500"/>
            <a:ext cx="3175000" cy="3175000"/>
          </a:xfrm>
          <a:prstGeom prst="arc">
            <a:avLst>
              <a:gd name="adj1" fmla="val 7972530"/>
              <a:gd name="adj2" fmla="val 11467470"/>
            </a:avLst>
          </a:prstGeom>
          <a:noFill/>
          <a:ln w="190500" cap="rnd">
            <a:solidFill>
              <a:srgbClr val="325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ing-seg-5-todo"/>
          <p:cNvSpPr/>
          <p:nvPr/>
        </p:nvSpPr>
        <p:spPr>
          <a:xfrm>
            <a:off x="1206500" y="2222500"/>
            <a:ext cx="3175000" cy="3175000"/>
          </a:xfrm>
          <a:prstGeom prst="arc">
            <a:avLst>
              <a:gd name="adj1" fmla="val 12292530"/>
              <a:gd name="adj2" fmla="val 15787470"/>
            </a:avLst>
          </a:prstGeom>
          <a:noFill/>
          <a:ln w="190500" cap="rnd">
            <a:solidFill>
              <a:srgbClr val="325C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2" name="nav-2-active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8FC65A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FFFFFF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FFFFFF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3" name="nav-underline"/>
          <p:cNvSpPr/>
          <p:nvPr/>
        </p:nvSpPr>
        <p:spPr>
          <a:xfrm>
            <a:off x="4367129" y="685800"/>
            <a:ext cx="1638804" cy="25400"/>
          </a:xfrm>
          <a:prstGeom prst="rect">
            <a:avLst/>
          </a:prstGeom>
          <a:solidFill>
            <a:srgbClr val="8FC6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5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6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Zusammenarbeit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04 · hook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„Sie wissen nicht, welche Pflichten Sie treffen?“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Ob KrWG, ElektroG oder EU-VO 2024/1157: Welche Pflicht gilt, hängt an Ihrer Rolle im Materialkreislauf.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Unsere Antwort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Wir ordnen zu, welche Pflicht für Ihre Rolle gilt – und setzen sie um. Beratung, Systembetrieb und Fläche aus einer Hand.</a:t>
            </a:r>
          </a:p>
        </p:txBody>
      </p:sp>
      <p:sp>
        <p:nvSpPr>
          <p:cNvPr id="8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Die Gruppe</a:t>
            </a:r>
          </a:p>
        </p:txBody>
      </p:sp>
      <p:sp>
        <p:nvSpPr>
          <p:cNvPr id="9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0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1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2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A3B6C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A3B6C9"/>
                </a:solidFill>
                <a:latin typeface="IBM Plex Mono Mediu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05 · 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Compliance, die im Betrieb funktioniert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01</a:t>
            </a:r>
            <a:r>
              <a:t>	Beauftragtenwesen</a:t>
            </a:r>
          </a:p>
          <a:p>
            <a:pPr lvl="1"/>
            <a:r>
              <a:t>Externe Abfall-, Immissionsschutz- und Gefahrgutbeauftragte.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02</a:t>
            </a:r>
            <a:r>
              <a:t>	Product Compliance</a:t>
            </a:r>
          </a:p>
          <a:p>
            <a:pPr lvl="1"/>
            <a:r>
              <a:t>Recyclingfähigkeit, Kennzeichnung sowie CE-, REACH- und SCIP-Konformität.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03</a:t>
            </a:r>
            <a:r>
              <a:t>	Erweiterte Herstellerverantwortung</a:t>
            </a:r>
          </a:p>
          <a:p>
            <a:pPr lvl="1"/>
            <a:r>
              <a:t>Registrierung, Mengenmeldung, Systembeteiligung, eigene Rücknahme.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04</a:t>
            </a:r>
            <a:r>
              <a:t>	Reporting &amp; Managed Services</a:t>
            </a:r>
          </a:p>
          <a:p>
            <a:pPr lvl="1"/>
            <a:r>
              <a:t>ESG- und CSRD-Kennzahlen, Mengenstromvalidierung, Interimsmanagement.</a:t>
            </a:r>
          </a:p>
        </p:txBody>
      </p:sp>
      <p:sp>
        <p:nvSpPr>
          <p:cNvPr id="5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6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7" name="nav-3-active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Leistungen</a:t>
            </a:r>
          </a:p>
        </p:txBody>
      </p:sp>
      <p:sp>
        <p:nvSpPr>
          <p:cNvPr id="8" name="nav-underline"/>
          <p:cNvSpPr/>
          <p:nvPr/>
        </p:nvSpPr>
        <p:spPr>
          <a:xfrm>
            <a:off x="6259933" y="685800"/>
            <a:ext cx="1294070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0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1" name="legal-label"/>
          <p:cNvSpPr txBox="1"/>
          <p:nvPr/>
        </p:nvSpPr>
        <p:spPr>
          <a:xfrm>
            <a:off x="762000" y="5842000"/>
            <a:ext cx="1619548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F7A1E"/>
                </a:solidFill>
                <a:latin typeface="IBM Plex Mono Medium"/>
              </a:rPr>
              <a:t>Rechtsgrundlage</a:t>
            </a:r>
          </a:p>
        </p:txBody>
      </p:sp>
      <p:sp>
        <p:nvSpPr>
          <p:cNvPr id="12" name="legal-chip-1"/>
          <p:cNvSpPr/>
          <p:nvPr/>
        </p:nvSpPr>
        <p:spPr>
          <a:xfrm>
            <a:off x="2356148" y="5842000"/>
            <a:ext cx="975717" cy="215900"/>
          </a:xfrm>
          <a:prstGeom prst="roundRect">
            <a:avLst>
              <a:gd name="adj" fmla="val 11764"/>
            </a:avLst>
          </a:prstGeom>
          <a:solidFill>
            <a:srgbClr val="E3F0F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 lang="de-DE">
                <a:solidFill>
                  <a:srgbClr val="0F6AA6"/>
                </a:solidFill>
                <a:latin typeface="IBM Plex Mono"/>
              </a:rPr>
              <a:t>§ 59 KrWG</a:t>
            </a:r>
          </a:p>
        </p:txBody>
      </p:sp>
      <p:sp>
        <p:nvSpPr>
          <p:cNvPr id="13" name="legal-chip-2"/>
          <p:cNvSpPr/>
          <p:nvPr/>
        </p:nvSpPr>
        <p:spPr>
          <a:xfrm>
            <a:off x="3395365" y="5842000"/>
            <a:ext cx="975717" cy="215900"/>
          </a:xfrm>
          <a:prstGeom prst="roundRect">
            <a:avLst>
              <a:gd name="adj" fmla="val 11764"/>
            </a:avLst>
          </a:prstGeom>
          <a:solidFill>
            <a:srgbClr val="E3F0F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 lang="de-DE">
                <a:solidFill>
                  <a:srgbClr val="0F6AA6"/>
                </a:solidFill>
                <a:latin typeface="IBM Plex Mono"/>
              </a:rPr>
              <a:t>§ 23 KrWG</a:t>
            </a:r>
          </a:p>
        </p:txBody>
      </p:sp>
      <p:sp>
        <p:nvSpPr>
          <p:cNvPr id="14" name="legal-chip-3"/>
          <p:cNvSpPr/>
          <p:nvPr/>
        </p:nvSpPr>
        <p:spPr>
          <a:xfrm>
            <a:off x="4434582" y="5842000"/>
            <a:ext cx="1250156" cy="215900"/>
          </a:xfrm>
          <a:prstGeom prst="roundRect">
            <a:avLst>
              <a:gd name="adj" fmla="val 11764"/>
            </a:avLst>
          </a:prstGeom>
          <a:solidFill>
            <a:srgbClr val="E3F0F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 lang="de-DE">
                <a:solidFill>
                  <a:srgbClr val="0F6AA6"/>
                </a:solidFill>
                <a:latin typeface="IBM Plex Mono"/>
              </a:rPr>
              <a:t>ElektroG § 6</a:t>
            </a:r>
          </a:p>
        </p:txBody>
      </p:sp>
      <p:sp>
        <p:nvSpPr>
          <p:cNvPr id="15" name="legal-chip-4"/>
          <p:cNvSpPr/>
          <p:nvPr/>
        </p:nvSpPr>
        <p:spPr>
          <a:xfrm>
            <a:off x="5748238" y="5842000"/>
            <a:ext cx="792758" cy="215900"/>
          </a:xfrm>
          <a:prstGeom prst="roundRect">
            <a:avLst>
              <a:gd name="adj" fmla="val 11764"/>
            </a:avLst>
          </a:prstGeom>
          <a:solidFill>
            <a:srgbClr val="E3F0F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0" i="0" lang="de-DE">
                <a:solidFill>
                  <a:srgbClr val="0F6AA6"/>
                </a:solidFill>
                <a:latin typeface="IBM Plex Mono"/>
              </a:rPr>
              <a:t>BImSchG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7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06 · points_photo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Ihre externe Umweltabteilung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01</a:t>
            </a:r>
            <a:r>
              <a:t>	Pflichtenanalyse</a:t>
            </a:r>
          </a:p>
          <a:p>
            <a:pPr lvl="1"/>
            <a:r>
              <a:t>Welche Regelwerke für Ihre Rolle gelten – und was daraus folgt.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02</a:t>
            </a:r>
            <a:r>
              <a:t>	Umsetzung</a:t>
            </a:r>
          </a:p>
          <a:p>
            <a:pPr lvl="1"/>
            <a:r>
              <a:t>Beauftragtenwesen, Dokumentation und Behördenkommunikation.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03</a:t>
            </a:r>
            <a:r>
              <a:t>	Arbeitsweise</a:t>
            </a:r>
          </a:p>
          <a:p>
            <a:pPr lvl="1"/>
            <a:r>
              <a:t>Als Mandat, Projekt oder Interim – national wie international.</a:t>
            </a:r>
          </a:p>
        </p:txBody>
      </p:sp>
      <p:pic>
        <p:nvPicPr>
          <p:cNvPr id="5" name="Picture Placeholder 4" descr="sammelbehaelter-tablet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231" b="231"/>
          <a:stretch>
            <a:fillRect/>
          </a:stretch>
        </p:blipFill>
        <p:spPr>
          <a:noFill/>
        </p:spPr>
      </p:pic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Getrennthaltung und Dokumentation im Betrieb</a:t>
            </a:r>
          </a:p>
        </p:txBody>
      </p:sp>
      <p:sp>
        <p:nvSpPr>
          <p:cNvPr id="7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8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9" name="nav-3-active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Leistungen</a:t>
            </a:r>
          </a:p>
        </p:txBody>
      </p:sp>
      <p:sp>
        <p:nvSpPr>
          <p:cNvPr id="10" name="nav-underline"/>
          <p:cNvSpPr/>
          <p:nvPr/>
        </p:nvSpPr>
        <p:spPr>
          <a:xfrm>
            <a:off x="6259933" y="685800"/>
            <a:ext cx="1294070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2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07 · points_chart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 Park Röthlein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01</a:t>
            </a:r>
            <a:r>
              <a:t>	Lage</a:t>
            </a:r>
          </a:p>
          <a:p>
            <a:pPr lvl="1"/>
            <a:r>
              <a:t>Industriegebiet Röthlein, direkt an der A70 bei Schweinfurt.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02</a:t>
            </a:r>
            <a:r>
              <a:t>	Infrastruktur</a:t>
            </a:r>
          </a:p>
          <a:p>
            <a:pPr lvl="1"/>
            <a:r>
              <a:t>Eigene Lkw-Waage, Trafostation und installierte Brandmeldeanlage.</a:t>
            </a:r>
          </a:p>
          <a:p>
            <a:pPr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03</a:t>
            </a:r>
            <a:r>
              <a:t>	Perspektive</a:t>
            </a:r>
          </a:p>
          <a:p>
            <a:pPr lvl="1"/>
            <a:r>
              <a:t>Hallenerweiterung bis 1.000 m², PV-Potenzial auf den Dachflächen.</a:t>
            </a:r>
          </a:p>
        </p:txBody>
      </p:sp>
      <p:sp>
        <p:nvSpPr>
          <p:cNvPr id="5" name="chart-card"/>
          <p:cNvSpPr/>
          <p:nvPr/>
        </p:nvSpPr>
        <p:spPr>
          <a:xfrm>
            <a:off x="6096000" y="2095500"/>
            <a:ext cx="5334000" cy="35687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hart-title"/>
          <p:cNvSpPr txBox="1"/>
          <p:nvPr/>
        </p:nvSpPr>
        <p:spPr>
          <a:xfrm>
            <a:off x="6400800" y="2349500"/>
            <a:ext cx="4724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Flächen am Standort</a:t>
            </a:r>
          </a:p>
        </p:txBody>
      </p:sp>
      <p:sp>
        <p:nvSpPr>
          <p:cNvPr id="7" name="bar-track-1"/>
          <p:cNvSpPr/>
          <p:nvPr/>
        </p:nvSpPr>
        <p:spPr>
          <a:xfrm>
            <a:off x="6400800" y="2971800"/>
            <a:ext cx="33909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ar-fill-1"/>
          <p:cNvSpPr/>
          <p:nvPr/>
        </p:nvSpPr>
        <p:spPr>
          <a:xfrm>
            <a:off x="6400800" y="2971800"/>
            <a:ext cx="3390900" cy="152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ar-value-1"/>
          <p:cNvSpPr txBox="1"/>
          <p:nvPr/>
        </p:nvSpPr>
        <p:spPr>
          <a:xfrm>
            <a:off x="9918700" y="2908300"/>
            <a:ext cx="12065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0" i="0" lang="de-DE">
                <a:solidFill>
                  <a:srgbClr val="043751"/>
                </a:solidFill>
                <a:latin typeface="IBM Plex Mono Medium"/>
              </a:rPr>
              <a:t>8.000 m²</a:t>
            </a:r>
          </a:p>
        </p:txBody>
      </p:sp>
      <p:sp>
        <p:nvSpPr>
          <p:cNvPr id="10" name="bar-label-1"/>
          <p:cNvSpPr txBox="1"/>
          <p:nvPr/>
        </p:nvSpPr>
        <p:spPr>
          <a:xfrm>
            <a:off x="6400800" y="2667000"/>
            <a:ext cx="47244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043751"/>
                </a:solidFill>
                <a:latin typeface="IBM Plex Sans"/>
              </a:rPr>
              <a:t>Grundstück</a:t>
            </a:r>
          </a:p>
        </p:txBody>
      </p:sp>
      <p:sp>
        <p:nvSpPr>
          <p:cNvPr id="11" name="bar-track-2"/>
          <p:cNvSpPr/>
          <p:nvPr/>
        </p:nvSpPr>
        <p:spPr>
          <a:xfrm>
            <a:off x="6400800" y="3606800"/>
            <a:ext cx="33909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ar-fill-2"/>
          <p:cNvSpPr/>
          <p:nvPr/>
        </p:nvSpPr>
        <p:spPr>
          <a:xfrm>
            <a:off x="6400800" y="3606800"/>
            <a:ext cx="762952" cy="152400"/>
          </a:xfrm>
          <a:prstGeom prst="rect">
            <a:avLst/>
          </a:prstGeom>
          <a:solidFill>
            <a:srgbClr val="A3B6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r-value-2"/>
          <p:cNvSpPr txBox="1"/>
          <p:nvPr/>
        </p:nvSpPr>
        <p:spPr>
          <a:xfrm>
            <a:off x="9918700" y="3543300"/>
            <a:ext cx="12065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0" i="0" lang="de-DE">
                <a:solidFill>
                  <a:srgbClr val="043751"/>
                </a:solidFill>
                <a:latin typeface="IBM Plex Mono Medium"/>
              </a:rPr>
              <a:t>1.800 m²</a:t>
            </a:r>
          </a:p>
        </p:txBody>
      </p:sp>
      <p:sp>
        <p:nvSpPr>
          <p:cNvPr id="14" name="bar-label-2"/>
          <p:cNvSpPr txBox="1"/>
          <p:nvPr/>
        </p:nvSpPr>
        <p:spPr>
          <a:xfrm>
            <a:off x="6400800" y="3302000"/>
            <a:ext cx="47244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043751"/>
                </a:solidFill>
                <a:latin typeface="IBM Plex Sans"/>
              </a:rPr>
              <a:t>Lager- und Produktionsfläche</a:t>
            </a:r>
          </a:p>
        </p:txBody>
      </p:sp>
      <p:sp>
        <p:nvSpPr>
          <p:cNvPr id="15" name="bar-track-3"/>
          <p:cNvSpPr/>
          <p:nvPr/>
        </p:nvSpPr>
        <p:spPr>
          <a:xfrm>
            <a:off x="6400800" y="4241800"/>
            <a:ext cx="33909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ar-fill-3"/>
          <p:cNvSpPr/>
          <p:nvPr/>
        </p:nvSpPr>
        <p:spPr>
          <a:xfrm>
            <a:off x="6400800" y="4241800"/>
            <a:ext cx="169545" cy="152400"/>
          </a:xfrm>
          <a:prstGeom prst="rect">
            <a:avLst/>
          </a:prstGeom>
          <a:solidFill>
            <a:srgbClr val="A3B6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ar-value-3"/>
          <p:cNvSpPr txBox="1"/>
          <p:nvPr/>
        </p:nvSpPr>
        <p:spPr>
          <a:xfrm>
            <a:off x="9918700" y="4178300"/>
            <a:ext cx="12065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0" i="0" lang="de-DE">
                <a:solidFill>
                  <a:srgbClr val="043751"/>
                </a:solidFill>
                <a:latin typeface="IBM Plex Mono Medium"/>
              </a:rPr>
              <a:t>400 m²</a:t>
            </a:r>
          </a:p>
        </p:txBody>
      </p:sp>
      <p:sp>
        <p:nvSpPr>
          <p:cNvPr id="18" name="bar-label-3"/>
          <p:cNvSpPr txBox="1"/>
          <p:nvPr/>
        </p:nvSpPr>
        <p:spPr>
          <a:xfrm>
            <a:off x="6400800" y="3937000"/>
            <a:ext cx="47244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043751"/>
                </a:solidFill>
                <a:latin typeface="IBM Plex Sans"/>
              </a:rPr>
              <a:t>Kalthalle</a:t>
            </a:r>
          </a:p>
        </p:txBody>
      </p:sp>
      <p:sp>
        <p:nvSpPr>
          <p:cNvPr id="19" name="bar-track-4"/>
          <p:cNvSpPr/>
          <p:nvPr/>
        </p:nvSpPr>
        <p:spPr>
          <a:xfrm>
            <a:off x="6400800" y="4876800"/>
            <a:ext cx="33909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ar-fill-4"/>
          <p:cNvSpPr/>
          <p:nvPr/>
        </p:nvSpPr>
        <p:spPr>
          <a:xfrm>
            <a:off x="6400800" y="4876800"/>
            <a:ext cx="84772" cy="152400"/>
          </a:xfrm>
          <a:prstGeom prst="rect">
            <a:avLst/>
          </a:prstGeom>
          <a:solidFill>
            <a:srgbClr val="A3B6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r-value-4"/>
          <p:cNvSpPr txBox="1"/>
          <p:nvPr/>
        </p:nvSpPr>
        <p:spPr>
          <a:xfrm>
            <a:off x="9918700" y="4813300"/>
            <a:ext cx="12065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0" i="0" lang="de-DE">
                <a:solidFill>
                  <a:srgbClr val="043751"/>
                </a:solidFill>
                <a:latin typeface="IBM Plex Mono Medium"/>
              </a:rPr>
              <a:t>200 m²</a:t>
            </a:r>
          </a:p>
        </p:txBody>
      </p:sp>
      <p:sp>
        <p:nvSpPr>
          <p:cNvPr id="22" name="bar-label-4"/>
          <p:cNvSpPr txBox="1"/>
          <p:nvPr/>
        </p:nvSpPr>
        <p:spPr>
          <a:xfrm>
            <a:off x="6400800" y="4572000"/>
            <a:ext cx="47244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043751"/>
                </a:solidFill>
                <a:latin typeface="IBM Plex Sans"/>
              </a:rPr>
              <a:t>Büroflächen, klimatisiert</a:t>
            </a:r>
          </a:p>
        </p:txBody>
      </p:sp>
      <p:sp>
        <p:nvSpPr>
          <p:cNvPr id="23" name="chart-note"/>
          <p:cNvSpPr txBox="1"/>
          <p:nvPr/>
        </p:nvSpPr>
        <p:spPr>
          <a:xfrm>
            <a:off x="6400800" y="5257800"/>
            <a:ext cx="4724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lang="de-DE">
                <a:solidFill>
                  <a:srgbClr val="4A6079"/>
                </a:solidFill>
                <a:latin typeface="IBM Plex Sans"/>
              </a:rPr>
              <a:t>Alle Angaben ca.; der Standort ist derzeit vollständig vermietet.</a:t>
            </a:r>
          </a:p>
        </p:txBody>
      </p:sp>
      <p:sp>
        <p:nvSpPr>
          <p:cNvPr id="24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25" name="nav-2-active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6" name="nav-underline"/>
          <p:cNvSpPr/>
          <p:nvPr/>
        </p:nvSpPr>
        <p:spPr>
          <a:xfrm>
            <a:off x="4367129" y="685800"/>
            <a:ext cx="1638804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8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9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31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08 ·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Unternehmen gehen in der ecowerth GmbH auf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Ecologicon GmbH · ECO ReLoop GmbH · Eco Park Röthlein GmbH · Maintal Recycling UG</a:t>
            </a:r>
          </a:p>
        </p:txBody>
      </p:sp>
      <p:sp>
        <p:nvSpPr>
          <p:cNvPr id="6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7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8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9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0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2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09 · facts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ECOWERTH in Zahlen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r>
              <a:t>Was bisher auf vier Firmierungen verteilt war, arbeitet künftig unter einem Dach.</a:t>
            </a:r>
          </a:p>
        </p:txBody>
      </p:sp>
      <p:sp>
        <p:nvSpPr>
          <p:cNvPr id="5" name="fact-value-1"/>
          <p:cNvSpPr txBox="1"/>
          <p:nvPr/>
        </p:nvSpPr>
        <p:spPr>
          <a:xfrm>
            <a:off x="762000" y="3644900"/>
            <a:ext cx="2181969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000" b="1" i="0" lang="de-DE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6" name="fact-label-1"/>
          <p:cNvSpPr txBox="1"/>
          <p:nvPr/>
        </p:nvSpPr>
        <p:spPr>
          <a:xfrm>
            <a:off x="762000" y="4521200"/>
            <a:ext cx="2131169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FFFFFF"/>
                </a:solidFill>
                <a:latin typeface="IBM Plex Sans"/>
              </a:rPr>
              <a:t>Unternehmen unter einem Dach</a:t>
            </a:r>
          </a:p>
        </p:txBody>
      </p:sp>
      <p:sp>
        <p:nvSpPr>
          <p:cNvPr id="7" name="fact-sep-2"/>
          <p:cNvSpPr/>
          <p:nvPr/>
        </p:nvSpPr>
        <p:spPr>
          <a:xfrm>
            <a:off x="3090019" y="3733800"/>
            <a:ext cx="12700" cy="16129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act-value-2"/>
          <p:cNvSpPr txBox="1"/>
          <p:nvPr/>
        </p:nvSpPr>
        <p:spPr>
          <a:xfrm>
            <a:off x="3350369" y="3644900"/>
            <a:ext cx="1927969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000" b="1" i="0" lang="de-DE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9" name="fact-label-2"/>
          <p:cNvSpPr txBox="1"/>
          <p:nvPr/>
        </p:nvSpPr>
        <p:spPr>
          <a:xfrm>
            <a:off x="3350369" y="4521200"/>
            <a:ext cx="1877169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FFFFFF"/>
                </a:solidFill>
                <a:latin typeface="IBM Plex Sans"/>
              </a:rPr>
              <a:t>Marken: ECOLOGICON · ECORELOOP · ECOINVEST</a:t>
            </a:r>
          </a:p>
        </p:txBody>
      </p:sp>
      <p:sp>
        <p:nvSpPr>
          <p:cNvPr id="10" name="fact-sep-3"/>
          <p:cNvSpPr/>
          <p:nvPr/>
        </p:nvSpPr>
        <p:spPr>
          <a:xfrm>
            <a:off x="5424388" y="3733800"/>
            <a:ext cx="12700" cy="16129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act-value-3"/>
          <p:cNvSpPr txBox="1"/>
          <p:nvPr/>
        </p:nvSpPr>
        <p:spPr>
          <a:xfrm>
            <a:off x="5684738" y="3644900"/>
            <a:ext cx="1927969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000" b="1" i="0" lang="de-DE">
                <a:solidFill>
                  <a:srgbClr val="FFFFFF"/>
                </a:solidFill>
                <a:latin typeface="Archivo"/>
              </a:rPr>
              <a:t>12</a:t>
            </a:r>
          </a:p>
        </p:txBody>
      </p:sp>
      <p:sp>
        <p:nvSpPr>
          <p:cNvPr id="12" name="fact-label-3"/>
          <p:cNvSpPr txBox="1"/>
          <p:nvPr/>
        </p:nvSpPr>
        <p:spPr>
          <a:xfrm>
            <a:off x="5684738" y="4521200"/>
            <a:ext cx="1877169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FFFFFF"/>
                </a:solidFill>
                <a:latin typeface="IBM Plex Sans"/>
              </a:rPr>
              <a:t>abgedeckte Zielgruppen entlang der Pflichtenkette</a:t>
            </a:r>
          </a:p>
        </p:txBody>
      </p:sp>
      <p:sp>
        <p:nvSpPr>
          <p:cNvPr id="13" name="fact-sep-4"/>
          <p:cNvSpPr/>
          <p:nvPr/>
        </p:nvSpPr>
        <p:spPr>
          <a:xfrm>
            <a:off x="7758757" y="3733800"/>
            <a:ext cx="12700" cy="16129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act-value-4"/>
          <p:cNvSpPr txBox="1"/>
          <p:nvPr/>
        </p:nvSpPr>
        <p:spPr>
          <a:xfrm>
            <a:off x="8019107" y="3644900"/>
            <a:ext cx="3258493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000" b="1" i="0" lang="de-DE">
                <a:solidFill>
                  <a:srgbClr val="FFFFFF"/>
                </a:solidFill>
                <a:latin typeface="Archivo"/>
              </a:rPr>
              <a:t>8.000 m²</a:t>
            </a:r>
          </a:p>
        </p:txBody>
      </p:sp>
      <p:sp>
        <p:nvSpPr>
          <p:cNvPr id="15" name="fact-label-4"/>
          <p:cNvSpPr txBox="1"/>
          <p:nvPr/>
        </p:nvSpPr>
        <p:spPr>
          <a:xfrm>
            <a:off x="8019107" y="4521200"/>
            <a:ext cx="3207693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FFFFFF"/>
                </a:solidFill>
                <a:latin typeface="IBM Plex Sans"/>
              </a:rPr>
              <a:t>eigener Standort ECO Park Röthlein</a:t>
            </a:r>
          </a:p>
        </p:txBody>
      </p:sp>
      <p:sp>
        <p:nvSpPr>
          <p:cNvPr id="16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7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8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9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0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2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10 · brands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 Dach, drei Marken</a:t>
            </a:r>
          </a:p>
        </p:txBody>
      </p:sp>
      <p:sp>
        <p:nvSpPr>
          <p:cNvPr id="4" name="brands-rule"/>
          <p:cNvSpPr/>
          <p:nvPr/>
        </p:nvSpPr>
        <p:spPr>
          <a:xfrm>
            <a:off x="762000" y="2152650"/>
            <a:ext cx="106680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rand-sep-1"/>
          <p:cNvSpPr/>
          <p:nvPr/>
        </p:nvSpPr>
        <p:spPr>
          <a:xfrm>
            <a:off x="4311650" y="2311400"/>
            <a:ext cx="12700" cy="340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rand-label-1"/>
          <p:cNvSpPr txBox="1"/>
          <p:nvPr/>
        </p:nvSpPr>
        <p:spPr>
          <a:xfrm>
            <a:off x="762000" y="2362200"/>
            <a:ext cx="34036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Beratung</a:t>
            </a:r>
          </a:p>
        </p:txBody>
      </p:sp>
      <p:pic>
        <p:nvPicPr>
          <p:cNvPr id="7" name="brand-logo-1" descr="ecolog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41600"/>
            <a:ext cx="2225165" cy="203200"/>
          </a:xfrm>
          <a:prstGeom prst="rect">
            <a:avLst/>
          </a:prstGeom>
        </p:spPr>
      </p:pic>
      <p:sp>
        <p:nvSpPr>
          <p:cNvPr id="8" name="brand-from-1"/>
          <p:cNvSpPr txBox="1"/>
          <p:nvPr/>
        </p:nvSpPr>
        <p:spPr>
          <a:xfrm>
            <a:off x="762000" y="2959100"/>
            <a:ext cx="34036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bisher: Ecologicon GmbH</a:t>
            </a:r>
          </a:p>
        </p:txBody>
      </p:sp>
      <p:sp>
        <p:nvSpPr>
          <p:cNvPr id="9" name="brand-text-1"/>
          <p:cNvSpPr txBox="1"/>
          <p:nvPr/>
        </p:nvSpPr>
        <p:spPr>
          <a:xfrm>
            <a:off x="762000" y="3284220"/>
            <a:ext cx="3403600" cy="817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A6079"/>
                </a:solidFill>
                <a:latin typeface="IBM Plex Sans"/>
              </a:rPr>
              <a:t>Die externe Umweltabteilung für Hersteller, Importeure und Entsorger.</a:t>
            </a:r>
          </a:p>
        </p:txBody>
      </p:sp>
      <p:sp>
        <p:nvSpPr>
          <p:cNvPr id="10" name="brand-dash-1-1"/>
          <p:cNvSpPr/>
          <p:nvPr/>
        </p:nvSpPr>
        <p:spPr>
          <a:xfrm>
            <a:off x="762000" y="4273550"/>
            <a:ext cx="88900" cy="12700"/>
          </a:xfrm>
          <a:prstGeom prst="rect">
            <a:avLst/>
          </a:prstGeom>
          <a:solidFill>
            <a:srgbClr val="117E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rand-item-1-1"/>
          <p:cNvSpPr txBox="1"/>
          <p:nvPr/>
        </p:nvSpPr>
        <p:spPr>
          <a:xfrm>
            <a:off x="927100" y="4178300"/>
            <a:ext cx="3238500" cy="553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Beauftragtenwesen &amp; Betreiberpflichten</a:t>
            </a:r>
          </a:p>
        </p:txBody>
      </p:sp>
      <p:sp>
        <p:nvSpPr>
          <p:cNvPr id="12" name="brand-dash-1-2"/>
          <p:cNvSpPr/>
          <p:nvPr/>
        </p:nvSpPr>
        <p:spPr>
          <a:xfrm>
            <a:off x="762000" y="4839970"/>
            <a:ext cx="88900" cy="12700"/>
          </a:xfrm>
          <a:prstGeom prst="rect">
            <a:avLst/>
          </a:prstGeom>
          <a:solidFill>
            <a:srgbClr val="117E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rand-item-1-2"/>
          <p:cNvSpPr txBox="1"/>
          <p:nvPr/>
        </p:nvSpPr>
        <p:spPr>
          <a:xfrm>
            <a:off x="927100" y="4744720"/>
            <a:ext cx="32385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EPR &amp; Herstellerverantwortung</a:t>
            </a:r>
          </a:p>
        </p:txBody>
      </p:sp>
      <p:sp>
        <p:nvSpPr>
          <p:cNvPr id="14" name="brand-dash-1-3"/>
          <p:cNvSpPr/>
          <p:nvPr/>
        </p:nvSpPr>
        <p:spPr>
          <a:xfrm>
            <a:off x="762000" y="5142230"/>
            <a:ext cx="88900" cy="12700"/>
          </a:xfrm>
          <a:prstGeom prst="rect">
            <a:avLst/>
          </a:prstGeom>
          <a:solidFill>
            <a:srgbClr val="117E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rand-item-1-3"/>
          <p:cNvSpPr txBox="1"/>
          <p:nvPr/>
        </p:nvSpPr>
        <p:spPr>
          <a:xfrm>
            <a:off x="927100" y="5046980"/>
            <a:ext cx="32385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Abfallverbringung &amp; Cross-Border</a:t>
            </a:r>
          </a:p>
        </p:txBody>
      </p:sp>
      <p:sp>
        <p:nvSpPr>
          <p:cNvPr id="16" name="brand-dash-1-4"/>
          <p:cNvSpPr/>
          <p:nvPr/>
        </p:nvSpPr>
        <p:spPr>
          <a:xfrm>
            <a:off x="762000" y="5444490"/>
            <a:ext cx="88900" cy="12700"/>
          </a:xfrm>
          <a:prstGeom prst="rect">
            <a:avLst/>
          </a:prstGeom>
          <a:solidFill>
            <a:srgbClr val="117E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rand-item-1-4"/>
          <p:cNvSpPr txBox="1"/>
          <p:nvPr/>
        </p:nvSpPr>
        <p:spPr>
          <a:xfrm>
            <a:off x="927100" y="5349240"/>
            <a:ext cx="3238500" cy="553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ESG-, CSRD- &amp; Mengenstromreporting</a:t>
            </a:r>
          </a:p>
        </p:txBody>
      </p:sp>
      <p:sp>
        <p:nvSpPr>
          <p:cNvPr id="18" name="brand-sep-2"/>
          <p:cNvSpPr/>
          <p:nvPr/>
        </p:nvSpPr>
        <p:spPr>
          <a:xfrm>
            <a:off x="7867650" y="2311400"/>
            <a:ext cx="12700" cy="340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rand-label-2"/>
          <p:cNvSpPr txBox="1"/>
          <p:nvPr/>
        </p:nvSpPr>
        <p:spPr>
          <a:xfrm>
            <a:off x="4470400" y="2362200"/>
            <a:ext cx="3251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Systembetrieb</a:t>
            </a:r>
          </a:p>
        </p:txBody>
      </p:sp>
      <p:pic>
        <p:nvPicPr>
          <p:cNvPr id="20" name="brand-logo-2" descr="ecore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2641600"/>
            <a:ext cx="2102069" cy="203200"/>
          </a:xfrm>
          <a:prstGeom prst="rect">
            <a:avLst/>
          </a:prstGeom>
        </p:spPr>
      </p:pic>
      <p:sp>
        <p:nvSpPr>
          <p:cNvPr id="21" name="brand-from-2"/>
          <p:cNvSpPr txBox="1"/>
          <p:nvPr/>
        </p:nvSpPr>
        <p:spPr>
          <a:xfrm>
            <a:off x="4470400" y="2959100"/>
            <a:ext cx="32512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bisher: ECO ReLoop GmbH</a:t>
            </a:r>
          </a:p>
        </p:txBody>
      </p:sp>
      <p:sp>
        <p:nvSpPr>
          <p:cNvPr id="22" name="brand-text-2"/>
          <p:cNvSpPr txBox="1"/>
          <p:nvPr/>
        </p:nvSpPr>
        <p:spPr>
          <a:xfrm>
            <a:off x="4470400" y="3284220"/>
            <a:ext cx="3251200" cy="817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A6079"/>
                </a:solidFill>
                <a:latin typeface="IBM Plex Sans"/>
              </a:rPr>
              <a:t>Der operative Arm für Elektroaltgeräte, Batterien und Textilien.</a:t>
            </a:r>
          </a:p>
        </p:txBody>
      </p:sp>
      <p:sp>
        <p:nvSpPr>
          <p:cNvPr id="23" name="brand-dash-2-1"/>
          <p:cNvSpPr/>
          <p:nvPr/>
        </p:nvSpPr>
        <p:spPr>
          <a:xfrm>
            <a:off x="4470400" y="4273550"/>
            <a:ext cx="889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rand-item-2-1"/>
          <p:cNvSpPr txBox="1"/>
          <p:nvPr/>
        </p:nvSpPr>
        <p:spPr>
          <a:xfrm>
            <a:off x="4635500" y="4178300"/>
            <a:ext cx="30861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Rücknahme- &amp; Sammelsysteme</a:t>
            </a:r>
          </a:p>
        </p:txBody>
      </p:sp>
      <p:sp>
        <p:nvSpPr>
          <p:cNvPr id="25" name="brand-dash-2-2"/>
          <p:cNvSpPr/>
          <p:nvPr/>
        </p:nvSpPr>
        <p:spPr>
          <a:xfrm>
            <a:off x="4470400" y="4575810"/>
            <a:ext cx="889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rand-item-2-2"/>
          <p:cNvSpPr txBox="1"/>
          <p:nvPr/>
        </p:nvSpPr>
        <p:spPr>
          <a:xfrm>
            <a:off x="4635500" y="4480560"/>
            <a:ext cx="3086100" cy="553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Zwischenlagerung Batterien &amp; Abfälle</a:t>
            </a:r>
          </a:p>
        </p:txBody>
      </p:sp>
      <p:sp>
        <p:nvSpPr>
          <p:cNvPr id="27" name="brand-dash-2-3"/>
          <p:cNvSpPr/>
          <p:nvPr/>
        </p:nvSpPr>
        <p:spPr>
          <a:xfrm>
            <a:off x="4470400" y="5142230"/>
            <a:ext cx="889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rand-item-2-3"/>
          <p:cNvSpPr txBox="1"/>
          <p:nvPr/>
        </p:nvSpPr>
        <p:spPr>
          <a:xfrm>
            <a:off x="4635500" y="5046980"/>
            <a:ext cx="30861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Notifizierungsverfahren</a:t>
            </a:r>
          </a:p>
        </p:txBody>
      </p:sp>
      <p:sp>
        <p:nvSpPr>
          <p:cNvPr id="29" name="brand-dash-2-4"/>
          <p:cNvSpPr/>
          <p:nvPr/>
        </p:nvSpPr>
        <p:spPr>
          <a:xfrm>
            <a:off x="4470400" y="5444490"/>
            <a:ext cx="889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rand-item-2-4"/>
          <p:cNvSpPr txBox="1"/>
          <p:nvPr/>
        </p:nvSpPr>
        <p:spPr>
          <a:xfrm>
            <a:off x="4635500" y="5349240"/>
            <a:ext cx="30861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Green Box &amp; Electro-Box</a:t>
            </a:r>
          </a:p>
        </p:txBody>
      </p:sp>
      <p:sp>
        <p:nvSpPr>
          <p:cNvPr id="31" name="brand-label-3"/>
          <p:cNvSpPr txBox="1"/>
          <p:nvPr/>
        </p:nvSpPr>
        <p:spPr>
          <a:xfrm>
            <a:off x="8026400" y="2362200"/>
            <a:ext cx="3251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Flächen &amp; Anlagen</a:t>
            </a:r>
          </a:p>
        </p:txBody>
      </p:sp>
      <p:pic>
        <p:nvPicPr>
          <p:cNvPr id="32" name="brand-logo-3" descr="ecoinv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2641600"/>
            <a:ext cx="1905000" cy="203200"/>
          </a:xfrm>
          <a:prstGeom prst="rect">
            <a:avLst/>
          </a:prstGeom>
        </p:spPr>
      </p:pic>
      <p:sp>
        <p:nvSpPr>
          <p:cNvPr id="33" name="brand-from-3"/>
          <p:cNvSpPr txBox="1"/>
          <p:nvPr/>
        </p:nvSpPr>
        <p:spPr>
          <a:xfrm>
            <a:off x="8026400" y="2959100"/>
            <a:ext cx="3251200" cy="42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bisher: Eco Park Röthlein GmbH &amp; Maintal Recycling UG</a:t>
            </a:r>
          </a:p>
        </p:txBody>
      </p:sp>
      <p:sp>
        <p:nvSpPr>
          <p:cNvPr id="34" name="brand-text-3"/>
          <p:cNvSpPr txBox="1"/>
          <p:nvPr/>
        </p:nvSpPr>
        <p:spPr>
          <a:xfrm>
            <a:off x="8026400" y="3482340"/>
            <a:ext cx="3251200" cy="817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A6079"/>
                </a:solidFill>
                <a:latin typeface="IBM Plex Sans"/>
              </a:rPr>
              <a:t>Genehmigungsfähige Flächen und Betreiberkonzepte für die Kreislaufwirtschaft.</a:t>
            </a:r>
          </a:p>
        </p:txBody>
      </p:sp>
      <p:sp>
        <p:nvSpPr>
          <p:cNvPr id="35" name="brand-dash-3-1"/>
          <p:cNvSpPr/>
          <p:nvPr/>
        </p:nvSpPr>
        <p:spPr>
          <a:xfrm>
            <a:off x="8026400" y="4471670"/>
            <a:ext cx="88900" cy="12700"/>
          </a:xfrm>
          <a:prstGeom prst="rect">
            <a:avLst/>
          </a:prstGeom>
          <a:solidFill>
            <a:srgbClr val="AC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rand-item-3-1"/>
          <p:cNvSpPr txBox="1"/>
          <p:nvPr/>
        </p:nvSpPr>
        <p:spPr>
          <a:xfrm>
            <a:off x="8191500" y="4376420"/>
            <a:ext cx="3086100" cy="553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Gewerbeimmobilien Kreislaufwirtschaft</a:t>
            </a:r>
          </a:p>
        </p:txBody>
      </p:sp>
      <p:sp>
        <p:nvSpPr>
          <p:cNvPr id="37" name="brand-dash-3-2"/>
          <p:cNvSpPr/>
          <p:nvPr/>
        </p:nvSpPr>
        <p:spPr>
          <a:xfrm>
            <a:off x="8026400" y="5038090"/>
            <a:ext cx="88900" cy="12700"/>
          </a:xfrm>
          <a:prstGeom prst="rect">
            <a:avLst/>
          </a:prstGeom>
          <a:solidFill>
            <a:srgbClr val="AC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rand-item-3-2"/>
          <p:cNvSpPr txBox="1"/>
          <p:nvPr/>
        </p:nvSpPr>
        <p:spPr>
          <a:xfrm>
            <a:off x="8191500" y="4942840"/>
            <a:ext cx="30861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ECO Park Röthlein · 8.000 m²</a:t>
            </a:r>
          </a:p>
        </p:txBody>
      </p:sp>
      <p:sp>
        <p:nvSpPr>
          <p:cNvPr id="39" name="brand-dash-3-3"/>
          <p:cNvSpPr/>
          <p:nvPr/>
        </p:nvSpPr>
        <p:spPr>
          <a:xfrm>
            <a:off x="8026400" y="5340350"/>
            <a:ext cx="88900" cy="12700"/>
          </a:xfrm>
          <a:prstGeom prst="rect">
            <a:avLst/>
          </a:prstGeom>
          <a:solidFill>
            <a:srgbClr val="AC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rand-item-3-3"/>
          <p:cNvSpPr txBox="1"/>
          <p:nvPr/>
        </p:nvSpPr>
        <p:spPr>
          <a:xfrm>
            <a:off x="8191500" y="5245100"/>
            <a:ext cx="3086100" cy="553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Genehmigungs- &amp; Betreiberkonzepte</a:t>
            </a:r>
          </a:p>
        </p:txBody>
      </p:sp>
      <p:sp>
        <p:nvSpPr>
          <p:cNvPr id="41" name="brand-dash-3-4"/>
          <p:cNvSpPr/>
          <p:nvPr/>
        </p:nvSpPr>
        <p:spPr>
          <a:xfrm>
            <a:off x="8026400" y="5906770"/>
            <a:ext cx="88900" cy="12700"/>
          </a:xfrm>
          <a:prstGeom prst="rect">
            <a:avLst/>
          </a:prstGeom>
          <a:solidFill>
            <a:srgbClr val="AC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rand-item-3-4"/>
          <p:cNvSpPr txBox="1"/>
          <p:nvPr/>
        </p:nvSpPr>
        <p:spPr>
          <a:xfrm>
            <a:off x="8191500" y="5811520"/>
            <a:ext cx="30861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"/>
              </a:rPr>
              <a:t>Operative Recyclingkapazität</a:t>
            </a:r>
          </a:p>
        </p:txBody>
      </p:sp>
      <p:sp>
        <p:nvSpPr>
          <p:cNvPr id="43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44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45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46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47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11 · 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2026: acht Leistungsfelder</a:t>
            </a:r>
          </a:p>
        </p:txBody>
      </p:sp>
      <p:sp>
        <p:nvSpPr>
          <p:cNvPr id="4" name="check-rule-1"/>
          <p:cNvSpPr/>
          <p:nvPr/>
        </p:nvSpPr>
        <p:spPr>
          <a:xfrm>
            <a:off x="762000" y="2152650"/>
            <a:ext cx="50800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heck-num-1"/>
          <p:cNvSpPr txBox="1"/>
          <p:nvPr/>
        </p:nvSpPr>
        <p:spPr>
          <a:xfrm>
            <a:off x="762000" y="2159000"/>
            <a:ext cx="406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01</a:t>
            </a:r>
          </a:p>
        </p:txBody>
      </p:sp>
      <p:sp>
        <p:nvSpPr>
          <p:cNvPr id="6" name="check-text-1"/>
          <p:cNvSpPr txBox="1"/>
          <p:nvPr/>
        </p:nvSpPr>
        <p:spPr>
          <a:xfrm>
            <a:off x="1244600" y="2159000"/>
            <a:ext cx="4597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Beauftragtenwesen, Betreiberpflichten &amp; Verpflichtungsumsetzung</a:t>
            </a:r>
          </a:p>
        </p:txBody>
      </p:sp>
      <p:sp>
        <p:nvSpPr>
          <p:cNvPr id="7" name="check-line-1"/>
          <p:cNvSpPr/>
          <p:nvPr/>
        </p:nvSpPr>
        <p:spPr>
          <a:xfrm>
            <a:off x="762000" y="295021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eck-num-2"/>
          <p:cNvSpPr txBox="1"/>
          <p:nvPr/>
        </p:nvSpPr>
        <p:spPr>
          <a:xfrm>
            <a:off x="762000" y="2956560"/>
            <a:ext cx="406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02</a:t>
            </a:r>
          </a:p>
        </p:txBody>
      </p:sp>
      <p:sp>
        <p:nvSpPr>
          <p:cNvPr id="9" name="check-text-2"/>
          <p:cNvSpPr txBox="1"/>
          <p:nvPr/>
        </p:nvSpPr>
        <p:spPr>
          <a:xfrm>
            <a:off x="1244600" y="2956560"/>
            <a:ext cx="4597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Abfallverbringung, BASEL &amp; internationale Entsorgungsprozesse</a:t>
            </a:r>
          </a:p>
        </p:txBody>
      </p:sp>
      <p:sp>
        <p:nvSpPr>
          <p:cNvPr id="10" name="check-line-2"/>
          <p:cNvSpPr/>
          <p:nvPr/>
        </p:nvSpPr>
        <p:spPr>
          <a:xfrm>
            <a:off x="762000" y="374777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eck-num-3"/>
          <p:cNvSpPr txBox="1"/>
          <p:nvPr/>
        </p:nvSpPr>
        <p:spPr>
          <a:xfrm>
            <a:off x="762000" y="3754120"/>
            <a:ext cx="406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03</a:t>
            </a:r>
          </a:p>
        </p:txBody>
      </p:sp>
      <p:sp>
        <p:nvSpPr>
          <p:cNvPr id="12" name="check-text-3"/>
          <p:cNvSpPr txBox="1"/>
          <p:nvPr/>
        </p:nvSpPr>
        <p:spPr>
          <a:xfrm>
            <a:off x="1244600" y="3754120"/>
            <a:ext cx="4597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Erweiterte Herstellerverantwortung (EPR) &amp; Rücknahmesysteme</a:t>
            </a:r>
          </a:p>
        </p:txBody>
      </p:sp>
      <p:sp>
        <p:nvSpPr>
          <p:cNvPr id="13" name="check-line-3"/>
          <p:cNvSpPr/>
          <p:nvPr/>
        </p:nvSpPr>
        <p:spPr>
          <a:xfrm>
            <a:off x="762000" y="454533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heck-num-4"/>
          <p:cNvSpPr txBox="1"/>
          <p:nvPr/>
        </p:nvSpPr>
        <p:spPr>
          <a:xfrm>
            <a:off x="762000" y="4551680"/>
            <a:ext cx="406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04</a:t>
            </a:r>
          </a:p>
        </p:txBody>
      </p:sp>
      <p:sp>
        <p:nvSpPr>
          <p:cNvPr id="15" name="check-text-4"/>
          <p:cNvSpPr txBox="1"/>
          <p:nvPr/>
        </p:nvSpPr>
        <p:spPr>
          <a:xfrm>
            <a:off x="1244600" y="4551680"/>
            <a:ext cx="4597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Systemarchitektur, Umsetzung &amp; Kreislaufwirtschaftskonzepte</a:t>
            </a:r>
          </a:p>
        </p:txBody>
      </p:sp>
      <p:sp>
        <p:nvSpPr>
          <p:cNvPr id="16" name="check-line-4"/>
          <p:cNvSpPr/>
          <p:nvPr/>
        </p:nvSpPr>
        <p:spPr>
          <a:xfrm>
            <a:off x="762000" y="534289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heck-rule-2"/>
          <p:cNvSpPr/>
          <p:nvPr/>
        </p:nvSpPr>
        <p:spPr>
          <a:xfrm>
            <a:off x="6350000" y="2152650"/>
            <a:ext cx="50800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heck-num-5"/>
          <p:cNvSpPr txBox="1"/>
          <p:nvPr/>
        </p:nvSpPr>
        <p:spPr>
          <a:xfrm>
            <a:off x="6350000" y="2159000"/>
            <a:ext cx="406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05</a:t>
            </a:r>
          </a:p>
        </p:txBody>
      </p:sp>
      <p:sp>
        <p:nvSpPr>
          <p:cNvPr id="19" name="check-text-5"/>
          <p:cNvSpPr txBox="1"/>
          <p:nvPr/>
        </p:nvSpPr>
        <p:spPr>
          <a:xfrm>
            <a:off x="6832600" y="2159000"/>
            <a:ext cx="4597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Standort: Managementsysteme, Genehmigungswesen &amp; Zertifizierung</a:t>
            </a:r>
          </a:p>
        </p:txBody>
      </p:sp>
      <p:sp>
        <p:nvSpPr>
          <p:cNvPr id="20" name="check-line-5"/>
          <p:cNvSpPr/>
          <p:nvPr/>
        </p:nvSpPr>
        <p:spPr>
          <a:xfrm>
            <a:off x="6350000" y="295021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heck-num-6"/>
          <p:cNvSpPr txBox="1"/>
          <p:nvPr/>
        </p:nvSpPr>
        <p:spPr>
          <a:xfrm>
            <a:off x="6350000" y="2956560"/>
            <a:ext cx="406400" cy="5003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06</a:t>
            </a:r>
          </a:p>
        </p:txBody>
      </p:sp>
      <p:sp>
        <p:nvSpPr>
          <p:cNvPr id="22" name="check-text-6"/>
          <p:cNvSpPr txBox="1"/>
          <p:nvPr/>
        </p:nvSpPr>
        <p:spPr>
          <a:xfrm>
            <a:off x="6832600" y="2956560"/>
            <a:ext cx="4597400" cy="5003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Beratung zu Technologien &amp; Prozessen</a:t>
            </a:r>
          </a:p>
        </p:txBody>
      </p:sp>
      <p:sp>
        <p:nvSpPr>
          <p:cNvPr id="23" name="check-line-6"/>
          <p:cNvSpPr/>
          <p:nvPr/>
        </p:nvSpPr>
        <p:spPr>
          <a:xfrm>
            <a:off x="6350000" y="345059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ck-num-7"/>
          <p:cNvSpPr txBox="1"/>
          <p:nvPr/>
        </p:nvSpPr>
        <p:spPr>
          <a:xfrm>
            <a:off x="6350000" y="3456940"/>
            <a:ext cx="406400" cy="5003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07</a:t>
            </a:r>
          </a:p>
        </p:txBody>
      </p:sp>
      <p:sp>
        <p:nvSpPr>
          <p:cNvPr id="25" name="check-text-7"/>
          <p:cNvSpPr txBox="1"/>
          <p:nvPr/>
        </p:nvSpPr>
        <p:spPr>
          <a:xfrm>
            <a:off x="6832600" y="3456940"/>
            <a:ext cx="4597400" cy="5003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Reporting &amp; Wirtschaftlichkeit</a:t>
            </a:r>
          </a:p>
        </p:txBody>
      </p:sp>
      <p:sp>
        <p:nvSpPr>
          <p:cNvPr id="26" name="check-line-7"/>
          <p:cNvSpPr/>
          <p:nvPr/>
        </p:nvSpPr>
        <p:spPr>
          <a:xfrm>
            <a:off x="6350000" y="395097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heck-num-8"/>
          <p:cNvSpPr txBox="1"/>
          <p:nvPr/>
        </p:nvSpPr>
        <p:spPr>
          <a:xfrm>
            <a:off x="6350000" y="3957320"/>
            <a:ext cx="406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08</a:t>
            </a:r>
          </a:p>
        </p:txBody>
      </p:sp>
      <p:sp>
        <p:nvSpPr>
          <p:cNvPr id="28" name="check-text-8"/>
          <p:cNvSpPr txBox="1"/>
          <p:nvPr/>
        </p:nvSpPr>
        <p:spPr>
          <a:xfrm>
            <a:off x="6832600" y="3957320"/>
            <a:ext cx="4597400" cy="797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Operative Umsetzung, Projekte &amp; internationale Konzernservices</a:t>
            </a:r>
          </a:p>
        </p:txBody>
      </p:sp>
      <p:sp>
        <p:nvSpPr>
          <p:cNvPr id="29" name="check-line-8"/>
          <p:cNvSpPr/>
          <p:nvPr/>
        </p:nvSpPr>
        <p:spPr>
          <a:xfrm>
            <a:off x="6350000" y="4748530"/>
            <a:ext cx="50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31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32" name="nav-3-active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Leistungen</a:t>
            </a:r>
          </a:p>
        </p:txBody>
      </p:sp>
      <p:sp>
        <p:nvSpPr>
          <p:cNvPr id="33" name="nav-underline"/>
          <p:cNvSpPr/>
          <p:nvPr/>
        </p:nvSpPr>
        <p:spPr>
          <a:xfrm>
            <a:off x="6259933" y="685800"/>
            <a:ext cx="1294070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35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36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12 · steps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Vom Konzept bis zum Tagesbetrieb</a:t>
            </a:r>
          </a:p>
        </p:txBody>
      </p:sp>
      <p:sp>
        <p:nvSpPr>
          <p:cNvPr id="4" name="step-rule-1"/>
          <p:cNvSpPr/>
          <p:nvPr/>
        </p:nvSpPr>
        <p:spPr>
          <a:xfrm>
            <a:off x="762000" y="2152650"/>
            <a:ext cx="24384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ep-num-1"/>
          <p:cNvSpPr txBox="1"/>
          <p:nvPr/>
        </p:nvSpPr>
        <p:spPr>
          <a:xfrm>
            <a:off x="762000" y="2286000"/>
            <a:ext cx="2438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01</a:t>
            </a:r>
          </a:p>
        </p:txBody>
      </p:sp>
      <p:sp>
        <p:nvSpPr>
          <p:cNvPr id="6" name="step-title-1"/>
          <p:cNvSpPr txBox="1"/>
          <p:nvPr/>
        </p:nvSpPr>
        <p:spPr>
          <a:xfrm>
            <a:off x="762000" y="2578100"/>
            <a:ext cx="2438400" cy="633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Pflichten analysieren</a:t>
            </a:r>
          </a:p>
        </p:txBody>
      </p:sp>
      <p:sp>
        <p:nvSpPr>
          <p:cNvPr id="7" name="step-text-1"/>
          <p:cNvSpPr txBox="1"/>
          <p:nvPr/>
        </p:nvSpPr>
        <p:spPr>
          <a:xfrm>
            <a:off x="762000" y="3274974"/>
            <a:ext cx="2438400" cy="23384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Welche Regelwerke gelten für Ihre Produkte und Abfälle?</a:t>
            </a:r>
          </a:p>
        </p:txBody>
      </p:sp>
      <p:sp>
        <p:nvSpPr>
          <p:cNvPr id="8" name="step-rule-2"/>
          <p:cNvSpPr/>
          <p:nvPr/>
        </p:nvSpPr>
        <p:spPr>
          <a:xfrm>
            <a:off x="3505200" y="2152650"/>
            <a:ext cx="24384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ep-num-2"/>
          <p:cNvSpPr txBox="1"/>
          <p:nvPr/>
        </p:nvSpPr>
        <p:spPr>
          <a:xfrm>
            <a:off x="3505200" y="2286000"/>
            <a:ext cx="2438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02</a:t>
            </a:r>
          </a:p>
        </p:txBody>
      </p:sp>
      <p:sp>
        <p:nvSpPr>
          <p:cNvPr id="10" name="step-title-2"/>
          <p:cNvSpPr txBox="1"/>
          <p:nvPr/>
        </p:nvSpPr>
        <p:spPr>
          <a:xfrm>
            <a:off x="3505200" y="2578100"/>
            <a:ext cx="24384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System aufbauen</a:t>
            </a:r>
          </a:p>
        </p:txBody>
      </p:sp>
      <p:sp>
        <p:nvSpPr>
          <p:cNvPr id="11" name="step-text-2"/>
          <p:cNvSpPr txBox="1"/>
          <p:nvPr/>
        </p:nvSpPr>
        <p:spPr>
          <a:xfrm>
            <a:off x="3505200" y="2970987"/>
            <a:ext cx="2438400" cy="2642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Rücknahme- und Sammelsysteme, abgestimmt auf Ihre Stoffströme.</a:t>
            </a:r>
          </a:p>
        </p:txBody>
      </p:sp>
      <p:sp>
        <p:nvSpPr>
          <p:cNvPr id="12" name="step-rule-3"/>
          <p:cNvSpPr/>
          <p:nvPr/>
        </p:nvSpPr>
        <p:spPr>
          <a:xfrm>
            <a:off x="6248400" y="2152650"/>
            <a:ext cx="24384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tep-num-3"/>
          <p:cNvSpPr txBox="1"/>
          <p:nvPr/>
        </p:nvSpPr>
        <p:spPr>
          <a:xfrm>
            <a:off x="6248400" y="2286000"/>
            <a:ext cx="2438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03</a:t>
            </a:r>
          </a:p>
        </p:txBody>
      </p:sp>
      <p:sp>
        <p:nvSpPr>
          <p:cNvPr id="14" name="step-title-3"/>
          <p:cNvSpPr txBox="1"/>
          <p:nvPr/>
        </p:nvSpPr>
        <p:spPr>
          <a:xfrm>
            <a:off x="6248400" y="2578100"/>
            <a:ext cx="2438400" cy="633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Sammeln und lagern</a:t>
            </a:r>
          </a:p>
        </p:txBody>
      </p:sp>
      <p:sp>
        <p:nvSpPr>
          <p:cNvPr id="15" name="step-text-3"/>
          <p:cNvSpPr txBox="1"/>
          <p:nvPr/>
        </p:nvSpPr>
        <p:spPr>
          <a:xfrm>
            <a:off x="6248400" y="3274974"/>
            <a:ext cx="2438400" cy="23384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Logistik und Zwischenlagerung nach höchsten Sicherheitsstandards.</a:t>
            </a:r>
          </a:p>
        </p:txBody>
      </p:sp>
      <p:sp>
        <p:nvSpPr>
          <p:cNvPr id="16" name="step-rule-4"/>
          <p:cNvSpPr/>
          <p:nvPr/>
        </p:nvSpPr>
        <p:spPr>
          <a:xfrm>
            <a:off x="8991600" y="2152650"/>
            <a:ext cx="24384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tep-num-4"/>
          <p:cNvSpPr txBox="1"/>
          <p:nvPr/>
        </p:nvSpPr>
        <p:spPr>
          <a:xfrm>
            <a:off x="8991600" y="2286000"/>
            <a:ext cx="2438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04</a:t>
            </a:r>
          </a:p>
        </p:txBody>
      </p:sp>
      <p:sp>
        <p:nvSpPr>
          <p:cNvPr id="18" name="step-title-4"/>
          <p:cNvSpPr txBox="1"/>
          <p:nvPr/>
        </p:nvSpPr>
        <p:spPr>
          <a:xfrm>
            <a:off x="8991600" y="2578100"/>
            <a:ext cx="2438400" cy="6333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Verwerten und nachweisen</a:t>
            </a:r>
          </a:p>
        </p:txBody>
      </p:sp>
      <p:sp>
        <p:nvSpPr>
          <p:cNvPr id="19" name="step-text-4"/>
          <p:cNvSpPr txBox="1"/>
          <p:nvPr/>
        </p:nvSpPr>
        <p:spPr>
          <a:xfrm>
            <a:off x="8991600" y="3274974"/>
            <a:ext cx="2438400" cy="23384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Verwertung mit vollständiger Nachweisführung.</a:t>
            </a:r>
          </a:p>
        </p:txBody>
      </p:sp>
      <p:sp>
        <p:nvSpPr>
          <p:cNvPr id="20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21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2" name="nav-3-active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Leistungen</a:t>
            </a:r>
          </a:p>
        </p:txBody>
      </p:sp>
      <p:sp>
        <p:nvSpPr>
          <p:cNvPr id="23" name="nav-underline"/>
          <p:cNvSpPr/>
          <p:nvPr/>
        </p:nvSpPr>
        <p:spPr>
          <a:xfrm>
            <a:off x="6259933" y="685800"/>
            <a:ext cx="1294070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5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12 · steps mit Fotos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Standort in Bildern</a:t>
            </a:r>
          </a:p>
        </p:txBody>
      </p:sp>
      <p:sp>
        <p:nvSpPr>
          <p:cNvPr id="4" name="brief-card"/>
          <p:cNvSpPr/>
          <p:nvPr/>
        </p:nvSpPr>
        <p:spPr>
          <a:xfrm>
            <a:off x="762000" y="2095500"/>
            <a:ext cx="3420533" cy="1924050"/>
          </a:xfrm>
          <a:prstGeom prst="rect">
            <a:avLst/>
          </a:prstGeom>
          <a:gradFill rotWithShape="1">
            <a:gsLst>
              <a:gs pos="0">
                <a:srgbClr val="043751"/>
              </a:gs>
              <a:gs pos="90000">
                <a:srgbClr val="117EC2"/>
              </a:gs>
            </a:gsLst>
            <a:lin ang="2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rief-text"/>
          <p:cNvSpPr txBox="1"/>
          <p:nvPr/>
        </p:nvSpPr>
        <p:spPr>
          <a:xfrm>
            <a:off x="939800" y="2889250"/>
            <a:ext cx="3064933" cy="952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8FC65A"/>
                </a:solidFill>
                <a:latin typeface="IBM Plex Mono Medium"/>
              </a:rPr>
              <a:t>Platzhalter</a:t>
            </a:r>
          </a:p>
          <a:p>
            <a:pPr algn="l">
              <a:spcBef>
                <a:spcPts val="400"/>
              </a:spcBef>
            </a:pPr>
            <a:r>
              <a:rPr sz="1300" b="0" i="0" lang="de-DE">
                <a:solidFill>
                  <a:srgbClr val="FFFFFF"/>
                </a:solidFill>
                <a:latin typeface="IBM Plex Mono"/>
              </a:rPr>
              <a:t>Foto: Luftbild ECO Park Röthlein</a:t>
            </a:r>
          </a:p>
        </p:txBody>
      </p:sp>
      <p:sp>
        <p:nvSpPr>
          <p:cNvPr id="6" name="step-tag-1"/>
          <p:cNvSpPr/>
          <p:nvPr/>
        </p:nvSpPr>
        <p:spPr>
          <a:xfrm>
            <a:off x="762000" y="2222500"/>
            <a:ext cx="406400" cy="2540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0" i="0" lang="de-DE">
                <a:solidFill>
                  <a:srgbClr val="FFFFFF"/>
                </a:solidFill>
                <a:latin typeface="IBM Plex Mono Medium"/>
              </a:rPr>
              <a:t>01</a:t>
            </a:r>
          </a:p>
        </p:txBody>
      </p:sp>
      <p:sp>
        <p:nvSpPr>
          <p:cNvPr id="7" name="step-title-1"/>
          <p:cNvSpPr txBox="1"/>
          <p:nvPr/>
        </p:nvSpPr>
        <p:spPr>
          <a:xfrm>
            <a:off x="762000" y="4146550"/>
            <a:ext cx="3420533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Luftbild Standort</a:t>
            </a:r>
          </a:p>
        </p:txBody>
      </p:sp>
      <p:sp>
        <p:nvSpPr>
          <p:cNvPr id="8" name="brief-card"/>
          <p:cNvSpPr/>
          <p:nvPr/>
        </p:nvSpPr>
        <p:spPr>
          <a:xfrm>
            <a:off x="4385733" y="2095500"/>
            <a:ext cx="3420533" cy="1924050"/>
          </a:xfrm>
          <a:prstGeom prst="rect">
            <a:avLst/>
          </a:prstGeom>
          <a:gradFill rotWithShape="1">
            <a:gsLst>
              <a:gs pos="0">
                <a:srgbClr val="043751"/>
              </a:gs>
              <a:gs pos="90000">
                <a:srgbClr val="117EC2"/>
              </a:gs>
            </a:gsLst>
            <a:lin ang="2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rief-text"/>
          <p:cNvSpPr txBox="1"/>
          <p:nvPr/>
        </p:nvSpPr>
        <p:spPr>
          <a:xfrm>
            <a:off x="4563533" y="2889250"/>
            <a:ext cx="3064933" cy="952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8FC65A"/>
                </a:solidFill>
                <a:latin typeface="IBM Plex Mono Medium"/>
              </a:rPr>
              <a:t>Platzhalter</a:t>
            </a:r>
          </a:p>
          <a:p>
            <a:pPr algn="l">
              <a:spcBef>
                <a:spcPts val="400"/>
              </a:spcBef>
            </a:pPr>
            <a:r>
              <a:rPr sz="1300" b="0" i="0" lang="de-DE">
                <a:solidFill>
                  <a:srgbClr val="FFFFFF"/>
                </a:solidFill>
                <a:latin typeface="IBM Plex Mono"/>
              </a:rPr>
              <a:t>Foto: Lager- und Produktionsfläche</a:t>
            </a:r>
          </a:p>
        </p:txBody>
      </p:sp>
      <p:sp>
        <p:nvSpPr>
          <p:cNvPr id="10" name="step-tag-2"/>
          <p:cNvSpPr/>
          <p:nvPr/>
        </p:nvSpPr>
        <p:spPr>
          <a:xfrm>
            <a:off x="4385733" y="2222500"/>
            <a:ext cx="406400" cy="2540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0" i="0" lang="de-DE">
                <a:solidFill>
                  <a:srgbClr val="FFFFFF"/>
                </a:solidFill>
                <a:latin typeface="IBM Plex Mono Medium"/>
              </a:rPr>
              <a:t>02</a:t>
            </a:r>
          </a:p>
        </p:txBody>
      </p:sp>
      <p:sp>
        <p:nvSpPr>
          <p:cNvPr id="11" name="step-title-2"/>
          <p:cNvSpPr txBox="1"/>
          <p:nvPr/>
        </p:nvSpPr>
        <p:spPr>
          <a:xfrm>
            <a:off x="4385733" y="4146550"/>
            <a:ext cx="3420533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Halle innen</a:t>
            </a:r>
          </a:p>
        </p:txBody>
      </p:sp>
      <p:sp>
        <p:nvSpPr>
          <p:cNvPr id="12" name="brief-card"/>
          <p:cNvSpPr/>
          <p:nvPr/>
        </p:nvSpPr>
        <p:spPr>
          <a:xfrm>
            <a:off x="8009467" y="2095500"/>
            <a:ext cx="3420533" cy="1924050"/>
          </a:xfrm>
          <a:prstGeom prst="rect">
            <a:avLst/>
          </a:prstGeom>
          <a:gradFill rotWithShape="1">
            <a:gsLst>
              <a:gs pos="0">
                <a:srgbClr val="043751"/>
              </a:gs>
              <a:gs pos="90000">
                <a:srgbClr val="117EC2"/>
              </a:gs>
            </a:gsLst>
            <a:lin ang="2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rief-text"/>
          <p:cNvSpPr txBox="1"/>
          <p:nvPr/>
        </p:nvSpPr>
        <p:spPr>
          <a:xfrm>
            <a:off x="8187267" y="2889250"/>
            <a:ext cx="3064933" cy="952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8FC65A"/>
                </a:solidFill>
                <a:latin typeface="IBM Plex Mono Medium"/>
              </a:rPr>
              <a:t>Platzhalter</a:t>
            </a:r>
          </a:p>
          <a:p>
            <a:pPr algn="l">
              <a:spcBef>
                <a:spcPts val="400"/>
              </a:spcBef>
            </a:pPr>
            <a:r>
              <a:rPr sz="1300" b="0" i="0" lang="de-DE">
                <a:solidFill>
                  <a:srgbClr val="FFFFFF"/>
                </a:solidFill>
                <a:latin typeface="IBM Plex Mono"/>
              </a:rPr>
              <a:t>Foto: Lkw-Waage und Anlieferung</a:t>
            </a:r>
          </a:p>
        </p:txBody>
      </p:sp>
      <p:sp>
        <p:nvSpPr>
          <p:cNvPr id="14" name="step-tag-3"/>
          <p:cNvSpPr/>
          <p:nvPr/>
        </p:nvSpPr>
        <p:spPr>
          <a:xfrm>
            <a:off x="8009467" y="2222500"/>
            <a:ext cx="406400" cy="2540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0" i="0" lang="de-DE">
                <a:solidFill>
                  <a:srgbClr val="FFFFFF"/>
                </a:solidFill>
                <a:latin typeface="IBM Plex Mono Medium"/>
              </a:rPr>
              <a:t>03</a:t>
            </a:r>
          </a:p>
        </p:txBody>
      </p:sp>
      <p:sp>
        <p:nvSpPr>
          <p:cNvPr id="15" name="step-title-3"/>
          <p:cNvSpPr txBox="1"/>
          <p:nvPr/>
        </p:nvSpPr>
        <p:spPr>
          <a:xfrm>
            <a:off x="8009467" y="4146550"/>
            <a:ext cx="3420533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Anlieferung</a:t>
            </a:r>
          </a:p>
        </p:txBody>
      </p:sp>
      <p:sp>
        <p:nvSpPr>
          <p:cNvPr id="16" name="steps-caption"/>
          <p:cNvSpPr txBox="1"/>
          <p:nvPr/>
        </p:nvSpPr>
        <p:spPr>
          <a:xfrm>
            <a:off x="762000" y="497205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Echte Standortfotos folgen – bis dahin Platzhalter mit Bildbriefing.</a:t>
            </a:r>
          </a:p>
        </p:txBody>
      </p:sp>
      <p:sp>
        <p:nvSpPr>
          <p:cNvPr id="17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8" name="nav-2-active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9" name="nav-underline"/>
          <p:cNvSpPr/>
          <p:nvPr/>
        </p:nvSpPr>
        <p:spPr>
          <a:xfrm>
            <a:off x="4367129" y="685800"/>
            <a:ext cx="1638804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1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2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13 · 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sich ändert – und was nicht</a:t>
            </a:r>
          </a:p>
        </p:txBody>
      </p:sp>
      <p:sp>
        <p:nvSpPr>
          <p:cNvPr id="4" name="compare-head-l"/>
          <p:cNvSpPr/>
          <p:nvPr/>
        </p:nvSpPr>
        <p:spPr>
          <a:xfrm>
            <a:off x="762000" y="2159000"/>
            <a:ext cx="5207000" cy="3810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177800" rIns="0" tIns="0" bIns="0">
            <a:noAutofit/>
          </a:bodyPr>
          <a:lstStyle/>
          <a:p>
            <a:pPr algn="l"/>
            <a:r>
              <a:rPr sz="1300" b="0" i="0" lang="de-DE" cap="all" spc="182">
                <a:solidFill>
                  <a:srgbClr val="FFFFFF"/>
                </a:solidFill>
                <a:latin typeface="IBM Plex Mono Medium"/>
              </a:rPr>
              <a:t>Was sich ändert</a:t>
            </a:r>
          </a:p>
        </p:txBody>
      </p:sp>
      <p:sp>
        <p:nvSpPr>
          <p:cNvPr id="5" name="icon-dash-l-1"/>
          <p:cNvSpPr/>
          <p:nvPr/>
        </p:nvSpPr>
        <p:spPr>
          <a:xfrm>
            <a:off x="787400" y="2876550"/>
            <a:ext cx="1397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ompare-item-l-1"/>
          <p:cNvSpPr txBox="1"/>
          <p:nvPr/>
        </p:nvSpPr>
        <p:spPr>
          <a:xfrm>
            <a:off x="1143000" y="2743200"/>
            <a:ext cx="482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de-DE">
                <a:solidFill>
                  <a:srgbClr val="043751"/>
                </a:solidFill>
                <a:latin typeface="IBM Plex Sans"/>
              </a:rPr>
              <a:t>Eine Firmierung: die ecowerth GmbH</a:t>
            </a:r>
          </a:p>
        </p:txBody>
      </p:sp>
      <p:sp>
        <p:nvSpPr>
          <p:cNvPr id="7" name="compare-line-l-1"/>
          <p:cNvSpPr/>
          <p:nvPr/>
        </p:nvSpPr>
        <p:spPr>
          <a:xfrm>
            <a:off x="762000" y="3409950"/>
            <a:ext cx="520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icon-dash-l-2"/>
          <p:cNvSpPr/>
          <p:nvPr/>
        </p:nvSpPr>
        <p:spPr>
          <a:xfrm>
            <a:off x="787400" y="3625850"/>
            <a:ext cx="1397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mpare-item-l-2"/>
          <p:cNvSpPr txBox="1"/>
          <p:nvPr/>
        </p:nvSpPr>
        <p:spPr>
          <a:xfrm>
            <a:off x="1143000" y="3492500"/>
            <a:ext cx="482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de-DE">
                <a:solidFill>
                  <a:srgbClr val="043751"/>
                </a:solidFill>
                <a:latin typeface="IBM Plex Sans"/>
              </a:rPr>
              <a:t>Drei klar geschnittene Marken</a:t>
            </a:r>
          </a:p>
        </p:txBody>
      </p:sp>
      <p:sp>
        <p:nvSpPr>
          <p:cNvPr id="10" name="compare-line-l-2"/>
          <p:cNvSpPr/>
          <p:nvPr/>
        </p:nvSpPr>
        <p:spPr>
          <a:xfrm>
            <a:off x="762000" y="4159250"/>
            <a:ext cx="520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-dash-l-3"/>
          <p:cNvSpPr/>
          <p:nvPr/>
        </p:nvSpPr>
        <p:spPr>
          <a:xfrm>
            <a:off x="787400" y="4375150"/>
            <a:ext cx="1397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mpare-item-l-3"/>
          <p:cNvSpPr txBox="1"/>
          <p:nvPr/>
        </p:nvSpPr>
        <p:spPr>
          <a:xfrm>
            <a:off x="1143000" y="4241800"/>
            <a:ext cx="482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de-DE">
                <a:solidFill>
                  <a:srgbClr val="043751"/>
                </a:solidFill>
                <a:latin typeface="IBM Plex Sans"/>
              </a:rPr>
              <a:t>Ein Vertragspartner für Beratung, Systembetrieb und Fläche</a:t>
            </a:r>
          </a:p>
        </p:txBody>
      </p:sp>
      <p:sp>
        <p:nvSpPr>
          <p:cNvPr id="13" name="compare-line-l-3"/>
          <p:cNvSpPr/>
          <p:nvPr/>
        </p:nvSpPr>
        <p:spPr>
          <a:xfrm>
            <a:off x="762000" y="4908550"/>
            <a:ext cx="520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mpare-head-r"/>
          <p:cNvSpPr/>
          <p:nvPr/>
        </p:nvSpPr>
        <p:spPr>
          <a:xfrm>
            <a:off x="6223000" y="2159000"/>
            <a:ext cx="5207000" cy="3810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177800" rIns="0" tIns="0" bIns="0">
            <a:noAutofit/>
          </a:bodyPr>
          <a:lstStyle/>
          <a:p>
            <a:pPr algn="l"/>
            <a:r>
              <a:rPr sz="1300" b="0" i="0" lang="de-DE" cap="all" spc="182">
                <a:solidFill>
                  <a:srgbClr val="FFFFFF"/>
                </a:solidFill>
                <a:latin typeface="IBM Plex Mono Medium"/>
              </a:rPr>
              <a:t>Was bleibt</a:t>
            </a:r>
          </a:p>
        </p:txBody>
      </p:sp>
      <p:sp>
        <p:nvSpPr>
          <p:cNvPr id="15" name="icon-dash-r-1"/>
          <p:cNvSpPr/>
          <p:nvPr/>
        </p:nvSpPr>
        <p:spPr>
          <a:xfrm>
            <a:off x="6248400" y="2876550"/>
            <a:ext cx="1397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ompare-item-r-1"/>
          <p:cNvSpPr txBox="1"/>
          <p:nvPr/>
        </p:nvSpPr>
        <p:spPr>
          <a:xfrm>
            <a:off x="6604000" y="2743200"/>
            <a:ext cx="482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de-DE">
                <a:solidFill>
                  <a:srgbClr val="043751"/>
                </a:solidFill>
                <a:latin typeface="IBM Plex Sans"/>
              </a:rPr>
              <a:t>Teams und Projektverantwortliche</a:t>
            </a:r>
          </a:p>
        </p:txBody>
      </p:sp>
      <p:sp>
        <p:nvSpPr>
          <p:cNvPr id="17" name="compare-line-r-1"/>
          <p:cNvSpPr/>
          <p:nvPr/>
        </p:nvSpPr>
        <p:spPr>
          <a:xfrm>
            <a:off x="6223000" y="3409950"/>
            <a:ext cx="520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con-dash-r-2"/>
          <p:cNvSpPr/>
          <p:nvPr/>
        </p:nvSpPr>
        <p:spPr>
          <a:xfrm>
            <a:off x="6248400" y="3625850"/>
            <a:ext cx="1397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mpare-item-r-2"/>
          <p:cNvSpPr txBox="1"/>
          <p:nvPr/>
        </p:nvSpPr>
        <p:spPr>
          <a:xfrm>
            <a:off x="6604000" y="3492500"/>
            <a:ext cx="482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de-DE">
                <a:solidFill>
                  <a:srgbClr val="043751"/>
                </a:solidFill>
                <a:latin typeface="IBM Plex Sans"/>
              </a:rPr>
              <a:t>Laufende Mandate, Systemverträge und Mietverhältnisse</a:t>
            </a:r>
          </a:p>
        </p:txBody>
      </p:sp>
      <p:sp>
        <p:nvSpPr>
          <p:cNvPr id="20" name="compare-line-r-2"/>
          <p:cNvSpPr/>
          <p:nvPr/>
        </p:nvSpPr>
        <p:spPr>
          <a:xfrm>
            <a:off x="6223000" y="4159250"/>
            <a:ext cx="520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-dash-r-3"/>
          <p:cNvSpPr/>
          <p:nvPr/>
        </p:nvSpPr>
        <p:spPr>
          <a:xfrm>
            <a:off x="6248400" y="4375150"/>
            <a:ext cx="139700" cy="127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ompare-item-r-3"/>
          <p:cNvSpPr txBox="1"/>
          <p:nvPr/>
        </p:nvSpPr>
        <p:spPr>
          <a:xfrm>
            <a:off x="6604000" y="4241800"/>
            <a:ext cx="482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 lang="de-DE">
                <a:solidFill>
                  <a:srgbClr val="043751"/>
                </a:solidFill>
                <a:latin typeface="IBM Plex Sans"/>
              </a:rPr>
              <a:t>Standorte Reichenberg, Röthlein und Singapur</a:t>
            </a:r>
          </a:p>
        </p:txBody>
      </p:sp>
      <p:sp>
        <p:nvSpPr>
          <p:cNvPr id="23" name="compare-line-r-3"/>
          <p:cNvSpPr/>
          <p:nvPr/>
        </p:nvSpPr>
        <p:spPr>
          <a:xfrm>
            <a:off x="6223000" y="4908550"/>
            <a:ext cx="520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av-1-active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Die Gruppe</a:t>
            </a:r>
          </a:p>
        </p:txBody>
      </p:sp>
      <p:sp>
        <p:nvSpPr>
          <p:cNvPr id="25" name="nav-underline"/>
          <p:cNvSpPr/>
          <p:nvPr/>
        </p:nvSpPr>
        <p:spPr>
          <a:xfrm>
            <a:off x="2862715" y="685800"/>
            <a:ext cx="1250414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7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8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9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31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14 ·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Welche Pflicht trifft welche Rolle?</a:t>
            </a:r>
          </a:p>
        </p:txBody>
      </p:sp>
      <p:sp>
        <p:nvSpPr>
          <p:cNvPr id="4" name="matrix-head"/>
          <p:cNvSpPr/>
          <p:nvPr/>
        </p:nvSpPr>
        <p:spPr>
          <a:xfrm>
            <a:off x="762000" y="2159000"/>
            <a:ext cx="10668000" cy="330200"/>
          </a:xfrm>
          <a:prstGeom prst="rect">
            <a:avLst/>
          </a:prstGeom>
          <a:solidFill>
            <a:srgbClr val="E7EC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matrix-frame"/>
          <p:cNvSpPr/>
          <p:nvPr/>
        </p:nvSpPr>
        <p:spPr>
          <a:xfrm>
            <a:off x="762000" y="2159000"/>
            <a:ext cx="10668000" cy="35306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trix-corner"/>
          <p:cNvSpPr txBox="1"/>
          <p:nvPr/>
        </p:nvSpPr>
        <p:spPr>
          <a:xfrm>
            <a:off x="914400" y="2159000"/>
            <a:ext cx="3747492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Akteur</a:t>
            </a:r>
          </a:p>
        </p:txBody>
      </p:sp>
      <p:sp>
        <p:nvSpPr>
          <p:cNvPr id="7" name="matrix-col-1"/>
          <p:cNvSpPr txBox="1"/>
          <p:nvPr/>
        </p:nvSpPr>
        <p:spPr>
          <a:xfrm>
            <a:off x="4661892" y="2159000"/>
            <a:ext cx="1128018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KrWG</a:t>
            </a:r>
          </a:p>
        </p:txBody>
      </p:sp>
      <p:sp>
        <p:nvSpPr>
          <p:cNvPr id="8" name="matrix-col-2"/>
          <p:cNvSpPr txBox="1"/>
          <p:nvPr/>
        </p:nvSpPr>
        <p:spPr>
          <a:xfrm>
            <a:off x="5789910" y="2159000"/>
            <a:ext cx="1128018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ElektroG</a:t>
            </a:r>
          </a:p>
        </p:txBody>
      </p:sp>
      <p:sp>
        <p:nvSpPr>
          <p:cNvPr id="9" name="matrix-col-3"/>
          <p:cNvSpPr txBox="1"/>
          <p:nvPr/>
        </p:nvSpPr>
        <p:spPr>
          <a:xfrm>
            <a:off x="6917928" y="2159000"/>
            <a:ext cx="1128018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BattG</a:t>
            </a:r>
          </a:p>
        </p:txBody>
      </p:sp>
      <p:sp>
        <p:nvSpPr>
          <p:cNvPr id="10" name="matrix-col-4"/>
          <p:cNvSpPr txBox="1"/>
          <p:nvPr/>
        </p:nvSpPr>
        <p:spPr>
          <a:xfrm>
            <a:off x="8045946" y="2159000"/>
            <a:ext cx="1128018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GewAbfV</a:t>
            </a:r>
          </a:p>
        </p:txBody>
      </p:sp>
      <p:sp>
        <p:nvSpPr>
          <p:cNvPr id="11" name="matrix-col-5"/>
          <p:cNvSpPr txBox="1"/>
          <p:nvPr/>
        </p:nvSpPr>
        <p:spPr>
          <a:xfrm>
            <a:off x="9173964" y="2159000"/>
            <a:ext cx="1128018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NachwV</a:t>
            </a:r>
          </a:p>
        </p:txBody>
      </p:sp>
      <p:sp>
        <p:nvSpPr>
          <p:cNvPr id="12" name="matrix-col-6"/>
          <p:cNvSpPr txBox="1"/>
          <p:nvPr/>
        </p:nvSpPr>
        <p:spPr>
          <a:xfrm>
            <a:off x="10301982" y="2159000"/>
            <a:ext cx="1128018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 lang="de-DE" cap="all" spc="110">
                <a:solidFill>
                  <a:srgbClr val="4A6079"/>
                </a:solidFill>
                <a:latin typeface="IBM Plex Mono Medium"/>
              </a:rPr>
              <a:t>AbfAEV</a:t>
            </a:r>
          </a:p>
        </p:txBody>
      </p:sp>
      <p:sp>
        <p:nvSpPr>
          <p:cNvPr id="13" name="matrix-row-1"/>
          <p:cNvSpPr txBox="1"/>
          <p:nvPr/>
        </p:nvSpPr>
        <p:spPr>
          <a:xfrm>
            <a:off x="914400" y="248920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Transporteur von Abfällen</a:t>
            </a:r>
          </a:p>
        </p:txBody>
      </p:sp>
      <p:grpSp>
        <p:nvGrpSpPr>
          <p:cNvPr id="14" name="matrix-yes-1-1"/>
          <p:cNvGrpSpPr/>
          <p:nvPr/>
        </p:nvGrpSpPr>
        <p:grpSpPr>
          <a:xfrm>
            <a:off x="5168116" y="2602992"/>
            <a:ext cx="117221" cy="92456"/>
            <a:chOff x="5168116" y="2602992"/>
            <a:chExt cx="117221" cy="92456"/>
          </a:xfrm>
        </p:grpSpPr>
        <p:cxnSp>
          <p:nvCxnSpPr>
            <p:cNvPr id="15" name="Connector 14"/>
            <p:cNvCxnSpPr/>
            <p:nvPr/>
          </p:nvCxnSpPr>
          <p:spPr>
            <a:xfrm>
              <a:off x="5168116" y="265252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5209391" y="260299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matrix-no-1-2"/>
          <p:cNvSpPr txBox="1"/>
          <p:nvPr/>
        </p:nvSpPr>
        <p:spPr>
          <a:xfrm>
            <a:off x="5789910" y="24892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8" name="matrix-no-1-3"/>
          <p:cNvSpPr txBox="1"/>
          <p:nvPr/>
        </p:nvSpPr>
        <p:spPr>
          <a:xfrm>
            <a:off x="6917928" y="24892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9" name="matrix-no-1-4"/>
          <p:cNvSpPr txBox="1"/>
          <p:nvPr/>
        </p:nvSpPr>
        <p:spPr>
          <a:xfrm>
            <a:off x="8045946" y="24892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grpSp>
        <p:nvGrpSpPr>
          <p:cNvPr id="20" name="matrix-yes-1-5"/>
          <p:cNvGrpSpPr/>
          <p:nvPr/>
        </p:nvGrpSpPr>
        <p:grpSpPr>
          <a:xfrm>
            <a:off x="9680188" y="2602992"/>
            <a:ext cx="117221" cy="92456"/>
            <a:chOff x="9680188" y="2602992"/>
            <a:chExt cx="117221" cy="92456"/>
          </a:xfrm>
        </p:grpSpPr>
        <p:cxnSp>
          <p:nvCxnSpPr>
            <p:cNvPr id="21" name="Connector 20"/>
            <p:cNvCxnSpPr/>
            <p:nvPr/>
          </p:nvCxnSpPr>
          <p:spPr>
            <a:xfrm>
              <a:off x="9680188" y="265252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V="1">
              <a:off x="9721463" y="260299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atrix-yes-1-6"/>
          <p:cNvGrpSpPr/>
          <p:nvPr/>
        </p:nvGrpSpPr>
        <p:grpSpPr>
          <a:xfrm>
            <a:off x="10808206" y="2602992"/>
            <a:ext cx="117221" cy="92456"/>
            <a:chOff x="10808206" y="2602992"/>
            <a:chExt cx="117221" cy="92456"/>
          </a:xfrm>
        </p:grpSpPr>
        <p:cxnSp>
          <p:nvCxnSpPr>
            <p:cNvPr id="24" name="Connector 23"/>
            <p:cNvCxnSpPr/>
            <p:nvPr/>
          </p:nvCxnSpPr>
          <p:spPr>
            <a:xfrm>
              <a:off x="10808206" y="265252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10849481" y="260299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matrix-line-2"/>
          <p:cNvSpPr/>
          <p:nvPr/>
        </p:nvSpPr>
        <p:spPr>
          <a:xfrm>
            <a:off x="762000" y="280289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matrix-row-2"/>
          <p:cNvSpPr txBox="1"/>
          <p:nvPr/>
        </p:nvSpPr>
        <p:spPr>
          <a:xfrm>
            <a:off x="914400" y="280924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Entsorgungsunternehmen / Entsorger</a:t>
            </a:r>
          </a:p>
        </p:txBody>
      </p:sp>
      <p:grpSp>
        <p:nvGrpSpPr>
          <p:cNvPr id="28" name="matrix-yes-2-1"/>
          <p:cNvGrpSpPr/>
          <p:nvPr/>
        </p:nvGrpSpPr>
        <p:grpSpPr>
          <a:xfrm>
            <a:off x="5168116" y="2923032"/>
            <a:ext cx="117221" cy="92456"/>
            <a:chOff x="5168116" y="2923032"/>
            <a:chExt cx="117221" cy="92456"/>
          </a:xfrm>
        </p:grpSpPr>
        <p:cxnSp>
          <p:nvCxnSpPr>
            <p:cNvPr id="29" name="Connector 28"/>
            <p:cNvCxnSpPr/>
            <p:nvPr/>
          </p:nvCxnSpPr>
          <p:spPr>
            <a:xfrm>
              <a:off x="5168116" y="29725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V="1">
              <a:off x="5209391" y="29230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matrix-yes-2-2"/>
          <p:cNvGrpSpPr/>
          <p:nvPr/>
        </p:nvGrpSpPr>
        <p:grpSpPr>
          <a:xfrm>
            <a:off x="6296134" y="2923032"/>
            <a:ext cx="117221" cy="92456"/>
            <a:chOff x="6296134" y="2923032"/>
            <a:chExt cx="117221" cy="92456"/>
          </a:xfrm>
        </p:grpSpPr>
        <p:cxnSp>
          <p:nvCxnSpPr>
            <p:cNvPr id="32" name="Connector 31"/>
            <p:cNvCxnSpPr/>
            <p:nvPr/>
          </p:nvCxnSpPr>
          <p:spPr>
            <a:xfrm>
              <a:off x="6296134" y="29725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V="1">
              <a:off x="6337409" y="29230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matrix-yes-2-3"/>
          <p:cNvGrpSpPr/>
          <p:nvPr/>
        </p:nvGrpSpPr>
        <p:grpSpPr>
          <a:xfrm>
            <a:off x="7424152" y="2923032"/>
            <a:ext cx="117221" cy="92456"/>
            <a:chOff x="7424152" y="2923032"/>
            <a:chExt cx="117221" cy="92456"/>
          </a:xfrm>
        </p:grpSpPr>
        <p:cxnSp>
          <p:nvCxnSpPr>
            <p:cNvPr id="35" name="Connector 34"/>
            <p:cNvCxnSpPr/>
            <p:nvPr/>
          </p:nvCxnSpPr>
          <p:spPr>
            <a:xfrm>
              <a:off x="7424152" y="29725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V="1">
              <a:off x="7465427" y="29230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matrix-yes-2-4"/>
          <p:cNvGrpSpPr/>
          <p:nvPr/>
        </p:nvGrpSpPr>
        <p:grpSpPr>
          <a:xfrm>
            <a:off x="8552170" y="2923032"/>
            <a:ext cx="117221" cy="92456"/>
            <a:chOff x="8552170" y="2923032"/>
            <a:chExt cx="117221" cy="92456"/>
          </a:xfrm>
        </p:grpSpPr>
        <p:cxnSp>
          <p:nvCxnSpPr>
            <p:cNvPr id="38" name="Connector 37"/>
            <p:cNvCxnSpPr/>
            <p:nvPr/>
          </p:nvCxnSpPr>
          <p:spPr>
            <a:xfrm>
              <a:off x="8552170" y="29725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 flipV="1">
              <a:off x="8593445" y="29230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matrix-yes-2-5"/>
          <p:cNvGrpSpPr/>
          <p:nvPr/>
        </p:nvGrpSpPr>
        <p:grpSpPr>
          <a:xfrm>
            <a:off x="9680188" y="2923032"/>
            <a:ext cx="117221" cy="92456"/>
            <a:chOff x="9680188" y="2923032"/>
            <a:chExt cx="117221" cy="92456"/>
          </a:xfrm>
        </p:grpSpPr>
        <p:cxnSp>
          <p:nvCxnSpPr>
            <p:cNvPr id="41" name="Connector 40"/>
            <p:cNvCxnSpPr/>
            <p:nvPr/>
          </p:nvCxnSpPr>
          <p:spPr>
            <a:xfrm>
              <a:off x="9680188" y="29725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V="1">
              <a:off x="9721463" y="29230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matrix-yes-2-6"/>
          <p:cNvGrpSpPr/>
          <p:nvPr/>
        </p:nvGrpSpPr>
        <p:grpSpPr>
          <a:xfrm>
            <a:off x="10808206" y="2923032"/>
            <a:ext cx="117221" cy="92456"/>
            <a:chOff x="10808206" y="2923032"/>
            <a:chExt cx="117221" cy="92456"/>
          </a:xfrm>
        </p:grpSpPr>
        <p:cxnSp>
          <p:nvCxnSpPr>
            <p:cNvPr id="44" name="Connector 43"/>
            <p:cNvCxnSpPr/>
            <p:nvPr/>
          </p:nvCxnSpPr>
          <p:spPr>
            <a:xfrm>
              <a:off x="10808206" y="29725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 flipV="1">
              <a:off x="10849481" y="29230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matrix-line-3"/>
          <p:cNvSpPr/>
          <p:nvPr/>
        </p:nvSpPr>
        <p:spPr>
          <a:xfrm>
            <a:off x="762000" y="312293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atrix-row-3"/>
          <p:cNvSpPr txBox="1"/>
          <p:nvPr/>
        </p:nvSpPr>
        <p:spPr>
          <a:xfrm>
            <a:off x="914400" y="312928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Hersteller von Elektrogeräten</a:t>
            </a:r>
          </a:p>
        </p:txBody>
      </p:sp>
      <p:grpSp>
        <p:nvGrpSpPr>
          <p:cNvPr id="48" name="matrix-yes-3-1"/>
          <p:cNvGrpSpPr/>
          <p:nvPr/>
        </p:nvGrpSpPr>
        <p:grpSpPr>
          <a:xfrm>
            <a:off x="5168116" y="3243072"/>
            <a:ext cx="117221" cy="92456"/>
            <a:chOff x="5168116" y="3243072"/>
            <a:chExt cx="117221" cy="92456"/>
          </a:xfrm>
        </p:grpSpPr>
        <p:cxnSp>
          <p:nvCxnSpPr>
            <p:cNvPr id="49" name="Connector 48"/>
            <p:cNvCxnSpPr/>
            <p:nvPr/>
          </p:nvCxnSpPr>
          <p:spPr>
            <a:xfrm>
              <a:off x="5168116" y="329260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V="1">
              <a:off x="5209391" y="324307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matrix-yes-3-2"/>
          <p:cNvGrpSpPr/>
          <p:nvPr/>
        </p:nvGrpSpPr>
        <p:grpSpPr>
          <a:xfrm>
            <a:off x="6296134" y="3243072"/>
            <a:ext cx="117221" cy="92456"/>
            <a:chOff x="6296134" y="3243072"/>
            <a:chExt cx="117221" cy="92456"/>
          </a:xfrm>
        </p:grpSpPr>
        <p:cxnSp>
          <p:nvCxnSpPr>
            <p:cNvPr id="52" name="Connector 51"/>
            <p:cNvCxnSpPr/>
            <p:nvPr/>
          </p:nvCxnSpPr>
          <p:spPr>
            <a:xfrm>
              <a:off x="6296134" y="329260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 flipV="1">
              <a:off x="6337409" y="324307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matrix-no-3-3"/>
          <p:cNvSpPr txBox="1"/>
          <p:nvPr/>
        </p:nvSpPr>
        <p:spPr>
          <a:xfrm>
            <a:off x="6917928" y="312928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55" name="matrix-no-3-4"/>
          <p:cNvSpPr txBox="1"/>
          <p:nvPr/>
        </p:nvSpPr>
        <p:spPr>
          <a:xfrm>
            <a:off x="8045946" y="312928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56" name="matrix-no-3-5"/>
          <p:cNvSpPr txBox="1"/>
          <p:nvPr/>
        </p:nvSpPr>
        <p:spPr>
          <a:xfrm>
            <a:off x="9173964" y="312928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57" name="matrix-no-3-6"/>
          <p:cNvSpPr txBox="1"/>
          <p:nvPr/>
        </p:nvSpPr>
        <p:spPr>
          <a:xfrm>
            <a:off x="10301982" y="312928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58" name="matrix-line-4"/>
          <p:cNvSpPr/>
          <p:nvPr/>
        </p:nvSpPr>
        <p:spPr>
          <a:xfrm>
            <a:off x="762000" y="344297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matrix-row-4"/>
          <p:cNvSpPr txBox="1"/>
          <p:nvPr/>
        </p:nvSpPr>
        <p:spPr>
          <a:xfrm>
            <a:off x="914400" y="344932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Vertreiber von Elektrogeräten</a:t>
            </a:r>
          </a:p>
        </p:txBody>
      </p:sp>
      <p:grpSp>
        <p:nvGrpSpPr>
          <p:cNvPr id="60" name="matrix-yes-4-1"/>
          <p:cNvGrpSpPr/>
          <p:nvPr/>
        </p:nvGrpSpPr>
        <p:grpSpPr>
          <a:xfrm>
            <a:off x="5168116" y="3563112"/>
            <a:ext cx="117221" cy="92456"/>
            <a:chOff x="5168116" y="3563112"/>
            <a:chExt cx="117221" cy="92456"/>
          </a:xfrm>
        </p:grpSpPr>
        <p:cxnSp>
          <p:nvCxnSpPr>
            <p:cNvPr id="61" name="Connector 60"/>
            <p:cNvCxnSpPr/>
            <p:nvPr/>
          </p:nvCxnSpPr>
          <p:spPr>
            <a:xfrm>
              <a:off x="5168116" y="361264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5209391" y="356311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matrix-yes-4-2"/>
          <p:cNvGrpSpPr/>
          <p:nvPr/>
        </p:nvGrpSpPr>
        <p:grpSpPr>
          <a:xfrm>
            <a:off x="6296134" y="3563112"/>
            <a:ext cx="117221" cy="92456"/>
            <a:chOff x="6296134" y="3563112"/>
            <a:chExt cx="117221" cy="92456"/>
          </a:xfrm>
        </p:grpSpPr>
        <p:cxnSp>
          <p:nvCxnSpPr>
            <p:cNvPr id="64" name="Connector 63"/>
            <p:cNvCxnSpPr/>
            <p:nvPr/>
          </p:nvCxnSpPr>
          <p:spPr>
            <a:xfrm>
              <a:off x="6296134" y="361264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 flipV="1">
              <a:off x="6337409" y="356311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matrix-no-4-3"/>
          <p:cNvSpPr txBox="1"/>
          <p:nvPr/>
        </p:nvSpPr>
        <p:spPr>
          <a:xfrm>
            <a:off x="6917928" y="34493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67" name="matrix-no-4-4"/>
          <p:cNvSpPr txBox="1"/>
          <p:nvPr/>
        </p:nvSpPr>
        <p:spPr>
          <a:xfrm>
            <a:off x="8045946" y="34493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68" name="matrix-no-4-5"/>
          <p:cNvSpPr txBox="1"/>
          <p:nvPr/>
        </p:nvSpPr>
        <p:spPr>
          <a:xfrm>
            <a:off x="9173964" y="34493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69" name="matrix-no-4-6"/>
          <p:cNvSpPr txBox="1"/>
          <p:nvPr/>
        </p:nvSpPr>
        <p:spPr>
          <a:xfrm>
            <a:off x="10301982" y="34493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70" name="matrix-line-5"/>
          <p:cNvSpPr/>
          <p:nvPr/>
        </p:nvSpPr>
        <p:spPr>
          <a:xfrm>
            <a:off x="762000" y="376301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matrix-row-5"/>
          <p:cNvSpPr txBox="1"/>
          <p:nvPr/>
        </p:nvSpPr>
        <p:spPr>
          <a:xfrm>
            <a:off x="914400" y="376936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Batteriehersteller / -importeure</a:t>
            </a:r>
          </a:p>
        </p:txBody>
      </p:sp>
      <p:grpSp>
        <p:nvGrpSpPr>
          <p:cNvPr id="72" name="matrix-yes-5-1"/>
          <p:cNvGrpSpPr/>
          <p:nvPr/>
        </p:nvGrpSpPr>
        <p:grpSpPr>
          <a:xfrm>
            <a:off x="5168116" y="3883152"/>
            <a:ext cx="117221" cy="92456"/>
            <a:chOff x="5168116" y="3883152"/>
            <a:chExt cx="117221" cy="92456"/>
          </a:xfrm>
        </p:grpSpPr>
        <p:cxnSp>
          <p:nvCxnSpPr>
            <p:cNvPr id="73" name="Connector 72"/>
            <p:cNvCxnSpPr/>
            <p:nvPr/>
          </p:nvCxnSpPr>
          <p:spPr>
            <a:xfrm>
              <a:off x="5168116" y="393268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V="1">
              <a:off x="5209391" y="388315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matrix-no-5-2"/>
          <p:cNvSpPr txBox="1"/>
          <p:nvPr/>
        </p:nvSpPr>
        <p:spPr>
          <a:xfrm>
            <a:off x="5789910" y="37693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grpSp>
        <p:nvGrpSpPr>
          <p:cNvPr id="76" name="matrix-yes-5-3"/>
          <p:cNvGrpSpPr/>
          <p:nvPr/>
        </p:nvGrpSpPr>
        <p:grpSpPr>
          <a:xfrm>
            <a:off x="7424152" y="3883152"/>
            <a:ext cx="117221" cy="92456"/>
            <a:chOff x="7424152" y="3883152"/>
            <a:chExt cx="117221" cy="92456"/>
          </a:xfrm>
        </p:grpSpPr>
        <p:cxnSp>
          <p:nvCxnSpPr>
            <p:cNvPr id="77" name="Connector 76"/>
            <p:cNvCxnSpPr/>
            <p:nvPr/>
          </p:nvCxnSpPr>
          <p:spPr>
            <a:xfrm>
              <a:off x="7424152" y="393268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V="1">
              <a:off x="7465427" y="388315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matrix-no-5-4"/>
          <p:cNvSpPr txBox="1"/>
          <p:nvPr/>
        </p:nvSpPr>
        <p:spPr>
          <a:xfrm>
            <a:off x="8045946" y="37693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80" name="matrix-no-5-5"/>
          <p:cNvSpPr txBox="1"/>
          <p:nvPr/>
        </p:nvSpPr>
        <p:spPr>
          <a:xfrm>
            <a:off x="9173964" y="37693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81" name="matrix-no-5-6"/>
          <p:cNvSpPr txBox="1"/>
          <p:nvPr/>
        </p:nvSpPr>
        <p:spPr>
          <a:xfrm>
            <a:off x="10301982" y="37693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82" name="matrix-line-6"/>
          <p:cNvSpPr/>
          <p:nvPr/>
        </p:nvSpPr>
        <p:spPr>
          <a:xfrm>
            <a:off x="762000" y="40830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matrix-row-6"/>
          <p:cNvSpPr txBox="1"/>
          <p:nvPr/>
        </p:nvSpPr>
        <p:spPr>
          <a:xfrm>
            <a:off x="914400" y="408940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Vertreiber von Batterien</a:t>
            </a:r>
          </a:p>
        </p:txBody>
      </p:sp>
      <p:grpSp>
        <p:nvGrpSpPr>
          <p:cNvPr id="84" name="matrix-yes-6-1"/>
          <p:cNvGrpSpPr/>
          <p:nvPr/>
        </p:nvGrpSpPr>
        <p:grpSpPr>
          <a:xfrm>
            <a:off x="5168116" y="4203192"/>
            <a:ext cx="117221" cy="92456"/>
            <a:chOff x="5168116" y="4203192"/>
            <a:chExt cx="117221" cy="92456"/>
          </a:xfrm>
        </p:grpSpPr>
        <p:cxnSp>
          <p:nvCxnSpPr>
            <p:cNvPr id="85" name="Connector 84"/>
            <p:cNvCxnSpPr/>
            <p:nvPr/>
          </p:nvCxnSpPr>
          <p:spPr>
            <a:xfrm>
              <a:off x="5168116" y="425272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V="1">
              <a:off x="5209391" y="420319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matrix-no-6-2"/>
          <p:cNvSpPr txBox="1"/>
          <p:nvPr/>
        </p:nvSpPr>
        <p:spPr>
          <a:xfrm>
            <a:off x="5789910" y="40894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grpSp>
        <p:nvGrpSpPr>
          <p:cNvPr id="88" name="matrix-yes-6-3"/>
          <p:cNvGrpSpPr/>
          <p:nvPr/>
        </p:nvGrpSpPr>
        <p:grpSpPr>
          <a:xfrm>
            <a:off x="7424152" y="4203192"/>
            <a:ext cx="117221" cy="92456"/>
            <a:chOff x="7424152" y="4203192"/>
            <a:chExt cx="117221" cy="92456"/>
          </a:xfrm>
        </p:grpSpPr>
        <p:cxnSp>
          <p:nvCxnSpPr>
            <p:cNvPr id="89" name="Connector 88"/>
            <p:cNvCxnSpPr/>
            <p:nvPr/>
          </p:nvCxnSpPr>
          <p:spPr>
            <a:xfrm>
              <a:off x="7424152" y="425272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 flipV="1">
              <a:off x="7465427" y="420319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matrix-no-6-4"/>
          <p:cNvSpPr txBox="1"/>
          <p:nvPr/>
        </p:nvSpPr>
        <p:spPr>
          <a:xfrm>
            <a:off x="8045946" y="40894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92" name="matrix-no-6-5"/>
          <p:cNvSpPr txBox="1"/>
          <p:nvPr/>
        </p:nvSpPr>
        <p:spPr>
          <a:xfrm>
            <a:off x="9173964" y="40894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93" name="matrix-no-6-6"/>
          <p:cNvSpPr txBox="1"/>
          <p:nvPr/>
        </p:nvSpPr>
        <p:spPr>
          <a:xfrm>
            <a:off x="10301982" y="408940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94" name="matrix-line-7"/>
          <p:cNvSpPr/>
          <p:nvPr/>
        </p:nvSpPr>
        <p:spPr>
          <a:xfrm>
            <a:off x="762000" y="440309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matrix-row-7"/>
          <p:cNvSpPr txBox="1"/>
          <p:nvPr/>
        </p:nvSpPr>
        <p:spPr>
          <a:xfrm>
            <a:off x="914400" y="440944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Rücknahmesysteme</a:t>
            </a:r>
          </a:p>
        </p:txBody>
      </p:sp>
      <p:grpSp>
        <p:nvGrpSpPr>
          <p:cNvPr id="96" name="matrix-yes-7-1"/>
          <p:cNvGrpSpPr/>
          <p:nvPr/>
        </p:nvGrpSpPr>
        <p:grpSpPr>
          <a:xfrm>
            <a:off x="5168116" y="4523232"/>
            <a:ext cx="117221" cy="92456"/>
            <a:chOff x="5168116" y="4523232"/>
            <a:chExt cx="117221" cy="92456"/>
          </a:xfrm>
        </p:grpSpPr>
        <p:cxnSp>
          <p:nvCxnSpPr>
            <p:cNvPr id="97" name="Connector 96"/>
            <p:cNvCxnSpPr/>
            <p:nvPr/>
          </p:nvCxnSpPr>
          <p:spPr>
            <a:xfrm>
              <a:off x="5168116" y="45727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 flipV="1">
              <a:off x="5209391" y="45232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matrix-yes-7-2"/>
          <p:cNvGrpSpPr/>
          <p:nvPr/>
        </p:nvGrpSpPr>
        <p:grpSpPr>
          <a:xfrm>
            <a:off x="6296134" y="4523232"/>
            <a:ext cx="117221" cy="92456"/>
            <a:chOff x="6296134" y="4523232"/>
            <a:chExt cx="117221" cy="92456"/>
          </a:xfrm>
        </p:grpSpPr>
        <p:cxnSp>
          <p:nvCxnSpPr>
            <p:cNvPr id="100" name="Connector 99"/>
            <p:cNvCxnSpPr/>
            <p:nvPr/>
          </p:nvCxnSpPr>
          <p:spPr>
            <a:xfrm>
              <a:off x="6296134" y="45727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V="1">
              <a:off x="6337409" y="45232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matrix-yes-7-3"/>
          <p:cNvGrpSpPr/>
          <p:nvPr/>
        </p:nvGrpSpPr>
        <p:grpSpPr>
          <a:xfrm>
            <a:off x="7424152" y="4523232"/>
            <a:ext cx="117221" cy="92456"/>
            <a:chOff x="7424152" y="4523232"/>
            <a:chExt cx="117221" cy="92456"/>
          </a:xfrm>
        </p:grpSpPr>
        <p:cxnSp>
          <p:nvCxnSpPr>
            <p:cNvPr id="103" name="Connector 102"/>
            <p:cNvCxnSpPr/>
            <p:nvPr/>
          </p:nvCxnSpPr>
          <p:spPr>
            <a:xfrm>
              <a:off x="7424152" y="457276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V="1">
              <a:off x="7465427" y="452323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matrix-no-7-4"/>
          <p:cNvSpPr txBox="1"/>
          <p:nvPr/>
        </p:nvSpPr>
        <p:spPr>
          <a:xfrm>
            <a:off x="8045946" y="440944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06" name="matrix-no-7-5"/>
          <p:cNvSpPr txBox="1"/>
          <p:nvPr/>
        </p:nvSpPr>
        <p:spPr>
          <a:xfrm>
            <a:off x="9173964" y="440944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07" name="matrix-no-7-6"/>
          <p:cNvSpPr txBox="1"/>
          <p:nvPr/>
        </p:nvSpPr>
        <p:spPr>
          <a:xfrm>
            <a:off x="10301982" y="440944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08" name="matrix-line-8"/>
          <p:cNvSpPr/>
          <p:nvPr/>
        </p:nvSpPr>
        <p:spPr>
          <a:xfrm>
            <a:off x="762000" y="472313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atrix-row-8"/>
          <p:cNvSpPr txBox="1"/>
          <p:nvPr/>
        </p:nvSpPr>
        <p:spPr>
          <a:xfrm>
            <a:off x="914400" y="472948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Gewerbliche Abfallerzeuger</a:t>
            </a:r>
          </a:p>
        </p:txBody>
      </p:sp>
      <p:grpSp>
        <p:nvGrpSpPr>
          <p:cNvPr id="110" name="matrix-yes-8-1"/>
          <p:cNvGrpSpPr/>
          <p:nvPr/>
        </p:nvGrpSpPr>
        <p:grpSpPr>
          <a:xfrm>
            <a:off x="5168116" y="4843272"/>
            <a:ext cx="117221" cy="92456"/>
            <a:chOff x="5168116" y="4843272"/>
            <a:chExt cx="117221" cy="92456"/>
          </a:xfrm>
        </p:grpSpPr>
        <p:cxnSp>
          <p:nvCxnSpPr>
            <p:cNvPr id="111" name="Connector 110"/>
            <p:cNvCxnSpPr/>
            <p:nvPr/>
          </p:nvCxnSpPr>
          <p:spPr>
            <a:xfrm>
              <a:off x="5168116" y="489280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or 111"/>
            <p:cNvCxnSpPr/>
            <p:nvPr/>
          </p:nvCxnSpPr>
          <p:spPr>
            <a:xfrm flipV="1">
              <a:off x="5209391" y="484327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matrix-no-8-2"/>
          <p:cNvSpPr txBox="1"/>
          <p:nvPr/>
        </p:nvSpPr>
        <p:spPr>
          <a:xfrm>
            <a:off x="5789910" y="472948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14" name="matrix-no-8-3"/>
          <p:cNvSpPr txBox="1"/>
          <p:nvPr/>
        </p:nvSpPr>
        <p:spPr>
          <a:xfrm>
            <a:off x="6917928" y="472948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grpSp>
        <p:nvGrpSpPr>
          <p:cNvPr id="115" name="matrix-yes-8-4"/>
          <p:cNvGrpSpPr/>
          <p:nvPr/>
        </p:nvGrpSpPr>
        <p:grpSpPr>
          <a:xfrm>
            <a:off x="8552170" y="4843272"/>
            <a:ext cx="117221" cy="92456"/>
            <a:chOff x="8552170" y="4843272"/>
            <a:chExt cx="117221" cy="92456"/>
          </a:xfrm>
        </p:grpSpPr>
        <p:cxnSp>
          <p:nvCxnSpPr>
            <p:cNvPr id="116" name="Connector 115"/>
            <p:cNvCxnSpPr/>
            <p:nvPr/>
          </p:nvCxnSpPr>
          <p:spPr>
            <a:xfrm>
              <a:off x="8552170" y="489280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6"/>
            <p:cNvCxnSpPr/>
            <p:nvPr/>
          </p:nvCxnSpPr>
          <p:spPr>
            <a:xfrm flipV="1">
              <a:off x="8593445" y="484327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matrix-yes-8-5"/>
          <p:cNvGrpSpPr/>
          <p:nvPr/>
        </p:nvGrpSpPr>
        <p:grpSpPr>
          <a:xfrm>
            <a:off x="9680188" y="4843272"/>
            <a:ext cx="117221" cy="92456"/>
            <a:chOff x="9680188" y="4843272"/>
            <a:chExt cx="117221" cy="92456"/>
          </a:xfrm>
        </p:grpSpPr>
        <p:cxnSp>
          <p:nvCxnSpPr>
            <p:cNvPr id="119" name="Connector 118"/>
            <p:cNvCxnSpPr/>
            <p:nvPr/>
          </p:nvCxnSpPr>
          <p:spPr>
            <a:xfrm>
              <a:off x="9680188" y="489280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 119"/>
            <p:cNvCxnSpPr/>
            <p:nvPr/>
          </p:nvCxnSpPr>
          <p:spPr>
            <a:xfrm flipV="1">
              <a:off x="9721463" y="484327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matrix-yes-8-6"/>
          <p:cNvGrpSpPr/>
          <p:nvPr/>
        </p:nvGrpSpPr>
        <p:grpSpPr>
          <a:xfrm>
            <a:off x="10808206" y="4843272"/>
            <a:ext cx="117221" cy="92456"/>
            <a:chOff x="10808206" y="4843272"/>
            <a:chExt cx="117221" cy="92456"/>
          </a:xfrm>
        </p:grpSpPr>
        <p:cxnSp>
          <p:nvCxnSpPr>
            <p:cNvPr id="122" name="Connector 121"/>
            <p:cNvCxnSpPr/>
            <p:nvPr/>
          </p:nvCxnSpPr>
          <p:spPr>
            <a:xfrm>
              <a:off x="10808206" y="489280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 flipV="1">
              <a:off x="10849481" y="484327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matrix-line-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atrix-row-9"/>
          <p:cNvSpPr txBox="1"/>
          <p:nvPr/>
        </p:nvSpPr>
        <p:spPr>
          <a:xfrm>
            <a:off x="914400" y="504952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Händler / Makler von Abfällen</a:t>
            </a:r>
          </a:p>
        </p:txBody>
      </p:sp>
      <p:grpSp>
        <p:nvGrpSpPr>
          <p:cNvPr id="126" name="matrix-yes-9-1"/>
          <p:cNvGrpSpPr/>
          <p:nvPr/>
        </p:nvGrpSpPr>
        <p:grpSpPr>
          <a:xfrm>
            <a:off x="5168116" y="5163312"/>
            <a:ext cx="117221" cy="92456"/>
            <a:chOff x="5168116" y="5163312"/>
            <a:chExt cx="117221" cy="92456"/>
          </a:xfrm>
        </p:grpSpPr>
        <p:cxnSp>
          <p:nvCxnSpPr>
            <p:cNvPr id="127" name="Connector 126"/>
            <p:cNvCxnSpPr/>
            <p:nvPr/>
          </p:nvCxnSpPr>
          <p:spPr>
            <a:xfrm>
              <a:off x="5168116" y="521284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V="1">
              <a:off x="5209391" y="516331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matrix-no-9-2"/>
          <p:cNvSpPr txBox="1"/>
          <p:nvPr/>
        </p:nvSpPr>
        <p:spPr>
          <a:xfrm>
            <a:off x="5789910" y="50495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30" name="matrix-no-9-3"/>
          <p:cNvSpPr txBox="1"/>
          <p:nvPr/>
        </p:nvSpPr>
        <p:spPr>
          <a:xfrm>
            <a:off x="6917928" y="50495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31" name="matrix-no-9-4"/>
          <p:cNvSpPr txBox="1"/>
          <p:nvPr/>
        </p:nvSpPr>
        <p:spPr>
          <a:xfrm>
            <a:off x="8045946" y="504952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grpSp>
        <p:nvGrpSpPr>
          <p:cNvPr id="132" name="matrix-yes-9-5"/>
          <p:cNvGrpSpPr/>
          <p:nvPr/>
        </p:nvGrpSpPr>
        <p:grpSpPr>
          <a:xfrm>
            <a:off x="9680188" y="5163312"/>
            <a:ext cx="117221" cy="92456"/>
            <a:chOff x="9680188" y="5163312"/>
            <a:chExt cx="117221" cy="92456"/>
          </a:xfrm>
        </p:grpSpPr>
        <p:cxnSp>
          <p:nvCxnSpPr>
            <p:cNvPr id="133" name="Connector 132"/>
            <p:cNvCxnSpPr/>
            <p:nvPr/>
          </p:nvCxnSpPr>
          <p:spPr>
            <a:xfrm>
              <a:off x="9680188" y="521284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33"/>
            <p:cNvCxnSpPr/>
            <p:nvPr/>
          </p:nvCxnSpPr>
          <p:spPr>
            <a:xfrm flipV="1">
              <a:off x="9721463" y="516331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matrix-yes-9-6"/>
          <p:cNvGrpSpPr/>
          <p:nvPr/>
        </p:nvGrpSpPr>
        <p:grpSpPr>
          <a:xfrm>
            <a:off x="10808206" y="5163312"/>
            <a:ext cx="117221" cy="92456"/>
            <a:chOff x="10808206" y="5163312"/>
            <a:chExt cx="117221" cy="92456"/>
          </a:xfrm>
        </p:grpSpPr>
        <p:cxnSp>
          <p:nvCxnSpPr>
            <p:cNvPr id="136" name="Connector 135"/>
            <p:cNvCxnSpPr/>
            <p:nvPr/>
          </p:nvCxnSpPr>
          <p:spPr>
            <a:xfrm>
              <a:off x="10808206" y="521284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10849481" y="516331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matrix-line-10"/>
          <p:cNvSpPr/>
          <p:nvPr/>
        </p:nvSpPr>
        <p:spPr>
          <a:xfrm>
            <a:off x="762000" y="536321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atrix-row-10"/>
          <p:cNvSpPr txBox="1"/>
          <p:nvPr/>
        </p:nvSpPr>
        <p:spPr>
          <a:xfrm>
            <a:off x="914400" y="5369560"/>
            <a:ext cx="369669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 lang="de-DE">
                <a:solidFill>
                  <a:srgbClr val="043751"/>
                </a:solidFill>
                <a:latin typeface="IBM Plex Sans Medium"/>
              </a:rPr>
              <a:t>Importeure</a:t>
            </a:r>
          </a:p>
        </p:txBody>
      </p:sp>
      <p:grpSp>
        <p:nvGrpSpPr>
          <p:cNvPr id="140" name="matrix-yes-10-1"/>
          <p:cNvGrpSpPr/>
          <p:nvPr/>
        </p:nvGrpSpPr>
        <p:grpSpPr>
          <a:xfrm>
            <a:off x="5168116" y="5483352"/>
            <a:ext cx="117221" cy="92456"/>
            <a:chOff x="5168116" y="5483352"/>
            <a:chExt cx="117221" cy="92456"/>
          </a:xfrm>
        </p:grpSpPr>
        <p:cxnSp>
          <p:nvCxnSpPr>
            <p:cNvPr id="141" name="Connector 140"/>
            <p:cNvCxnSpPr/>
            <p:nvPr/>
          </p:nvCxnSpPr>
          <p:spPr>
            <a:xfrm>
              <a:off x="5168116" y="553288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41"/>
            <p:cNvCxnSpPr/>
            <p:nvPr/>
          </p:nvCxnSpPr>
          <p:spPr>
            <a:xfrm flipV="1">
              <a:off x="5209391" y="548335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matrix-yes-10-2"/>
          <p:cNvGrpSpPr/>
          <p:nvPr/>
        </p:nvGrpSpPr>
        <p:grpSpPr>
          <a:xfrm>
            <a:off x="6296134" y="5483352"/>
            <a:ext cx="117221" cy="92456"/>
            <a:chOff x="6296134" y="5483352"/>
            <a:chExt cx="117221" cy="92456"/>
          </a:xfrm>
        </p:grpSpPr>
        <p:cxnSp>
          <p:nvCxnSpPr>
            <p:cNvPr id="144" name="Connector 143"/>
            <p:cNvCxnSpPr/>
            <p:nvPr/>
          </p:nvCxnSpPr>
          <p:spPr>
            <a:xfrm>
              <a:off x="6296134" y="553288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6337409" y="548335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matrix-yes-10-3"/>
          <p:cNvGrpSpPr/>
          <p:nvPr/>
        </p:nvGrpSpPr>
        <p:grpSpPr>
          <a:xfrm>
            <a:off x="7424152" y="5483352"/>
            <a:ext cx="117221" cy="92456"/>
            <a:chOff x="7424152" y="5483352"/>
            <a:chExt cx="117221" cy="92456"/>
          </a:xfrm>
        </p:grpSpPr>
        <p:cxnSp>
          <p:nvCxnSpPr>
            <p:cNvPr id="147" name="Connector 146"/>
            <p:cNvCxnSpPr/>
            <p:nvPr/>
          </p:nvCxnSpPr>
          <p:spPr>
            <a:xfrm>
              <a:off x="7424152" y="5532882"/>
              <a:ext cx="41275" cy="4292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7465427" y="5483352"/>
              <a:ext cx="75946" cy="92456"/>
            </a:xfrm>
            <a:prstGeom prst="line">
              <a:avLst/>
            </a:prstGeom>
            <a:ln w="19812">
              <a:solidFill>
                <a:srgbClr val="4F7A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matrix-no-10-4"/>
          <p:cNvSpPr txBox="1"/>
          <p:nvPr/>
        </p:nvSpPr>
        <p:spPr>
          <a:xfrm>
            <a:off x="8045946" y="53695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50" name="matrix-no-10-5"/>
          <p:cNvSpPr txBox="1"/>
          <p:nvPr/>
        </p:nvSpPr>
        <p:spPr>
          <a:xfrm>
            <a:off x="9173964" y="53695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51" name="matrix-no-10-6"/>
          <p:cNvSpPr txBox="1"/>
          <p:nvPr/>
        </p:nvSpPr>
        <p:spPr>
          <a:xfrm>
            <a:off x="10301982" y="5369560"/>
            <a:ext cx="112801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0" lang="de-DE">
                <a:solidFill>
                  <a:srgbClr val="A3B6C9"/>
                </a:solidFill>
                <a:latin typeface="IBM Plex Sans"/>
              </a:rPr>
              <a:t>–</a:t>
            </a:r>
          </a:p>
        </p:txBody>
      </p:sp>
      <p:sp>
        <p:nvSpPr>
          <p:cNvPr id="152" name="matrix-note"/>
          <p:cNvSpPr txBox="1"/>
          <p:nvPr/>
        </p:nvSpPr>
        <p:spPr>
          <a:xfrm>
            <a:off x="762000" y="5765800"/>
            <a:ext cx="10668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Sans"/>
              </a:rPr>
              <a:t>Quelle: interne Zielgruppen-/Pflichtenmatrix ECO, Stand 2025. ElektroG und BattG gelten für Importeure, soweit Elektrogeräte bzw. Batterien betroffen sind.</a:t>
            </a:r>
          </a:p>
        </p:txBody>
      </p:sp>
      <p:sp>
        <p:nvSpPr>
          <p:cNvPr id="153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54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55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56" name="nav-4-active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57" name="nav-underline"/>
          <p:cNvSpPr/>
          <p:nvPr/>
        </p:nvSpPr>
        <p:spPr>
          <a:xfrm>
            <a:off x="7808004" y="685800"/>
            <a:ext cx="1590072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59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60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15 · scale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Für wen wir 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6"/>
          </p:nvPr>
        </p:nvSpPr>
        <p:spPr>
          <a:xfrm>
            <a:off x="762000" y="4127500"/>
            <a:ext cx="9906000" cy="15875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sz="1600" b="0" i="0" lang="de-DE">
                <a:solidFill>
                  <a:srgbClr val="4F7A1E"/>
                </a:solidFill>
                <a:latin typeface="IBM Plex Mono Medium"/>
              </a:rPr>
              <a:t>01</a:t>
            </a:r>
            <a:r>
              <a:t>	Einstieg über die Pflichtenmatrix</a:t>
            </a:r>
          </a:p>
          <a:p>
            <a:pPr lvl="1"/>
            <a:r>
              <a:t>Im Erstgespräch ordnen wir zu, welche Regelwerke für Ihre Rolle gelten.</a:t>
            </a:r>
          </a:p>
        </p:txBody>
      </p:sp>
      <p:sp>
        <p:nvSpPr>
          <p:cNvPr id="5" name="tag-1"/>
          <p:cNvSpPr/>
          <p:nvPr/>
        </p:nvSpPr>
        <p:spPr>
          <a:xfrm>
            <a:off x="762000" y="2159000"/>
            <a:ext cx="1292027" cy="342900"/>
          </a:xfrm>
          <a:prstGeom prst="roundRect">
            <a:avLst>
              <a:gd name="adj" fmla="val 50000"/>
            </a:avLst>
          </a:prstGeom>
          <a:solidFill>
            <a:srgbClr val="EDF4E3"/>
          </a:solidFill>
          <a:ln w="12700">
            <a:solidFill>
              <a:srgbClr val="6EA52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4F7A1E"/>
                </a:solidFill>
                <a:latin typeface="IBM Plex Sans"/>
              </a:rPr>
              <a:t>Hersteller</a:t>
            </a:r>
          </a:p>
        </p:txBody>
      </p:sp>
      <p:sp>
        <p:nvSpPr>
          <p:cNvPr id="6" name="tag-2"/>
          <p:cNvSpPr/>
          <p:nvPr/>
        </p:nvSpPr>
        <p:spPr>
          <a:xfrm>
            <a:off x="2142927" y="2159000"/>
            <a:ext cx="1444228" cy="342900"/>
          </a:xfrm>
          <a:prstGeom prst="roundRect">
            <a:avLst>
              <a:gd name="adj" fmla="val 50000"/>
            </a:avLst>
          </a:prstGeom>
          <a:solidFill>
            <a:srgbClr val="EDF4E3"/>
          </a:solidFill>
          <a:ln w="12700">
            <a:solidFill>
              <a:srgbClr val="6EA52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4F7A1E"/>
                </a:solidFill>
                <a:latin typeface="IBM Plex Sans"/>
              </a:rPr>
              <a:t>Importeure</a:t>
            </a:r>
          </a:p>
        </p:txBody>
      </p:sp>
      <p:sp>
        <p:nvSpPr>
          <p:cNvPr id="7" name="tag-3"/>
          <p:cNvSpPr/>
          <p:nvPr/>
        </p:nvSpPr>
        <p:spPr>
          <a:xfrm>
            <a:off x="3676055" y="2159000"/>
            <a:ext cx="196492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(Online-)Händler</a:t>
            </a:r>
          </a:p>
        </p:txBody>
      </p:sp>
      <p:sp>
        <p:nvSpPr>
          <p:cNvPr id="8" name="tag-4"/>
          <p:cNvSpPr/>
          <p:nvPr/>
        </p:nvSpPr>
        <p:spPr>
          <a:xfrm>
            <a:off x="5729883" y="2159000"/>
            <a:ext cx="1303536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Vertreiber</a:t>
            </a:r>
          </a:p>
        </p:txBody>
      </p:sp>
      <p:sp>
        <p:nvSpPr>
          <p:cNvPr id="9" name="tag-5"/>
          <p:cNvSpPr/>
          <p:nvPr/>
        </p:nvSpPr>
        <p:spPr>
          <a:xfrm>
            <a:off x="7122319" y="2159000"/>
            <a:ext cx="388362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Betreiber elektronischer Marktplätze</a:t>
            </a:r>
          </a:p>
        </p:txBody>
      </p:sp>
      <p:sp>
        <p:nvSpPr>
          <p:cNvPr id="10" name="tag-6"/>
          <p:cNvSpPr/>
          <p:nvPr/>
        </p:nvSpPr>
        <p:spPr>
          <a:xfrm>
            <a:off x="762000" y="2590800"/>
            <a:ext cx="2680196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Fulfillment-Dienstleister</a:t>
            </a:r>
          </a:p>
        </p:txBody>
      </p:sp>
      <p:sp>
        <p:nvSpPr>
          <p:cNvPr id="11" name="tag-7"/>
          <p:cNvSpPr/>
          <p:nvPr/>
        </p:nvSpPr>
        <p:spPr>
          <a:xfrm>
            <a:off x="3531096" y="2590800"/>
            <a:ext cx="1704677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Transporteure</a:t>
            </a:r>
          </a:p>
        </p:txBody>
      </p:sp>
      <p:sp>
        <p:nvSpPr>
          <p:cNvPr id="12" name="tag-8"/>
          <p:cNvSpPr/>
          <p:nvPr/>
        </p:nvSpPr>
        <p:spPr>
          <a:xfrm>
            <a:off x="5324673" y="2590800"/>
            <a:ext cx="3491309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Händler und Makler von Abfällen</a:t>
            </a:r>
          </a:p>
        </p:txBody>
      </p:sp>
      <p:sp>
        <p:nvSpPr>
          <p:cNvPr id="13" name="tag-9"/>
          <p:cNvSpPr/>
          <p:nvPr/>
        </p:nvSpPr>
        <p:spPr>
          <a:xfrm>
            <a:off x="762000" y="3022600"/>
            <a:ext cx="385345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Erstbehandlungsanlagen / Entsorger</a:t>
            </a:r>
          </a:p>
        </p:txBody>
      </p:sp>
      <p:sp>
        <p:nvSpPr>
          <p:cNvPr id="14" name="tag-10"/>
          <p:cNvSpPr/>
          <p:nvPr/>
        </p:nvSpPr>
        <p:spPr>
          <a:xfrm>
            <a:off x="4704358" y="3022600"/>
            <a:ext cx="416748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Öffentlich-rechtliche Entsorgungsträger</a:t>
            </a:r>
          </a:p>
        </p:txBody>
      </p:sp>
      <p:sp>
        <p:nvSpPr>
          <p:cNvPr id="15" name="tag-11"/>
          <p:cNvSpPr/>
          <p:nvPr/>
        </p:nvSpPr>
        <p:spPr>
          <a:xfrm>
            <a:off x="8960743" y="3022600"/>
            <a:ext cx="2129234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Behörden &amp; Ämter</a:t>
            </a:r>
          </a:p>
        </p:txBody>
      </p:sp>
      <p:sp>
        <p:nvSpPr>
          <p:cNvPr id="16" name="tag-12"/>
          <p:cNvSpPr/>
          <p:nvPr/>
        </p:nvSpPr>
        <p:spPr>
          <a:xfrm>
            <a:off x="762000" y="3454400"/>
            <a:ext cx="410785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043751"/>
                </a:solidFill>
                <a:latin typeface="IBM Plex Sans"/>
              </a:rPr>
              <a:t>Entwicklungsorganisationen &amp; -banken</a:t>
            </a:r>
          </a:p>
        </p:txBody>
      </p:sp>
      <p:sp>
        <p:nvSpPr>
          <p:cNvPr id="17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8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9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0" name="nav-4-active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1" name="nav-underline"/>
          <p:cNvSpPr/>
          <p:nvPr/>
        </p:nvSpPr>
        <p:spPr>
          <a:xfrm>
            <a:off x="7808004" y="685800"/>
            <a:ext cx="1590072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rtierhalle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265" b="265"/>
          <a:stretch>
            <a:fillRect/>
          </a:stretch>
        </p:blipFill>
        <p:spPr>
          <a:noFill/>
        </p:spPr>
      </p:pic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16 · photo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Kreisläufe schließen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Vom Produktdesign bis zur Verwertungsanlage: alles aus einer Hand.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17 · photo_pair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 Boxen, zwei Stoffströme</a:t>
            </a:r>
          </a:p>
        </p:txBody>
      </p:sp>
      <p:pic>
        <p:nvPicPr>
          <p:cNvPr id="4" name="Picture Placeholder 3" descr="green-box.jpg"/>
          <p:cNvPicPr>
            <a:picLocks noGrp="1" noChangeAspect="1"/>
          </p:cNvPicPr>
          <p:nvPr>
            <p:ph type="pic" idx="31"/>
          </p:nvPr>
        </p:nvPicPr>
        <p:blipFill>
          <a:blip r:embed="rId2"/>
          <a:srcRect/>
          <a:stretch>
            <a:fillRect/>
          </a:stretch>
        </p:blipFill>
        <p:spPr>
          <a:xfrm>
            <a:off x="1901825" y="2159000"/>
            <a:ext cx="2927350" cy="2927350"/>
          </a:xfrm>
          <a:noFill/>
        </p:spPr>
      </p:pic>
      <p:pic>
        <p:nvPicPr>
          <p:cNvPr id="5" name="Picture Placeholder 4" descr="electro-box.jpg"/>
          <p:cNvPicPr>
            <a:picLocks noGrp="1" noChangeAspect="1"/>
          </p:cNvPicPr>
          <p:nvPr>
            <p:ph type="pic" idx="32"/>
          </p:nvPr>
        </p:nvPicPr>
        <p:blipFill>
          <a:blip r:embed="rId3"/>
          <a:srcRect/>
          <a:stretch>
            <a:fillRect/>
          </a:stretch>
        </p:blipFill>
        <p:spPr>
          <a:xfrm>
            <a:off x="6644624" y="2159000"/>
            <a:ext cx="4363752" cy="2927350"/>
          </a:xfrm>
          <a:noFill/>
        </p:spPr>
      </p:pic>
      <p:sp>
        <p:nvSpPr>
          <p:cNvPr id="6" name="Text Placeholder 5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Green Box · Textilien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Electro-Box · WEEE &amp; Batterien</a:t>
            </a:r>
          </a:p>
        </p:txBody>
      </p:sp>
      <p:sp>
        <p:nvSpPr>
          <p:cNvPr id="8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9" name="nav-2-active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0" name="nav-underline"/>
          <p:cNvSpPr/>
          <p:nvPr/>
        </p:nvSpPr>
        <p:spPr>
          <a:xfrm>
            <a:off x="4367129" y="685800"/>
            <a:ext cx="1638804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2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3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5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18 · photo_annotated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Electro-Box: gebrauchsfertige Versandeinheit</a:t>
            </a:r>
          </a:p>
        </p:txBody>
      </p:sp>
      <p:pic>
        <p:nvPicPr>
          <p:cNvPr id="4" name="Picture Placeholder 3" descr="electro-box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xfrm>
            <a:off x="1272366" y="2095500"/>
            <a:ext cx="5329267" cy="3575050"/>
          </a:xfrm>
          <a:noFill/>
        </p:spPr>
      </p:pic>
      <p:sp>
        <p:nvSpPr>
          <p:cNvPr id="5" name="marker-1"/>
          <p:cNvSpPr/>
          <p:nvPr/>
        </p:nvSpPr>
        <p:spPr>
          <a:xfrm>
            <a:off x="4025900" y="2895664"/>
            <a:ext cx="330200" cy="330200"/>
          </a:xfrm>
          <a:prstGeom prst="ellipse">
            <a:avLst/>
          </a:prstGeom>
          <a:solidFill>
            <a:srgbClr val="043751"/>
          </a:solidFill>
          <a:ln w="25400">
            <a:solidFill>
              <a:srgbClr val="FFFF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FFFFFF"/>
                </a:solidFill>
                <a:latin typeface="IBM Plex Mono Medium"/>
              </a:rPr>
              <a:t>1</a:t>
            </a:r>
          </a:p>
        </p:txBody>
      </p:sp>
      <p:sp>
        <p:nvSpPr>
          <p:cNvPr id="6" name="marker-2"/>
          <p:cNvSpPr/>
          <p:nvPr/>
        </p:nvSpPr>
        <p:spPr>
          <a:xfrm>
            <a:off x="2882900" y="3467672"/>
            <a:ext cx="330200" cy="330200"/>
          </a:xfrm>
          <a:prstGeom prst="ellipse">
            <a:avLst/>
          </a:prstGeom>
          <a:solidFill>
            <a:srgbClr val="043751"/>
          </a:solidFill>
          <a:ln w="25400">
            <a:solidFill>
              <a:srgbClr val="FFFF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FFFFFF"/>
                </a:solidFill>
                <a:latin typeface="IBM Plex Mono Medium"/>
              </a:rPr>
              <a:t>2</a:t>
            </a:r>
          </a:p>
        </p:txBody>
      </p:sp>
      <p:sp>
        <p:nvSpPr>
          <p:cNvPr id="7" name="marker-3"/>
          <p:cNvSpPr/>
          <p:nvPr/>
        </p:nvSpPr>
        <p:spPr>
          <a:xfrm>
            <a:off x="2692400" y="4647438"/>
            <a:ext cx="330200" cy="330200"/>
          </a:xfrm>
          <a:prstGeom prst="ellipse">
            <a:avLst/>
          </a:prstGeom>
          <a:solidFill>
            <a:srgbClr val="043751"/>
          </a:solidFill>
          <a:ln w="25400">
            <a:solidFill>
              <a:srgbClr val="FFFF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FFFFFF"/>
                </a:solidFill>
                <a:latin typeface="IBM Plex Mono Medium"/>
              </a:rPr>
              <a:t>3</a:t>
            </a:r>
          </a:p>
        </p:txBody>
      </p:sp>
      <p:sp>
        <p:nvSpPr>
          <p:cNvPr id="8" name="marker-4"/>
          <p:cNvSpPr/>
          <p:nvPr/>
        </p:nvSpPr>
        <p:spPr>
          <a:xfrm>
            <a:off x="4851400" y="4003929"/>
            <a:ext cx="330200" cy="330200"/>
          </a:xfrm>
          <a:prstGeom prst="ellipse">
            <a:avLst/>
          </a:prstGeom>
          <a:solidFill>
            <a:srgbClr val="043751"/>
          </a:solidFill>
          <a:ln w="25400">
            <a:solidFill>
              <a:srgbClr val="FFFF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FFFFFF"/>
                </a:solidFill>
                <a:latin typeface="IBM Plex Mono Medium"/>
              </a:rPr>
              <a:t>4</a:t>
            </a:r>
          </a:p>
        </p:txBody>
      </p:sp>
      <p:sp>
        <p:nvSpPr>
          <p:cNvPr id="9" name="legend-rule"/>
          <p:cNvSpPr/>
          <p:nvPr/>
        </p:nvSpPr>
        <p:spPr>
          <a:xfrm>
            <a:off x="7493000" y="2152650"/>
            <a:ext cx="39370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gend-num-1"/>
          <p:cNvSpPr/>
          <p:nvPr/>
        </p:nvSpPr>
        <p:spPr>
          <a:xfrm>
            <a:off x="7493000" y="2275840"/>
            <a:ext cx="254000" cy="254000"/>
          </a:xfrm>
          <a:prstGeom prst="ellipse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 lang="de-DE">
                <a:solidFill>
                  <a:srgbClr val="FFFFFF"/>
                </a:solidFill>
                <a:latin typeface="IBM Plex Mono Medium"/>
              </a:rPr>
              <a:t>1</a:t>
            </a:r>
          </a:p>
        </p:txBody>
      </p:sp>
      <p:sp>
        <p:nvSpPr>
          <p:cNvPr id="11" name="legend-1"/>
          <p:cNvSpPr txBox="1"/>
          <p:nvPr/>
        </p:nvSpPr>
        <p:spPr>
          <a:xfrm>
            <a:off x="7899400" y="2159000"/>
            <a:ext cx="3530600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Geprüfter Innenbehälter 4H2</a:t>
            </a:r>
          </a:p>
        </p:txBody>
      </p:sp>
      <p:sp>
        <p:nvSpPr>
          <p:cNvPr id="12" name="legend-line-1"/>
          <p:cNvSpPr/>
          <p:nvPr/>
        </p:nvSpPr>
        <p:spPr>
          <a:xfrm>
            <a:off x="7493000" y="2640330"/>
            <a:ext cx="393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gend-num-2"/>
          <p:cNvSpPr/>
          <p:nvPr/>
        </p:nvSpPr>
        <p:spPr>
          <a:xfrm>
            <a:off x="7493000" y="2763520"/>
            <a:ext cx="254000" cy="254000"/>
          </a:xfrm>
          <a:prstGeom prst="ellipse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 lang="de-DE">
                <a:solidFill>
                  <a:srgbClr val="FFFFFF"/>
                </a:solidFill>
                <a:latin typeface="IBM Plex Mono Medium"/>
              </a:rPr>
              <a:t>2</a:t>
            </a:r>
          </a:p>
        </p:txBody>
      </p:sp>
      <p:sp>
        <p:nvSpPr>
          <p:cNvPr id="14" name="legend-2"/>
          <p:cNvSpPr txBox="1"/>
          <p:nvPr/>
        </p:nvSpPr>
        <p:spPr>
          <a:xfrm>
            <a:off x="7899400" y="2646680"/>
            <a:ext cx="3530600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Isolierender Einsatz</a:t>
            </a:r>
          </a:p>
        </p:txBody>
      </p:sp>
      <p:sp>
        <p:nvSpPr>
          <p:cNvPr id="15" name="legend-line-2"/>
          <p:cNvSpPr/>
          <p:nvPr/>
        </p:nvSpPr>
        <p:spPr>
          <a:xfrm>
            <a:off x="7493000" y="3128010"/>
            <a:ext cx="393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legend-num-3"/>
          <p:cNvSpPr/>
          <p:nvPr/>
        </p:nvSpPr>
        <p:spPr>
          <a:xfrm>
            <a:off x="7493000" y="3251200"/>
            <a:ext cx="254000" cy="254000"/>
          </a:xfrm>
          <a:prstGeom prst="ellipse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 lang="de-DE">
                <a:solidFill>
                  <a:srgbClr val="FFFFFF"/>
                </a:solidFill>
                <a:latin typeface="IBM Plex Mono Medium"/>
              </a:rPr>
              <a:t>3</a:t>
            </a:r>
          </a:p>
        </p:txBody>
      </p:sp>
      <p:sp>
        <p:nvSpPr>
          <p:cNvPr id="17" name="legend-3"/>
          <p:cNvSpPr txBox="1"/>
          <p:nvPr/>
        </p:nvSpPr>
        <p:spPr>
          <a:xfrm>
            <a:off x="7899400" y="3134360"/>
            <a:ext cx="3530600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Außenkarton</a:t>
            </a:r>
          </a:p>
        </p:txBody>
      </p:sp>
      <p:sp>
        <p:nvSpPr>
          <p:cNvPr id="18" name="legend-line-3"/>
          <p:cNvSpPr/>
          <p:nvPr/>
        </p:nvSpPr>
        <p:spPr>
          <a:xfrm>
            <a:off x="7493000" y="3615690"/>
            <a:ext cx="393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legend-num-4"/>
          <p:cNvSpPr/>
          <p:nvPr/>
        </p:nvSpPr>
        <p:spPr>
          <a:xfrm>
            <a:off x="7493000" y="3887470"/>
            <a:ext cx="254000" cy="254000"/>
          </a:xfrm>
          <a:prstGeom prst="ellipse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0" i="0" lang="de-DE">
                <a:solidFill>
                  <a:srgbClr val="FFFFFF"/>
                </a:solidFill>
                <a:latin typeface="IBM Plex Mono Medium"/>
              </a:rPr>
              <a:t>4</a:t>
            </a:r>
          </a:p>
        </p:txBody>
      </p:sp>
      <p:sp>
        <p:nvSpPr>
          <p:cNvPr id="20" name="legend-4"/>
          <p:cNvSpPr txBox="1"/>
          <p:nvPr/>
        </p:nvSpPr>
        <p:spPr>
          <a:xfrm>
            <a:off x="7899400" y="3622040"/>
            <a:ext cx="3530600" cy="7848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"/>
              </a:rPr>
              <a:t>Gefahrgut-Kennzeichnung UN 3481</a:t>
            </a:r>
          </a:p>
        </p:txBody>
      </p:sp>
      <p:sp>
        <p:nvSpPr>
          <p:cNvPr id="21" name="legend-line-4"/>
          <p:cNvSpPr/>
          <p:nvPr/>
        </p:nvSpPr>
        <p:spPr>
          <a:xfrm>
            <a:off x="7493000" y="4400550"/>
            <a:ext cx="3937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23" name="nav-2-active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4" name="nav-underline"/>
          <p:cNvSpPr/>
          <p:nvPr/>
        </p:nvSpPr>
        <p:spPr>
          <a:xfrm>
            <a:off x="4367129" y="685800"/>
            <a:ext cx="1638804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6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7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19 · case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Praxisfall: Elektrogeräte mit Akku importieren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Ein Online-Händler bezieht Lautsprecher mit fest eingebautem Akku aus Asien und verkauft sie in Deutschland an Endkunden.</a:t>
            </a:r>
          </a:p>
        </p:txBody>
      </p:sp>
      <p:sp>
        <p:nvSpPr>
          <p:cNvPr id="5" name="finding-head"/>
          <p:cNvSpPr txBox="1"/>
          <p:nvPr/>
        </p:nvSpPr>
        <p:spPr>
          <a:xfrm>
            <a:off x="762000" y="3327400"/>
            <a:ext cx="406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F7A1E"/>
                </a:solidFill>
                <a:latin typeface="IBM Plex Mono Medium"/>
              </a:rPr>
              <a:t>Situation</a:t>
            </a:r>
          </a:p>
        </p:txBody>
      </p:sp>
      <p:sp>
        <p:nvSpPr>
          <p:cNvPr id="6" name="cause-head"/>
          <p:cNvSpPr txBox="1"/>
          <p:nvPr/>
        </p:nvSpPr>
        <p:spPr>
          <a:xfrm>
            <a:off x="5461000" y="3327400"/>
            <a:ext cx="406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de-DE" cap="all" spc="110">
                <a:solidFill>
                  <a:srgbClr val="4F7A1E"/>
                </a:solidFill>
                <a:latin typeface="IBM Plex Mono Medium"/>
              </a:rPr>
              <a:t>Pflicht laut Matrix</a:t>
            </a:r>
          </a:p>
        </p:txBody>
      </p:sp>
      <p:sp>
        <p:nvSpPr>
          <p:cNvPr id="7" name="finding-rule"/>
          <p:cNvSpPr/>
          <p:nvPr/>
        </p:nvSpPr>
        <p:spPr>
          <a:xfrm>
            <a:off x="762000" y="3575050"/>
            <a:ext cx="10668000" cy="12700"/>
          </a:xfrm>
          <a:prstGeom prst="rect">
            <a:avLst/>
          </a:prstGeom>
          <a:solidFill>
            <a:srgbClr val="0437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ding-1"/>
          <p:cNvSpPr txBox="1"/>
          <p:nvPr/>
        </p:nvSpPr>
        <p:spPr>
          <a:xfrm>
            <a:off x="762000" y="36195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 Medium"/>
              </a:rPr>
              <a:t>Importiert Elektrogeräte</a:t>
            </a:r>
          </a:p>
        </p:txBody>
      </p:sp>
      <p:sp>
        <p:nvSpPr>
          <p:cNvPr id="9" name="arrow-1"/>
          <p:cNvSpPr/>
          <p:nvPr/>
        </p:nvSpPr>
        <p:spPr>
          <a:xfrm>
            <a:off x="4978400" y="3759200"/>
            <a:ext cx="254000" cy="127000"/>
          </a:xfrm>
          <a:prstGeom prst="rightArrow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use-1"/>
          <p:cNvSpPr txBox="1"/>
          <p:nvPr/>
        </p:nvSpPr>
        <p:spPr>
          <a:xfrm>
            <a:off x="5461000" y="3619500"/>
            <a:ext cx="596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A6079"/>
                </a:solidFill>
                <a:latin typeface="IBM Plex Sans"/>
              </a:rPr>
              <a:t>Registrierung nach ElektroG § 6</a:t>
            </a:r>
          </a:p>
        </p:txBody>
      </p:sp>
      <p:sp>
        <p:nvSpPr>
          <p:cNvPr id="11" name="finding-line-1"/>
          <p:cNvSpPr/>
          <p:nvPr/>
        </p:nvSpPr>
        <p:spPr>
          <a:xfrm>
            <a:off x="762000" y="40449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ding-2"/>
          <p:cNvSpPr txBox="1"/>
          <p:nvPr/>
        </p:nvSpPr>
        <p:spPr>
          <a:xfrm>
            <a:off x="762000" y="40767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 Medium"/>
              </a:rPr>
              <a:t>Gerät enthält eine Batterie</a:t>
            </a:r>
          </a:p>
        </p:txBody>
      </p:sp>
      <p:sp>
        <p:nvSpPr>
          <p:cNvPr id="13" name="arrow-2"/>
          <p:cNvSpPr/>
          <p:nvPr/>
        </p:nvSpPr>
        <p:spPr>
          <a:xfrm>
            <a:off x="4978400" y="4216400"/>
            <a:ext cx="254000" cy="127000"/>
          </a:xfrm>
          <a:prstGeom prst="rightArrow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ause-2"/>
          <p:cNvSpPr txBox="1"/>
          <p:nvPr/>
        </p:nvSpPr>
        <p:spPr>
          <a:xfrm>
            <a:off x="5461000" y="4076700"/>
            <a:ext cx="596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A6079"/>
                </a:solidFill>
                <a:latin typeface="IBM Plex Sans"/>
              </a:rPr>
              <a:t>Pflichten nach Batterierecht (BattG)</a:t>
            </a:r>
          </a:p>
        </p:txBody>
      </p:sp>
      <p:sp>
        <p:nvSpPr>
          <p:cNvPr id="15" name="finding-line-2"/>
          <p:cNvSpPr/>
          <p:nvPr/>
        </p:nvSpPr>
        <p:spPr>
          <a:xfrm>
            <a:off x="762000" y="45021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ding-3"/>
          <p:cNvSpPr txBox="1"/>
          <p:nvPr/>
        </p:nvSpPr>
        <p:spPr>
          <a:xfrm>
            <a:off x="762000" y="45339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 Medium"/>
              </a:rPr>
              <a:t>Bringt Produkte in Verkehr</a:t>
            </a:r>
          </a:p>
        </p:txBody>
      </p:sp>
      <p:sp>
        <p:nvSpPr>
          <p:cNvPr id="17" name="arrow-3"/>
          <p:cNvSpPr/>
          <p:nvPr/>
        </p:nvSpPr>
        <p:spPr>
          <a:xfrm>
            <a:off x="4978400" y="4673600"/>
            <a:ext cx="254000" cy="127000"/>
          </a:xfrm>
          <a:prstGeom prst="rightArrow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ause-3"/>
          <p:cNvSpPr txBox="1"/>
          <p:nvPr/>
        </p:nvSpPr>
        <p:spPr>
          <a:xfrm>
            <a:off x="5461000" y="4533900"/>
            <a:ext cx="596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A6079"/>
                </a:solidFill>
                <a:latin typeface="IBM Plex Sans"/>
              </a:rPr>
              <a:t>Produktverantwortung nach § 23 KrWG</a:t>
            </a:r>
          </a:p>
        </p:txBody>
      </p:sp>
      <p:sp>
        <p:nvSpPr>
          <p:cNvPr id="19" name="finding-line-3"/>
          <p:cNvSpPr/>
          <p:nvPr/>
        </p:nvSpPr>
        <p:spPr>
          <a:xfrm>
            <a:off x="762000" y="49593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ding-4"/>
          <p:cNvSpPr txBox="1"/>
          <p:nvPr/>
        </p:nvSpPr>
        <p:spPr>
          <a:xfrm>
            <a:off x="762000" y="49911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043751"/>
                </a:solidFill>
                <a:latin typeface="IBM Plex Sans Medium"/>
              </a:rPr>
              <a:t>Verkauft an Endkunden</a:t>
            </a:r>
          </a:p>
        </p:txBody>
      </p:sp>
      <p:sp>
        <p:nvSpPr>
          <p:cNvPr id="21" name="arrow-4"/>
          <p:cNvSpPr/>
          <p:nvPr/>
        </p:nvSpPr>
        <p:spPr>
          <a:xfrm>
            <a:off x="4978400" y="5130800"/>
            <a:ext cx="254000" cy="127000"/>
          </a:xfrm>
          <a:prstGeom prst="rightArrow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ause-4"/>
          <p:cNvSpPr txBox="1"/>
          <p:nvPr/>
        </p:nvSpPr>
        <p:spPr>
          <a:xfrm>
            <a:off x="5461000" y="4991100"/>
            <a:ext cx="596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 lang="de-DE">
                <a:solidFill>
                  <a:srgbClr val="4A6079"/>
                </a:solidFill>
                <a:latin typeface="IBM Plex Sans"/>
              </a:rPr>
              <a:t>Rücknahme (ElektroG § 17) und Informationspflichten</a:t>
            </a:r>
          </a:p>
        </p:txBody>
      </p:sp>
      <p:sp>
        <p:nvSpPr>
          <p:cNvPr id="23" name="finding-line-4"/>
          <p:cNvSpPr/>
          <p:nvPr/>
        </p:nvSpPr>
        <p:spPr>
          <a:xfrm>
            <a:off x="762000" y="5416550"/>
            <a:ext cx="10668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25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6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7" name="nav-4-active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8" name="nav-underline"/>
          <p:cNvSpPr/>
          <p:nvPr/>
        </p:nvSpPr>
        <p:spPr>
          <a:xfrm>
            <a:off x="7808004" y="685800"/>
            <a:ext cx="1590072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31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20 · quote</a:t>
            </a:r>
          </a:p>
        </p:txBody>
      </p:sp>
      <p:pic>
        <p:nvPicPr>
          <p:cNvPr id="3" name="Picture Placeholder 2" descr="florian-werthmann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noFill/>
        </p:spPr>
      </p:pic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„Hinter jedem Paragrafen der Kreislaufwirtschaft steht im Kern eine Haltung gegenüber den Ressourcen unserer Erde.“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r>
              <a:t>Florian Werthmann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r>
              <a:t>Geschäftsführer, ecowerth GmbH</a:t>
            </a:r>
          </a:p>
        </p:txBody>
      </p:sp>
      <p:sp>
        <p:nvSpPr>
          <p:cNvPr id="7" name="nav-1-active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8FC65A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FFFFFF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FFFFFF"/>
                </a:solidFill>
                <a:latin typeface="IBM Plex Sans Medium"/>
              </a:rPr>
              <a:t>Die Gruppe</a:t>
            </a:r>
          </a:p>
        </p:txBody>
      </p:sp>
      <p:sp>
        <p:nvSpPr>
          <p:cNvPr id="8" name="nav-underline"/>
          <p:cNvSpPr/>
          <p:nvPr/>
        </p:nvSpPr>
        <p:spPr>
          <a:xfrm>
            <a:off x="2862715" y="685800"/>
            <a:ext cx="1250414" cy="25400"/>
          </a:xfrm>
          <a:prstGeom prst="rect">
            <a:avLst/>
          </a:prstGeom>
          <a:solidFill>
            <a:srgbClr val="8FC6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0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1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2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A3B6C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A3B6C9"/>
                </a:solidFill>
                <a:latin typeface="IBM Plex Mono Medium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Wissenscheck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Welche Regelwerke treffen einen Importeur von Elektrogeräten mit Batterie?</a:t>
            </a:r>
          </a:p>
        </p:txBody>
      </p:sp>
      <p:sp>
        <p:nvSpPr>
          <p:cNvPr id="4" name="quiz-opt-1"/>
          <p:cNvSpPr/>
          <p:nvPr/>
        </p:nvSpPr>
        <p:spPr>
          <a:xfrm>
            <a:off x="762000" y="3048000"/>
            <a:ext cx="9525000" cy="6096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iz-letter-1"/>
          <p:cNvSpPr/>
          <p:nvPr/>
        </p:nvSpPr>
        <p:spPr>
          <a:xfrm>
            <a:off x="939800" y="3187700"/>
            <a:ext cx="330200" cy="330200"/>
          </a:xfrm>
          <a:prstGeom prst="ellipse">
            <a:avLst/>
          </a:prstGeom>
          <a:solidFill>
            <a:srgbClr val="032C41"/>
          </a:solidFill>
          <a:ln w="12700">
            <a:solidFill>
              <a:srgbClr val="8FC65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8FC65A"/>
                </a:solidFill>
                <a:latin typeface="IBM Plex Mono Medium"/>
              </a:rPr>
              <a:t>A</a:t>
            </a:r>
          </a:p>
        </p:txBody>
      </p:sp>
      <p:sp>
        <p:nvSpPr>
          <p:cNvPr id="6" name="quiz-text-1"/>
          <p:cNvSpPr txBox="1"/>
          <p:nvPr/>
        </p:nvSpPr>
        <p:spPr>
          <a:xfrm>
            <a:off x="1473200" y="3048000"/>
            <a:ext cx="86360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 lang="de-DE">
                <a:solidFill>
                  <a:srgbClr val="FFFFFF"/>
                </a:solidFill>
                <a:latin typeface="IBM Plex Sans"/>
              </a:rPr>
              <a:t>Nur das KrWG</a:t>
            </a:r>
          </a:p>
        </p:txBody>
      </p:sp>
      <p:sp>
        <p:nvSpPr>
          <p:cNvPr id="7" name="quiz-opt-2"/>
          <p:cNvSpPr/>
          <p:nvPr/>
        </p:nvSpPr>
        <p:spPr>
          <a:xfrm>
            <a:off x="762000" y="3797300"/>
            <a:ext cx="9525000" cy="6096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quiz-letter-2"/>
          <p:cNvSpPr/>
          <p:nvPr/>
        </p:nvSpPr>
        <p:spPr>
          <a:xfrm>
            <a:off x="939800" y="3937000"/>
            <a:ext cx="330200" cy="330200"/>
          </a:xfrm>
          <a:prstGeom prst="ellipse">
            <a:avLst/>
          </a:prstGeom>
          <a:solidFill>
            <a:srgbClr val="032C41"/>
          </a:solidFill>
          <a:ln w="12700">
            <a:solidFill>
              <a:srgbClr val="8FC65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8FC65A"/>
                </a:solidFill>
                <a:latin typeface="IBM Plex Mono Medium"/>
              </a:rPr>
              <a:t>B</a:t>
            </a:r>
          </a:p>
        </p:txBody>
      </p:sp>
      <p:sp>
        <p:nvSpPr>
          <p:cNvPr id="9" name="quiz-text-2"/>
          <p:cNvSpPr txBox="1"/>
          <p:nvPr/>
        </p:nvSpPr>
        <p:spPr>
          <a:xfrm>
            <a:off x="1473200" y="3797300"/>
            <a:ext cx="86360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 lang="de-DE">
                <a:solidFill>
                  <a:srgbClr val="FFFFFF"/>
                </a:solidFill>
                <a:latin typeface="IBM Plex Sans"/>
              </a:rPr>
              <a:t>KrWG, ElektroG und BattG</a:t>
            </a:r>
          </a:p>
        </p:txBody>
      </p:sp>
      <p:sp>
        <p:nvSpPr>
          <p:cNvPr id="10" name="quiz-opt-3"/>
          <p:cNvSpPr/>
          <p:nvPr/>
        </p:nvSpPr>
        <p:spPr>
          <a:xfrm>
            <a:off x="762000" y="4546600"/>
            <a:ext cx="9525000" cy="6096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quiz-letter-3"/>
          <p:cNvSpPr/>
          <p:nvPr/>
        </p:nvSpPr>
        <p:spPr>
          <a:xfrm>
            <a:off x="939800" y="4686300"/>
            <a:ext cx="330200" cy="330200"/>
          </a:xfrm>
          <a:prstGeom prst="ellipse">
            <a:avLst/>
          </a:prstGeom>
          <a:solidFill>
            <a:srgbClr val="032C41"/>
          </a:solidFill>
          <a:ln w="12700">
            <a:solidFill>
              <a:srgbClr val="8FC65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8FC65A"/>
                </a:solidFill>
                <a:latin typeface="IBM Plex Mono Medium"/>
              </a:rPr>
              <a:t>C</a:t>
            </a:r>
          </a:p>
        </p:txBody>
      </p:sp>
      <p:sp>
        <p:nvSpPr>
          <p:cNvPr id="12" name="quiz-text-3"/>
          <p:cNvSpPr txBox="1"/>
          <p:nvPr/>
        </p:nvSpPr>
        <p:spPr>
          <a:xfrm>
            <a:off x="1473200" y="4546600"/>
            <a:ext cx="86360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 lang="de-DE">
                <a:solidFill>
                  <a:srgbClr val="FFFFFF"/>
                </a:solidFill>
                <a:latin typeface="IBM Plex Sans"/>
              </a:rPr>
              <a:t>GewAbfV und NachwV</a:t>
            </a:r>
          </a:p>
        </p:txBody>
      </p:sp>
      <p:sp>
        <p:nvSpPr>
          <p:cNvPr id="13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4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5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6" name="nav-4-active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8FC65A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FFFFFF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FFFFFF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7" name="nav-underline"/>
          <p:cNvSpPr/>
          <p:nvPr/>
        </p:nvSpPr>
        <p:spPr>
          <a:xfrm>
            <a:off x="7808004" y="685800"/>
            <a:ext cx="1590072" cy="25400"/>
          </a:xfrm>
          <a:prstGeom prst="rect">
            <a:avLst/>
          </a:prstGeom>
          <a:solidFill>
            <a:srgbClr val="8FC6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A3B6C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A3B6C9"/>
                </a:solidFill>
                <a:latin typeface="IBM Plex Mono Medium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Wissenscheck · Auflösung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Welche Regelwerke treffen einen Importeur von Elektrogeräten mit Batterie?</a:t>
            </a:r>
          </a:p>
        </p:txBody>
      </p:sp>
      <p:sp>
        <p:nvSpPr>
          <p:cNvPr id="4" name="quiz-opt-1"/>
          <p:cNvSpPr/>
          <p:nvPr/>
        </p:nvSpPr>
        <p:spPr>
          <a:xfrm>
            <a:off x="762000" y="3048000"/>
            <a:ext cx="9525000" cy="6096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iz-letter-1"/>
          <p:cNvSpPr/>
          <p:nvPr/>
        </p:nvSpPr>
        <p:spPr>
          <a:xfrm>
            <a:off x="939800" y="3187700"/>
            <a:ext cx="330200" cy="330200"/>
          </a:xfrm>
          <a:prstGeom prst="ellipse">
            <a:avLst/>
          </a:prstGeom>
          <a:solidFill>
            <a:srgbClr val="032C41"/>
          </a:solidFill>
          <a:ln w="12700">
            <a:solidFill>
              <a:srgbClr val="8FC65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8FC65A"/>
                </a:solidFill>
                <a:latin typeface="IBM Plex Mono Medium"/>
              </a:rPr>
              <a:t>A</a:t>
            </a:r>
          </a:p>
        </p:txBody>
      </p:sp>
      <p:sp>
        <p:nvSpPr>
          <p:cNvPr id="6" name="quiz-text-1"/>
          <p:cNvSpPr txBox="1"/>
          <p:nvPr/>
        </p:nvSpPr>
        <p:spPr>
          <a:xfrm>
            <a:off x="1473200" y="3048000"/>
            <a:ext cx="86360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 lang="de-DE">
                <a:solidFill>
                  <a:srgbClr val="FFFFFF"/>
                </a:solidFill>
                <a:latin typeface="IBM Plex Sans"/>
              </a:rPr>
              <a:t>Nur das KrWG</a:t>
            </a:r>
          </a:p>
        </p:txBody>
      </p:sp>
      <p:sp>
        <p:nvSpPr>
          <p:cNvPr id="7" name="quiz-opt-2"/>
          <p:cNvSpPr/>
          <p:nvPr/>
        </p:nvSpPr>
        <p:spPr>
          <a:xfrm>
            <a:off x="762000" y="3797300"/>
            <a:ext cx="9525000" cy="609600"/>
          </a:xfrm>
          <a:prstGeom prst="rect">
            <a:avLst/>
          </a:prstGeom>
          <a:solidFill>
            <a:srgbClr val="8FC6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quiz-letter-2"/>
          <p:cNvSpPr/>
          <p:nvPr/>
        </p:nvSpPr>
        <p:spPr>
          <a:xfrm>
            <a:off x="939800" y="3937000"/>
            <a:ext cx="330200" cy="330200"/>
          </a:xfrm>
          <a:prstGeom prst="ellipse">
            <a:avLst/>
          </a:prstGeom>
          <a:solidFill>
            <a:srgbClr val="043751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FFFFFF"/>
                </a:solidFill>
                <a:latin typeface="IBM Plex Mono Medium"/>
              </a:rPr>
              <a:t>B</a:t>
            </a:r>
          </a:p>
        </p:txBody>
      </p:sp>
      <p:sp>
        <p:nvSpPr>
          <p:cNvPr id="9" name="quiz-text-2"/>
          <p:cNvSpPr txBox="1"/>
          <p:nvPr/>
        </p:nvSpPr>
        <p:spPr>
          <a:xfrm>
            <a:off x="1473200" y="3797300"/>
            <a:ext cx="86360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 lang="de-DE">
                <a:solidFill>
                  <a:srgbClr val="043751"/>
                </a:solidFill>
                <a:latin typeface="IBM Plex Sans Medium"/>
              </a:rPr>
              <a:t>KrWG, ElektroG und BattG</a:t>
            </a:r>
          </a:p>
        </p:txBody>
      </p:sp>
      <p:sp>
        <p:nvSpPr>
          <p:cNvPr id="10" name="quiz-opt-3"/>
          <p:cNvSpPr/>
          <p:nvPr/>
        </p:nvSpPr>
        <p:spPr>
          <a:xfrm>
            <a:off x="762000" y="4546600"/>
            <a:ext cx="9525000" cy="609600"/>
          </a:xfrm>
          <a:prstGeom prst="rect">
            <a:avLst/>
          </a:prstGeom>
          <a:solidFill>
            <a:srgbClr val="032C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quiz-letter-3"/>
          <p:cNvSpPr/>
          <p:nvPr/>
        </p:nvSpPr>
        <p:spPr>
          <a:xfrm>
            <a:off x="939800" y="4686300"/>
            <a:ext cx="330200" cy="330200"/>
          </a:xfrm>
          <a:prstGeom prst="ellipse">
            <a:avLst/>
          </a:prstGeom>
          <a:solidFill>
            <a:srgbClr val="032C41"/>
          </a:solidFill>
          <a:ln w="12700">
            <a:solidFill>
              <a:srgbClr val="8FC65A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 lang="de-DE">
                <a:solidFill>
                  <a:srgbClr val="8FC65A"/>
                </a:solidFill>
                <a:latin typeface="IBM Plex Mono Medium"/>
              </a:rPr>
              <a:t>C</a:t>
            </a:r>
          </a:p>
        </p:txBody>
      </p:sp>
      <p:sp>
        <p:nvSpPr>
          <p:cNvPr id="12" name="quiz-text-3"/>
          <p:cNvSpPr txBox="1"/>
          <p:nvPr/>
        </p:nvSpPr>
        <p:spPr>
          <a:xfrm>
            <a:off x="1473200" y="4546600"/>
            <a:ext cx="86360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 lang="de-DE">
                <a:solidFill>
                  <a:srgbClr val="FFFFFF"/>
                </a:solidFill>
                <a:latin typeface="IBM Plex Sans"/>
              </a:rPr>
              <a:t>GewAbfV und NachwV</a:t>
            </a:r>
          </a:p>
        </p:txBody>
      </p:sp>
      <p:sp>
        <p:nvSpPr>
          <p:cNvPr id="13" name="quiz-expl"/>
          <p:cNvSpPr txBox="1"/>
          <p:nvPr/>
        </p:nvSpPr>
        <p:spPr>
          <a:xfrm>
            <a:off x="762000" y="5372100"/>
            <a:ext cx="9525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E8EEF4"/>
                </a:solidFill>
                <a:latin typeface="IBM Plex Sans"/>
              </a:rPr>
              <a:t>Laut Pflichtenmatrix gelten für Importeure KrWG, ElektroG und BattG – ElektroG und BattG, soweit Elektrogeräte bzw. Batterien betroffen sind.</a:t>
            </a:r>
          </a:p>
        </p:txBody>
      </p:sp>
      <p:sp>
        <p:nvSpPr>
          <p:cNvPr id="14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Die Gruppe</a:t>
            </a:r>
          </a:p>
        </p:txBody>
      </p:sp>
      <p:sp>
        <p:nvSpPr>
          <p:cNvPr id="15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16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Leistungen</a:t>
            </a:r>
          </a:p>
        </p:txBody>
      </p:sp>
      <p:sp>
        <p:nvSpPr>
          <p:cNvPr id="17" name="nav-4-active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8FC65A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FFFFFF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FFFFFF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18" name="nav-underline"/>
          <p:cNvSpPr/>
          <p:nvPr/>
        </p:nvSpPr>
        <p:spPr>
          <a:xfrm>
            <a:off x="7808004" y="685800"/>
            <a:ext cx="1590072" cy="25400"/>
          </a:xfrm>
          <a:prstGeom prst="rect">
            <a:avLst/>
          </a:prstGeom>
          <a:solidFill>
            <a:srgbClr val="8FC6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av-5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A3B6C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A3B6C9"/>
                </a:solidFill>
                <a:latin typeface="IBM Plex Mono Medium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22 ·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Kreislaufwirtschaft aus einer Hand</a:t>
            </a:r>
          </a:p>
        </p:txBody>
      </p:sp>
      <p:sp>
        <p:nvSpPr>
          <p:cNvPr id="4" name="sum-check-1"/>
          <p:cNvSpPr/>
          <p:nvPr/>
        </p:nvSpPr>
        <p:spPr>
          <a:xfrm>
            <a:off x="762000" y="2159000"/>
            <a:ext cx="279400" cy="279400"/>
          </a:xfrm>
          <a:prstGeom prst="ellipse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sum-check-icon-1"/>
          <p:cNvGrpSpPr/>
          <p:nvPr/>
        </p:nvGrpSpPr>
        <p:grpSpPr>
          <a:xfrm>
            <a:off x="839470" y="2248916"/>
            <a:ext cx="126238" cy="99568"/>
            <a:chOff x="839470" y="2248916"/>
            <a:chExt cx="126238" cy="99568"/>
          </a:xfrm>
        </p:grpSpPr>
        <p:cxnSp>
          <p:nvCxnSpPr>
            <p:cNvPr id="6" name="Connector 5"/>
            <p:cNvCxnSpPr/>
            <p:nvPr/>
          </p:nvCxnSpPr>
          <p:spPr>
            <a:xfrm>
              <a:off x="839470" y="2302256"/>
              <a:ext cx="44450" cy="4622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883920" y="2248916"/>
              <a:ext cx="81788" cy="9956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m-title-1"/>
          <p:cNvSpPr txBox="1"/>
          <p:nvPr/>
        </p:nvSpPr>
        <p:spPr>
          <a:xfrm>
            <a:off x="1219200" y="2159000"/>
            <a:ext cx="45720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Ganzheitlich</a:t>
            </a:r>
          </a:p>
        </p:txBody>
      </p:sp>
      <p:sp>
        <p:nvSpPr>
          <p:cNvPr id="9" name="sum-text-1"/>
          <p:cNvSpPr txBox="1"/>
          <p:nvPr/>
        </p:nvSpPr>
        <p:spPr>
          <a:xfrm>
            <a:off x="1219200" y="2526487"/>
            <a:ext cx="4572000" cy="648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Beratung, Systembetrieb und Fläche greifen ineinander.</a:t>
            </a:r>
          </a:p>
        </p:txBody>
      </p:sp>
      <p:sp>
        <p:nvSpPr>
          <p:cNvPr id="10" name="sum-check-2"/>
          <p:cNvSpPr/>
          <p:nvPr/>
        </p:nvSpPr>
        <p:spPr>
          <a:xfrm>
            <a:off x="762000" y="3365500"/>
            <a:ext cx="279400" cy="279400"/>
          </a:xfrm>
          <a:prstGeom prst="ellipse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sum-check-icon-2"/>
          <p:cNvGrpSpPr/>
          <p:nvPr/>
        </p:nvGrpSpPr>
        <p:grpSpPr>
          <a:xfrm>
            <a:off x="839470" y="3455416"/>
            <a:ext cx="126238" cy="99568"/>
            <a:chOff x="839470" y="3455416"/>
            <a:chExt cx="126238" cy="99568"/>
          </a:xfrm>
        </p:grpSpPr>
        <p:cxnSp>
          <p:nvCxnSpPr>
            <p:cNvPr id="12" name="Connector 11"/>
            <p:cNvCxnSpPr/>
            <p:nvPr/>
          </p:nvCxnSpPr>
          <p:spPr>
            <a:xfrm>
              <a:off x="839470" y="3508756"/>
              <a:ext cx="44450" cy="4622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883920" y="3455416"/>
              <a:ext cx="81788" cy="9956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um-title-2"/>
          <p:cNvSpPr txBox="1"/>
          <p:nvPr/>
        </p:nvSpPr>
        <p:spPr>
          <a:xfrm>
            <a:off x="1219200" y="3365500"/>
            <a:ext cx="45720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Rechtskonform</a:t>
            </a:r>
          </a:p>
        </p:txBody>
      </p:sp>
      <p:sp>
        <p:nvSpPr>
          <p:cNvPr id="15" name="sum-text-2"/>
          <p:cNvSpPr txBox="1"/>
          <p:nvPr/>
        </p:nvSpPr>
        <p:spPr>
          <a:xfrm>
            <a:off x="1219200" y="3732987"/>
            <a:ext cx="4572000" cy="648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Pflichten nach Rolle zugeordnet, umgesetzt und dokumentiert.</a:t>
            </a:r>
          </a:p>
        </p:txBody>
      </p:sp>
      <p:sp>
        <p:nvSpPr>
          <p:cNvPr id="16" name="sum-check-3"/>
          <p:cNvSpPr/>
          <p:nvPr/>
        </p:nvSpPr>
        <p:spPr>
          <a:xfrm>
            <a:off x="762000" y="4572000"/>
            <a:ext cx="279400" cy="279400"/>
          </a:xfrm>
          <a:prstGeom prst="ellipse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7" name="sum-check-icon-3"/>
          <p:cNvGrpSpPr/>
          <p:nvPr/>
        </p:nvGrpSpPr>
        <p:grpSpPr>
          <a:xfrm>
            <a:off x="839470" y="4661916"/>
            <a:ext cx="126238" cy="99568"/>
            <a:chOff x="839470" y="4661916"/>
            <a:chExt cx="126238" cy="99568"/>
          </a:xfrm>
        </p:grpSpPr>
        <p:cxnSp>
          <p:nvCxnSpPr>
            <p:cNvPr id="18" name="Connector 17"/>
            <p:cNvCxnSpPr/>
            <p:nvPr/>
          </p:nvCxnSpPr>
          <p:spPr>
            <a:xfrm>
              <a:off x="839470" y="4715256"/>
              <a:ext cx="44450" cy="4622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V="1">
              <a:off x="883920" y="4661916"/>
              <a:ext cx="81788" cy="9956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m-title-3"/>
          <p:cNvSpPr txBox="1"/>
          <p:nvPr/>
        </p:nvSpPr>
        <p:spPr>
          <a:xfrm>
            <a:off x="1219200" y="4572000"/>
            <a:ext cx="45720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Nachhaltig</a:t>
            </a:r>
          </a:p>
        </p:txBody>
      </p:sp>
      <p:sp>
        <p:nvSpPr>
          <p:cNvPr id="21" name="sum-text-3"/>
          <p:cNvSpPr txBox="1"/>
          <p:nvPr/>
        </p:nvSpPr>
        <p:spPr>
          <a:xfrm>
            <a:off x="1219200" y="4939487"/>
            <a:ext cx="4572000" cy="648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Aus gesetzlichen Auflagen wird ein Beitrag für die Zukunft.</a:t>
            </a:r>
          </a:p>
        </p:txBody>
      </p:sp>
      <p:sp>
        <p:nvSpPr>
          <p:cNvPr id="22" name="sum-check-4"/>
          <p:cNvSpPr/>
          <p:nvPr/>
        </p:nvSpPr>
        <p:spPr>
          <a:xfrm>
            <a:off x="6223000" y="2159000"/>
            <a:ext cx="279400" cy="279400"/>
          </a:xfrm>
          <a:prstGeom prst="ellipse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sum-check-icon-4"/>
          <p:cNvGrpSpPr/>
          <p:nvPr/>
        </p:nvGrpSpPr>
        <p:grpSpPr>
          <a:xfrm>
            <a:off x="6300470" y="2248916"/>
            <a:ext cx="126238" cy="99568"/>
            <a:chOff x="6300470" y="2248916"/>
            <a:chExt cx="126238" cy="99568"/>
          </a:xfrm>
        </p:grpSpPr>
        <p:cxnSp>
          <p:nvCxnSpPr>
            <p:cNvPr id="24" name="Connector 23"/>
            <p:cNvCxnSpPr/>
            <p:nvPr/>
          </p:nvCxnSpPr>
          <p:spPr>
            <a:xfrm>
              <a:off x="6300470" y="2302256"/>
              <a:ext cx="44450" cy="4622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6344920" y="2248916"/>
              <a:ext cx="81788" cy="9956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sum-title-4"/>
          <p:cNvSpPr txBox="1"/>
          <p:nvPr/>
        </p:nvSpPr>
        <p:spPr>
          <a:xfrm>
            <a:off x="6680200" y="2159000"/>
            <a:ext cx="45720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Ein Vertragspartner</a:t>
            </a:r>
          </a:p>
        </p:txBody>
      </p:sp>
      <p:sp>
        <p:nvSpPr>
          <p:cNvPr id="27" name="sum-text-4"/>
          <p:cNvSpPr txBox="1"/>
          <p:nvPr/>
        </p:nvSpPr>
        <p:spPr>
          <a:xfrm>
            <a:off x="6680200" y="2526487"/>
            <a:ext cx="4572000" cy="648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Alle drei Marken über die ecowerth GmbH.</a:t>
            </a:r>
          </a:p>
        </p:txBody>
      </p:sp>
      <p:sp>
        <p:nvSpPr>
          <p:cNvPr id="28" name="sum-check-5"/>
          <p:cNvSpPr/>
          <p:nvPr/>
        </p:nvSpPr>
        <p:spPr>
          <a:xfrm>
            <a:off x="6223000" y="3365500"/>
            <a:ext cx="279400" cy="279400"/>
          </a:xfrm>
          <a:prstGeom prst="ellipse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9" name="sum-check-icon-5"/>
          <p:cNvGrpSpPr/>
          <p:nvPr/>
        </p:nvGrpSpPr>
        <p:grpSpPr>
          <a:xfrm>
            <a:off x="6300470" y="3455416"/>
            <a:ext cx="126238" cy="99568"/>
            <a:chOff x="6300470" y="3455416"/>
            <a:chExt cx="126238" cy="99568"/>
          </a:xfrm>
        </p:grpSpPr>
        <p:cxnSp>
          <p:nvCxnSpPr>
            <p:cNvPr id="30" name="Connector 29"/>
            <p:cNvCxnSpPr/>
            <p:nvPr/>
          </p:nvCxnSpPr>
          <p:spPr>
            <a:xfrm>
              <a:off x="6300470" y="3508756"/>
              <a:ext cx="44450" cy="4622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 flipV="1">
              <a:off x="6344920" y="3455416"/>
              <a:ext cx="81788" cy="99568"/>
            </a:xfrm>
            <a:prstGeom prst="line">
              <a:avLst/>
            </a:prstGeom>
            <a:ln w="21336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sum-title-5"/>
          <p:cNvSpPr txBox="1"/>
          <p:nvPr/>
        </p:nvSpPr>
        <p:spPr>
          <a:xfrm>
            <a:off x="6680200" y="3365500"/>
            <a:ext cx="45720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043751"/>
                </a:solidFill>
                <a:latin typeface="Archivo SemiBold"/>
              </a:rPr>
              <a:t>Gleiche Ansprechpartner</a:t>
            </a:r>
          </a:p>
        </p:txBody>
      </p:sp>
      <p:sp>
        <p:nvSpPr>
          <p:cNvPr id="33" name="sum-text-5"/>
          <p:cNvSpPr txBox="1"/>
          <p:nvPr/>
        </p:nvSpPr>
        <p:spPr>
          <a:xfrm>
            <a:off x="6680200" y="3732987"/>
            <a:ext cx="4572000" cy="648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4A6079"/>
                </a:solidFill>
                <a:latin typeface="IBM Plex Sans"/>
              </a:rPr>
              <a:t>Teams und Mandate bleiben, wie sie sind.</a:t>
            </a:r>
          </a:p>
        </p:txBody>
      </p:sp>
      <p:sp>
        <p:nvSpPr>
          <p:cNvPr id="34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Die Gruppe</a:t>
            </a:r>
          </a:p>
        </p:txBody>
      </p:sp>
      <p:sp>
        <p:nvSpPr>
          <p:cNvPr id="35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36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Leistungen</a:t>
            </a:r>
          </a:p>
        </p:txBody>
      </p:sp>
      <p:sp>
        <p:nvSpPr>
          <p:cNvPr id="37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A607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4A607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4A607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38" name="nav-5-active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4F7A1E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043751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043751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39" name="nav-underline"/>
          <p:cNvSpPr/>
          <p:nvPr/>
        </p:nvSpPr>
        <p:spPr>
          <a:xfrm>
            <a:off x="9652075" y="685800"/>
            <a:ext cx="1777925" cy="25400"/>
          </a:xfrm>
          <a:prstGeom prst="rect">
            <a:avLst/>
          </a:prstGeom>
          <a:solidFill>
            <a:srgbClr val="6EA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4A607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41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4A6079"/>
                </a:solidFill>
                <a:latin typeface="IBM Plex Mono Medium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23 · closing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Lernen Sie uns kennen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Kontakt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Florian Werthmann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Geschäftsführer, ecowerth GmbH</a:t>
            </a:r>
          </a:p>
          <a:p>
            <a:r>
              <a:t>+49 151 10 855 833</a:t>
            </a:r>
          </a:p>
          <a:p>
            <a:r>
              <a:t>florian.werthmann@ecowerth.de</a:t>
            </a:r>
          </a:p>
        </p:txBody>
      </p:sp>
      <p:sp>
        <p:nvSpPr>
          <p:cNvPr id="7" name="next-step-rule"/>
          <p:cNvSpPr/>
          <p:nvPr/>
        </p:nvSpPr>
        <p:spPr>
          <a:xfrm>
            <a:off x="762000" y="2152650"/>
            <a:ext cx="584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-step-num-1"/>
          <p:cNvSpPr txBox="1"/>
          <p:nvPr/>
        </p:nvSpPr>
        <p:spPr>
          <a:xfrm>
            <a:off x="762000" y="2324100"/>
            <a:ext cx="44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8FC65A"/>
                </a:solidFill>
                <a:latin typeface="IBM Plex Mono Medium"/>
              </a:rPr>
              <a:t>01</a:t>
            </a:r>
          </a:p>
        </p:txBody>
      </p:sp>
      <p:sp>
        <p:nvSpPr>
          <p:cNvPr id="9" name="next-step-title-1"/>
          <p:cNvSpPr txBox="1"/>
          <p:nvPr/>
        </p:nvSpPr>
        <p:spPr>
          <a:xfrm>
            <a:off x="1333500" y="2324100"/>
            <a:ext cx="52705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FFFFFF"/>
                </a:solidFill>
                <a:latin typeface="Archivo SemiBold"/>
              </a:rPr>
              <a:t>Rolle und Produkte schildern</a:t>
            </a:r>
          </a:p>
        </p:txBody>
      </p:sp>
      <p:sp>
        <p:nvSpPr>
          <p:cNvPr id="10" name="next-step-text-1"/>
          <p:cNvSpPr txBox="1"/>
          <p:nvPr/>
        </p:nvSpPr>
        <p:spPr>
          <a:xfrm>
            <a:off x="1333500" y="2678887"/>
            <a:ext cx="52705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E8EEF4"/>
                </a:solidFill>
                <a:latin typeface="IBM Plex Sans"/>
              </a:rPr>
              <a:t>Welche Produkte Sie in Verkehr bringen oder welche Abfälle anfallen.</a:t>
            </a:r>
          </a:p>
        </p:txBody>
      </p:sp>
      <p:sp>
        <p:nvSpPr>
          <p:cNvPr id="11" name="next-step-line-1"/>
          <p:cNvSpPr/>
          <p:nvPr/>
        </p:nvSpPr>
        <p:spPr>
          <a:xfrm>
            <a:off x="762000" y="3424377"/>
            <a:ext cx="584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-step-num-2"/>
          <p:cNvSpPr txBox="1"/>
          <p:nvPr/>
        </p:nvSpPr>
        <p:spPr>
          <a:xfrm>
            <a:off x="762000" y="3595827"/>
            <a:ext cx="44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8FC65A"/>
                </a:solidFill>
                <a:latin typeface="IBM Plex Mono Medium"/>
              </a:rPr>
              <a:t>02</a:t>
            </a:r>
          </a:p>
        </p:txBody>
      </p:sp>
      <p:sp>
        <p:nvSpPr>
          <p:cNvPr id="13" name="next-step-title-2"/>
          <p:cNvSpPr txBox="1"/>
          <p:nvPr/>
        </p:nvSpPr>
        <p:spPr>
          <a:xfrm>
            <a:off x="1333500" y="3595827"/>
            <a:ext cx="52705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FFFFFF"/>
                </a:solidFill>
                <a:latin typeface="Archivo SemiBold"/>
              </a:rPr>
              <a:t>Pflichten sortieren</a:t>
            </a:r>
          </a:p>
        </p:txBody>
      </p:sp>
      <p:sp>
        <p:nvSpPr>
          <p:cNvPr id="14" name="next-step-text-2"/>
          <p:cNvSpPr txBox="1"/>
          <p:nvPr/>
        </p:nvSpPr>
        <p:spPr>
          <a:xfrm>
            <a:off x="1333500" y="3950614"/>
            <a:ext cx="52705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E8EEF4"/>
                </a:solidFill>
                <a:latin typeface="IBM Plex Sans"/>
              </a:rPr>
              <a:t>Wir ordnen zu, welche Regelwerke für Sie gelten.</a:t>
            </a:r>
          </a:p>
        </p:txBody>
      </p:sp>
      <p:sp>
        <p:nvSpPr>
          <p:cNvPr id="15" name="next-step-line-2"/>
          <p:cNvSpPr/>
          <p:nvPr/>
        </p:nvSpPr>
        <p:spPr>
          <a:xfrm>
            <a:off x="762000" y="4415434"/>
            <a:ext cx="584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-step-num-3"/>
          <p:cNvSpPr txBox="1"/>
          <p:nvPr/>
        </p:nvSpPr>
        <p:spPr>
          <a:xfrm>
            <a:off x="762000" y="4586884"/>
            <a:ext cx="44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 lang="de-DE">
                <a:solidFill>
                  <a:srgbClr val="8FC65A"/>
                </a:solidFill>
                <a:latin typeface="IBM Plex Mono Medium"/>
              </a:rPr>
              <a:t>03</a:t>
            </a:r>
          </a:p>
        </p:txBody>
      </p:sp>
      <p:sp>
        <p:nvSpPr>
          <p:cNvPr id="17" name="next-step-title-3"/>
          <p:cNvSpPr txBox="1"/>
          <p:nvPr/>
        </p:nvSpPr>
        <p:spPr>
          <a:xfrm>
            <a:off x="1333500" y="4586884"/>
            <a:ext cx="5270500" cy="329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 lang="de-DE">
                <a:solidFill>
                  <a:srgbClr val="FFFFFF"/>
                </a:solidFill>
                <a:latin typeface="Archivo SemiBold"/>
              </a:rPr>
              <a:t>Umsetzung aus einer Hand</a:t>
            </a:r>
          </a:p>
        </p:txBody>
      </p:sp>
      <p:sp>
        <p:nvSpPr>
          <p:cNvPr id="18" name="next-step-text-3"/>
          <p:cNvSpPr txBox="1"/>
          <p:nvPr/>
        </p:nvSpPr>
        <p:spPr>
          <a:xfrm>
            <a:off x="1333500" y="4941672"/>
            <a:ext cx="52705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lang="de-DE">
                <a:solidFill>
                  <a:srgbClr val="E8EEF4"/>
                </a:solidFill>
                <a:latin typeface="IBM Plex Sans"/>
              </a:rPr>
              <a:t>Beratung, Systembetrieb und Fläche mit einem Vertragspartner.</a:t>
            </a:r>
          </a:p>
        </p:txBody>
      </p:sp>
      <p:sp>
        <p:nvSpPr>
          <p:cNvPr id="19" name="next-step-line-3"/>
          <p:cNvSpPr/>
          <p:nvPr/>
        </p:nvSpPr>
        <p:spPr>
          <a:xfrm>
            <a:off x="762000" y="5687162"/>
            <a:ext cx="5842000" cy="12700"/>
          </a:xfrm>
          <a:prstGeom prst="rect">
            <a:avLst/>
          </a:prstGeom>
          <a:solidFill>
            <a:srgbClr val="325C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av-1"/>
          <p:cNvSpPr txBox="1"/>
          <p:nvPr/>
        </p:nvSpPr>
        <p:spPr>
          <a:xfrm>
            <a:off x="2850015" y="254000"/>
            <a:ext cx="140281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01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Die Gruppe</a:t>
            </a:r>
          </a:p>
        </p:txBody>
      </p:sp>
      <p:sp>
        <p:nvSpPr>
          <p:cNvPr id="21" name="nav-2"/>
          <p:cNvSpPr txBox="1"/>
          <p:nvPr/>
        </p:nvSpPr>
        <p:spPr>
          <a:xfrm>
            <a:off x="4354429" y="254000"/>
            <a:ext cx="1791204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02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Unsere Marken</a:t>
            </a:r>
          </a:p>
        </p:txBody>
      </p:sp>
      <p:sp>
        <p:nvSpPr>
          <p:cNvPr id="22" name="nav-3"/>
          <p:cNvSpPr txBox="1"/>
          <p:nvPr/>
        </p:nvSpPr>
        <p:spPr>
          <a:xfrm>
            <a:off x="6247233" y="254000"/>
            <a:ext cx="144647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03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Leistungen</a:t>
            </a:r>
          </a:p>
        </p:txBody>
      </p:sp>
      <p:sp>
        <p:nvSpPr>
          <p:cNvPr id="23" name="nav-4"/>
          <p:cNvSpPr txBox="1"/>
          <p:nvPr/>
        </p:nvSpPr>
        <p:spPr>
          <a:xfrm>
            <a:off x="7795304" y="254000"/>
            <a:ext cx="1742472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A3B6C9"/>
                </a:solidFill>
                <a:latin typeface="IBM Plex Mono"/>
              </a:rPr>
              <a:t>04</a:t>
            </a:r>
            <a:r>
              <a:rPr sz="1200" b="0" i="0" lang="de-DE">
                <a:solidFill>
                  <a:srgbClr val="A3B6C9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A3B6C9"/>
                </a:solidFill>
                <a:latin typeface="IBM Plex Sans Medium"/>
              </a:rPr>
              <a:t>Rechtsrahmen</a:t>
            </a:r>
          </a:p>
        </p:txBody>
      </p:sp>
      <p:sp>
        <p:nvSpPr>
          <p:cNvPr id="24" name="nav-5-active"/>
          <p:cNvSpPr txBox="1"/>
          <p:nvPr/>
        </p:nvSpPr>
        <p:spPr>
          <a:xfrm>
            <a:off x="9639375" y="254000"/>
            <a:ext cx="1930325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 lang="de-DE">
                <a:solidFill>
                  <a:srgbClr val="8FC65A"/>
                </a:solidFill>
                <a:latin typeface="IBM Plex Mono"/>
              </a:rPr>
              <a:t>05</a:t>
            </a:r>
            <a:r>
              <a:rPr sz="1200" b="0" i="0" lang="de-DE">
                <a:solidFill>
                  <a:srgbClr val="FFFFFF"/>
                </a:solidFill>
                <a:latin typeface="IBM Plex Mono"/>
              </a:rPr>
              <a:t> </a:t>
            </a:r>
            <a:r>
              <a:rPr sz="1200" b="0" i="0" lang="de-DE" cap="all" spc="72">
                <a:solidFill>
                  <a:srgbClr val="FFFFFF"/>
                </a:solidFill>
                <a:latin typeface="IBM Plex Sans Medium"/>
              </a:rPr>
              <a:t>Zusammenarbeit</a:t>
            </a:r>
          </a:p>
        </p:txBody>
      </p:sp>
      <p:sp>
        <p:nvSpPr>
          <p:cNvPr id="25" name="nav-underline"/>
          <p:cNvSpPr/>
          <p:nvPr/>
        </p:nvSpPr>
        <p:spPr>
          <a:xfrm>
            <a:off x="9652075" y="685800"/>
            <a:ext cx="1777925" cy="25400"/>
          </a:xfrm>
          <a:prstGeom prst="rect">
            <a:avLst/>
          </a:prstGeom>
          <a:solidFill>
            <a:srgbClr val="8FC6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ooter"/>
          <p:cNvSpPr txBox="1"/>
          <p:nvPr/>
        </p:nvSpPr>
        <p:spPr>
          <a:xfrm>
            <a:off x="762000" y="63500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 lang="de-DE" cap="all" spc="110">
                <a:solidFill>
                  <a:srgbClr val="A3B6C9"/>
                </a:solidFill>
                <a:latin typeface="IBM Plex Mono Medium"/>
              </a:rPr>
              <a:t>Zukunft im Kreislauf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 lang="de-DE">
                <a:solidFill>
                  <a:srgbClr val="A3B6C9"/>
                </a:solidFill>
                <a:latin typeface="IBM Plex Mono Medium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WERTH Campus">
  <a:themeElements>
    <a:clrScheme name="ECOWERTH Campus">
      <a:dk1>
        <a:srgbClr val="043751"/>
      </a:dk1>
      <a:lt1>
        <a:srgbClr val="FFFFFF"/>
      </a:lt1>
      <a:dk2>
        <a:srgbClr val="032C41"/>
      </a:dk2>
      <a:lt2>
        <a:srgbClr val="F4F6F8"/>
      </a:lt2>
      <a:accent1>
        <a:srgbClr val="6EA52E"/>
      </a:accent1>
      <a:accent2>
        <a:srgbClr val="117EC2"/>
      </a:accent2>
      <a:accent3>
        <a:srgbClr val="AC1920"/>
      </a:accent3>
      <a:accent4>
        <a:srgbClr val="4A6079"/>
      </a:accent4>
      <a:accent5>
        <a:srgbClr val="A3B6C9"/>
      </a:accent5>
      <a:accent6>
        <a:srgbClr val="D9D9D9"/>
      </a:accent6>
      <a:hlink>
        <a:srgbClr val="0F6AA6"/>
      </a:hlink>
      <a:folHlink>
        <a:srgbClr val="4A6079"/>
      </a:folHlink>
    </a:clrScheme>
    <a:fontScheme name="ECOWERTH Campus">
      <a:majorFont>
        <a:latin typeface="Archivo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Zukunft im Kreislauf</dc:title>
  <dc:subject/>
  <dc:creator>ECOWERTH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de-DE</dc:language>
</cp:coreProperties>
</file>