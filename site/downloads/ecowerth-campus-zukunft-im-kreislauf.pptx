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de-DE"/>
    </a:defPPr>
    <a:lvl1pPr marL="0" algn="l" defTabSz="457200" rtl="0" eaLnBrk="1" latinLnBrk="0" hangingPunct="1">
      <a:defRPr sz="1800" kern="1200" lang="de-DE">
        <a:solidFill>
          <a:schemeClr val="tx1"/>
        </a:solidFill>
        <a:latin typeface="+mn-lt"/>
        <a:ea typeface="+mn-ea"/>
        <a:cs typeface="+mn-cs"/>
      </a:defRPr>
    </a:lvl1pPr>
    <a:lvl2pPr marL="457200" algn="l" defTabSz="457200" rtl="0" eaLnBrk="1" latinLnBrk="0" hangingPunct="1">
      <a:defRPr sz="1800" kern="1200" lang="de-DE">
        <a:solidFill>
          <a:schemeClr val="tx1"/>
        </a:solidFill>
        <a:latin typeface="+mn-lt"/>
        <a:ea typeface="+mn-ea"/>
        <a:cs typeface="+mn-cs"/>
      </a:defRPr>
    </a:lvl2pPr>
    <a:lvl3pPr marL="914400" algn="l" defTabSz="457200" rtl="0" eaLnBrk="1" latinLnBrk="0" hangingPunct="1">
      <a:defRPr sz="1800" kern="1200" lang="de-DE">
        <a:solidFill>
          <a:schemeClr val="tx1"/>
        </a:solidFill>
        <a:latin typeface="+mn-lt"/>
        <a:ea typeface="+mn-ea"/>
        <a:cs typeface="+mn-cs"/>
      </a:defRPr>
    </a:lvl3pPr>
    <a:lvl4pPr marL="1371600" algn="l" defTabSz="457200" rtl="0" eaLnBrk="1" latinLnBrk="0" hangingPunct="1">
      <a:defRPr sz="1800" kern="1200" lang="de-DE">
        <a:solidFill>
          <a:schemeClr val="tx1"/>
        </a:solidFill>
        <a:latin typeface="+mn-lt"/>
        <a:ea typeface="+mn-ea"/>
        <a:cs typeface="+mn-cs"/>
      </a:defRPr>
    </a:lvl4pPr>
    <a:lvl5pPr marL="1828800" algn="l" defTabSz="457200" rtl="0" eaLnBrk="1" latinLnBrk="0" hangingPunct="1">
      <a:defRPr sz="1800" kern="1200" lang="de-DE">
        <a:solidFill>
          <a:schemeClr val="tx1"/>
        </a:solidFill>
        <a:latin typeface="+mn-lt"/>
        <a:ea typeface="+mn-ea"/>
        <a:cs typeface="+mn-cs"/>
      </a:defRPr>
    </a:lvl5pPr>
    <a:lvl6pPr marL="2286000" algn="l" defTabSz="457200" rtl="0" eaLnBrk="1" latinLnBrk="0" hangingPunct="1">
      <a:defRPr sz="1800" kern="1200" lang="de-DE">
        <a:solidFill>
          <a:schemeClr val="tx1"/>
        </a:solidFill>
        <a:latin typeface="+mn-lt"/>
        <a:ea typeface="+mn-ea"/>
        <a:cs typeface="+mn-cs"/>
      </a:defRPr>
    </a:lvl6pPr>
    <a:lvl7pPr marL="2743200" algn="l" defTabSz="457200" rtl="0" eaLnBrk="1" latinLnBrk="0" hangingPunct="1">
      <a:defRPr sz="1800" kern="1200" lang="de-DE">
        <a:solidFill>
          <a:schemeClr val="tx1"/>
        </a:solidFill>
        <a:latin typeface="+mn-lt"/>
        <a:ea typeface="+mn-ea"/>
        <a:cs typeface="+mn-cs"/>
      </a:defRPr>
    </a:lvl7pPr>
    <a:lvl8pPr marL="3200400" algn="l" defTabSz="457200" rtl="0" eaLnBrk="1" latinLnBrk="0" hangingPunct="1">
      <a:defRPr sz="1800" kern="1200" lang="de-DE">
        <a:solidFill>
          <a:schemeClr val="tx1"/>
        </a:solidFill>
        <a:latin typeface="+mn-lt"/>
        <a:ea typeface="+mn-ea"/>
        <a:cs typeface="+mn-cs"/>
      </a:defRPr>
    </a:lvl8pPr>
    <a:lvl9pPr marL="3657600" algn="l" defTabSz="457200" rtl="0" eaLnBrk="1" latinLnBrk="0" hangingPunct="1">
      <a:defRPr sz="1800" kern="1200" lang="de-DE">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Willkommen. ECOWERTH ist die neue Dachmarke für vier Unternehmen der Kreislaufwirtschaft – Beratung, Systembetrieb und Fläche aus einer Hand.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überführen Ihre gesetzlichen Recyclingpflichten in strukturierte und praxistaugliche Prozesse. Sie fokussieren sich auf Ihre Produktion, während wir die Einhaltung der Umweltstandards organisieren.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Was bisher auf vier Firmierungen verteilt war, arbeitet künftig unter einem Dach – in drei klar geschnittenen Marken und mit unveränderten Ansprechpartnern.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Statt vier Verträgen mit vier Gesellschaften bündelt die ecowerth GmbH alles in einem Vertragsverhältnis – auf Wunsch weiterhin je Marke getrennt.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„Ich bin angetreten, um diese Verantwortung für Ihr Unternehmen so transparent, verlässlich und unkompliziert wie nur möglich zu gestalten.“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Nach außen tritt ECOWERTH als Gruppe auf, nach innen bleibt jede Marke ein eigener Betrieb mit eigenem Team und eigenen Verträgen. Kunden beauftragen eine einzelne Marke oder alle drei über einen Vertragspartner.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ECOLOGICON trägt das vollständige Leistungsportfolio der Gruppe – Beauftragtenwesen, Produktverantwortung, Abfallverbringung, Reporting.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verbinden regulatorisches Wissen, operative Umsetzung und digitale Transparenz – und machen aus gesetzlichen Pflichten funktionierende Kreisläufe.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Green Box: sichere Vernichtung und Verwertung gebrandeter Corporate Clothing, Markenschutz auf dem Sekundärmarkt. Electro-Box: gebrauchsfertige Versandeinheit für Elektroaltgeräte mit und ohne Batterie.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Sie sammeln die Altgeräte dort, wo sie anfallen – wir übernehmen Abholung, Verwertung und die vollständige Nachweisführung.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Moderne Gewerbeimmobilie, ausgelegt auf Recycling und Kreislaufwirtschaft. Anfragen zu Erweiterungsflächen und künftigen Verfügbarkeiten nehmen wir gerne auf.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Jedes Feld ist einzeln beauftragbar und wird markenübergreifend aus ECOLOGICON, ECORELOOP und ECOINVEST erbracht.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verstehen uns als Ihre externe Compliance-Abteilung für sämtliche Themen rund um Umweltverantwortung und Nachhaltigkeit.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Die Matrix zeigt, welche Regelwerke für Ihre Rolle im Materialkreislauf gelten. Sie ist der Einstieg in jedes Erstgespräch.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Beispiel zur Veranschaulichung der Matrix; im Einzelfall prüfen wir die konkrete Rolle und die aktuelle Rechtslage.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Laut Pflichtenmatrix gelten für Importeure KrWG, ElektroG und BattG – ElektroG und BattG, soweit Elektrogeräte bzw. Batterien betroffen sind.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Wir melden uns innerhalb eines Werktages.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1 Titel">
    <p:bg>
      <p:bgPr>
        <a:solidFill>
          <a:srgbClr val="043751"/>
        </a:solidFill>
        <a:effectLst/>
      </p:bgPr>
    </p:bg>
    <p:spTree>
      <p:nvGrpSpPr>
        <p:cNvPr id="1" name=""/>
        <p:cNvGrpSpPr/>
        <p:nvPr/>
      </p:nvGrpSpPr>
      <p:grpSpPr>
        <a:xfrm>
          <a:off x="0" y="0"/>
          <a:ext cx="0" cy="0"/>
          <a:chOff x="0" y="0"/>
          <a:chExt cx="0" cy="0"/>
        </a:xfrm>
      </p:grpSpPr>
      <p:pic>
        <p:nvPicPr>
          <p:cNvPr id="2" name="cover-logo" descr="logo-white.png"/>
          <p:cNvPicPr>
            <a:picLocks noChangeAspect="1"/>
          </p:cNvPicPr>
          <p:nvPr/>
        </p:nvPicPr>
        <p:blipFill>
          <a:blip r:embed="rId2"/>
          <a:stretch>
            <a:fillRect/>
          </a:stretch>
        </p:blipFill>
        <p:spPr>
          <a:xfrm>
            <a:off x="762000" y="584200"/>
            <a:ext cx="2133600" cy="355600"/>
          </a:xfrm>
          <a:prstGeom prst="rect">
            <a:avLst/>
          </a:prstGeom>
        </p:spPr>
      </p:pic>
      <p:sp>
        <p:nvSpPr>
          <p:cNvPr id="3" name="cover-loop-hair"/>
          <p:cNvSpPr/>
          <p:nvPr/>
        </p:nvSpPr>
        <p:spPr>
          <a:xfrm>
            <a:off x="6781800" y="1193800"/>
            <a:ext cx="4724400" cy="4724400"/>
          </a:xfrm>
          <a:prstGeom prst="ellipse">
            <a:avLst/>
          </a:prstGeom>
          <a:noFill/>
          <a:ln w="12700">
            <a:solidFill>
              <a:srgbClr val="325C72"/>
            </a:solidFill>
          </a:ln>
        </p:spPr>
        <p:txBody>
          <a:bodyPr rtlCol="0" anchor="ctr"/>
          <a:lstStyle/>
          <a:p>
            <a:pPr algn="ctr"/>
          </a:p>
        </p:txBody>
      </p:sp>
      <p:sp>
        <p:nvSpPr>
          <p:cNvPr id="4" name="cover-loop-arc-1"/>
          <p:cNvSpPr/>
          <p:nvPr/>
        </p:nvSpPr>
        <p:spPr>
          <a:xfrm>
            <a:off x="7166344" y="1578344"/>
            <a:ext cx="3955312" cy="3955312"/>
          </a:xfrm>
          <a:prstGeom prst="arc">
            <a:avLst>
              <a:gd name="adj1" fmla="val 13382958"/>
              <a:gd name="adj2" fmla="val 19017042"/>
            </a:avLst>
          </a:prstGeom>
          <a:noFill/>
          <a:ln w="274674" cap="rnd">
            <a:solidFill>
              <a:srgbClr val="117EC2"/>
            </a:solidFill>
          </a:ln>
        </p:spPr>
        <p:txBody>
          <a:bodyPr rtlCol="0" anchor="ctr"/>
          <a:lstStyle/>
          <a:p>
            <a:pPr algn="ctr"/>
          </a:p>
        </p:txBody>
      </p:sp>
      <p:sp>
        <p:nvSpPr>
          <p:cNvPr id="5" name="cover-loop-arc-2"/>
          <p:cNvSpPr/>
          <p:nvPr/>
        </p:nvSpPr>
        <p:spPr>
          <a:xfrm>
            <a:off x="7166344" y="1578344"/>
            <a:ext cx="3955312" cy="3955312"/>
          </a:xfrm>
          <a:prstGeom prst="arc">
            <a:avLst>
              <a:gd name="adj1" fmla="val 20592676"/>
              <a:gd name="adj2" fmla="val 4626761"/>
            </a:avLst>
          </a:prstGeom>
          <a:noFill/>
          <a:ln w="274674" cap="rnd">
            <a:solidFill>
              <a:srgbClr val="6EA52E"/>
            </a:solidFill>
          </a:ln>
        </p:spPr>
        <p:txBody>
          <a:bodyPr rtlCol="0" anchor="ctr"/>
          <a:lstStyle/>
          <a:p>
            <a:pPr algn="ctr"/>
          </a:p>
        </p:txBody>
      </p:sp>
      <p:sp>
        <p:nvSpPr>
          <p:cNvPr id="6" name="cover-loop-arc-3"/>
          <p:cNvSpPr/>
          <p:nvPr/>
        </p:nvSpPr>
        <p:spPr>
          <a:xfrm>
            <a:off x="7166344" y="1578344"/>
            <a:ext cx="3955312" cy="3955312"/>
          </a:xfrm>
          <a:prstGeom prst="arc">
            <a:avLst>
              <a:gd name="adj1" fmla="val 6202395"/>
              <a:gd name="adj2" fmla="val 11836480"/>
            </a:avLst>
          </a:prstGeom>
          <a:noFill/>
          <a:ln w="274674" cap="rnd">
            <a:solidFill>
              <a:srgbClr val="AC1920"/>
            </a:solidFill>
          </a:ln>
        </p:spPr>
        <p:txBody>
          <a:bodyPr rtlCol="0" anchor="ctr"/>
          <a:lstStyle/>
          <a:p>
            <a:pPr algn="ctr"/>
          </a:p>
        </p:txBody>
      </p:sp>
      <p:sp>
        <p:nvSpPr>
          <p:cNvPr id="7" name="cover-loop-dot"/>
          <p:cNvSpPr/>
          <p:nvPr/>
        </p:nvSpPr>
        <p:spPr>
          <a:xfrm>
            <a:off x="10489326" y="2146989"/>
            <a:ext cx="549349" cy="549349"/>
          </a:xfrm>
          <a:prstGeom prst="ellipse">
            <a:avLst/>
          </a:prstGeom>
          <a:solidFill>
            <a:srgbClr val="FFFFFF"/>
          </a:solidFill>
          <a:ln>
            <a:noFill/>
          </a:ln>
        </p:spPr>
        <p:txBody>
          <a:bodyPr rtlCol="0" anchor="ctr"/>
          <a:lstStyle/>
          <a:p>
            <a:pPr algn="ctr"/>
          </a:p>
        </p:txBody>
      </p:sp>
      <p:sp>
        <p:nvSpPr>
          <p:cNvPr id="8" name="cover-loop-core"/>
          <p:cNvSpPr/>
          <p:nvPr/>
        </p:nvSpPr>
        <p:spPr>
          <a:xfrm>
            <a:off x="7633291" y="2045291"/>
            <a:ext cx="3021419" cy="3021419"/>
          </a:xfrm>
          <a:prstGeom prst="ellipse">
            <a:avLst/>
          </a:prstGeom>
          <a:solidFill>
            <a:srgbClr val="FFFFFF"/>
          </a:solidFill>
          <a:ln w="12700">
            <a:solidFill>
              <a:srgbClr val="D9D9D9"/>
            </a:solidFill>
          </a:ln>
        </p:spPr>
        <p:txBody>
          <a:bodyPr rtlCol="0" anchor="ctr"/>
          <a:lstStyle/>
          <a:p>
            <a:pPr algn="ctr"/>
          </a:p>
        </p:txBody>
      </p:sp>
      <p:sp>
        <p:nvSpPr>
          <p:cNvPr id="9" name="cover-loop-name-1"/>
          <p:cNvSpPr txBox="1"/>
          <p:nvPr/>
        </p:nvSpPr>
        <p:spPr>
          <a:xfrm>
            <a:off x="7633291" y="2958858"/>
            <a:ext cx="3021419" cy="353781"/>
          </a:xfrm>
          <a:prstGeom prst="rect">
            <a:avLst/>
          </a:prstGeom>
          <a:noFill/>
        </p:spPr>
        <p:txBody>
          <a:bodyPr wrap="square" lIns="0" rIns="0" tIns="0" bIns="0" anchor="ctr">
            <a:noAutofit/>
          </a:bodyPr>
          <a:lstStyle/>
          <a:p>
            <a:pPr algn="ctr"/>
            <a:r>
              <a:rPr sz="1989" b="0" i="0" lang="de-DE" spc="151">
                <a:solidFill>
                  <a:srgbClr val="0F6AA6"/>
                </a:solidFill>
                <a:latin typeface="IBM Plex Mono Medium"/>
              </a:rPr>
              <a:t>ECOLOGICON</a:t>
            </a:r>
          </a:p>
        </p:txBody>
      </p:sp>
      <p:sp>
        <p:nvSpPr>
          <p:cNvPr id="10" name="cover-loop-name-2"/>
          <p:cNvSpPr txBox="1"/>
          <p:nvPr/>
        </p:nvSpPr>
        <p:spPr>
          <a:xfrm>
            <a:off x="7633291" y="3398337"/>
            <a:ext cx="3021419" cy="353781"/>
          </a:xfrm>
          <a:prstGeom prst="rect">
            <a:avLst/>
          </a:prstGeom>
          <a:noFill/>
        </p:spPr>
        <p:txBody>
          <a:bodyPr wrap="square" lIns="0" rIns="0" tIns="0" bIns="0" anchor="ctr">
            <a:noAutofit/>
          </a:bodyPr>
          <a:lstStyle/>
          <a:p>
            <a:pPr algn="ctr"/>
            <a:r>
              <a:rPr sz="1989" b="0" i="0" lang="de-DE" spc="151">
                <a:solidFill>
                  <a:srgbClr val="4F7A1E"/>
                </a:solidFill>
                <a:latin typeface="IBM Plex Mono Medium"/>
              </a:rPr>
              <a:t>ECORELOOP</a:t>
            </a:r>
          </a:p>
        </p:txBody>
      </p:sp>
      <p:sp>
        <p:nvSpPr>
          <p:cNvPr id="11" name="cover-loop-name-3"/>
          <p:cNvSpPr txBox="1"/>
          <p:nvPr/>
        </p:nvSpPr>
        <p:spPr>
          <a:xfrm>
            <a:off x="7633291" y="3837816"/>
            <a:ext cx="3021419" cy="353781"/>
          </a:xfrm>
          <a:prstGeom prst="rect">
            <a:avLst/>
          </a:prstGeom>
          <a:noFill/>
        </p:spPr>
        <p:txBody>
          <a:bodyPr wrap="square" lIns="0" rIns="0" tIns="0" bIns="0" anchor="ctr">
            <a:noAutofit/>
          </a:bodyPr>
          <a:lstStyle/>
          <a:p>
            <a:pPr algn="ctr"/>
            <a:r>
              <a:rPr sz="1989" b="0" i="0" lang="de-DE" spc="151">
                <a:solidFill>
                  <a:srgbClr val="AC1920"/>
                </a:solidFill>
                <a:latin typeface="IBM Plex Mono Medium"/>
              </a:rPr>
              <a:t>ECOINVEST</a:t>
            </a:r>
          </a:p>
        </p:txBody>
      </p:sp>
      <p:sp>
        <p:nvSpPr>
          <p:cNvPr id="12" name="Kicker"/>
          <p:cNvSpPr>
            <a:spLocks noGrp="1"/>
          </p:cNvSpPr>
          <p:nvPr>
            <p:ph type="body" idx="11" hasCustomPrompt="1"/>
          </p:nvPr>
        </p:nvSpPr>
        <p:spPr>
          <a:xfrm>
            <a:off x="762000" y="2082800"/>
            <a:ext cx="558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8FC65A"/>
                </a:solidFill>
                <a:latin typeface="IBM Plex Mono Medium"/>
                <a:ea typeface="IBM Plex Mono Medium"/>
                <a:cs typeface="IBM Plex Mono Medium"/>
              </a:defRPr>
            </a:lvl1pPr>
          </a:lstStyle>
          <a:p>
            <a:r>
              <a:rPr lang="de-DE" dirty="0"/>
              <a:t>ECOWERTH · Präsentation</a:t>
            </a:r>
          </a:p>
        </p:txBody>
      </p:sp>
      <p:sp>
        <p:nvSpPr>
          <p:cNvPr id="13" name="Title"/>
          <p:cNvSpPr>
            <a:spLocks noGrp="1"/>
          </p:cNvSpPr>
          <p:nvPr>
            <p:ph type="title" hasCustomPrompt="1"/>
          </p:nvPr>
        </p:nvSpPr>
        <p:spPr>
          <a:xfrm>
            <a:off x="736600" y="2362200"/>
            <a:ext cx="5715000" cy="1905000"/>
          </a:xfrm>
          <a:prstGeom prst="rect">
            <a:avLst/>
          </a:prstGeom>
          <a:noFill/>
          <a:ln>
            <a:noFill/>
          </a:ln>
        </p:spPr>
        <p:txBody>
          <a:bodyPr wrap="square" lIns="0" tIns="0" rIns="0" bIns="0" anchor="t">
            <a:noAutofit/>
          </a:bodyPr>
          <a:lstStyle>
            <a:lvl1pPr marL="0" indent="0" algn="l">
              <a:lnSpc>
                <a:spcPct val="92000"/>
              </a:lnSpc>
              <a:spcBef>
                <a:spcPts val="0"/>
              </a:spcBef>
              <a:spcAft>
                <a:spcPts val="0"/>
              </a:spcAft>
              <a:buNone/>
              <a:defRPr sz="5800" b="0" i="0">
                <a:solidFill>
                  <a:srgbClr val="FFFFFF"/>
                </a:solidFill>
                <a:latin typeface="Archivo SemiBold"/>
                <a:ea typeface="Archivo SemiBold"/>
                <a:cs typeface="Archivo SemiBold"/>
              </a:defRPr>
            </a:lvl1pPr>
          </a:lstStyle>
          <a:p>
            <a:r>
              <a:rPr lang="de-DE" dirty="0"/>
              <a:t>Titel der Präsentation</a:t>
            </a:r>
          </a:p>
        </p:txBody>
      </p:sp>
      <p:sp>
        <p:nvSpPr>
          <p:cNvPr id="14" name="Subtitle"/>
          <p:cNvSpPr>
            <a:spLocks noGrp="1"/>
          </p:cNvSpPr>
          <p:nvPr>
            <p:ph type="body" idx="12" hasCustomPrompt="1"/>
          </p:nvPr>
        </p:nvSpPr>
        <p:spPr>
          <a:xfrm>
            <a:off x="762000" y="4381500"/>
            <a:ext cx="5334000" cy="787400"/>
          </a:xfrm>
          <a:prstGeom prst="rect">
            <a:avLst/>
          </a:prstGeom>
          <a:noFill/>
          <a:ln>
            <a:noFill/>
          </a:ln>
        </p:spPr>
        <p:txBody>
          <a:bodyPr wrap="square" lIns="0" tIns="0" rIns="0" bIns="0" anchor="t">
            <a:noAutofit/>
          </a:bodyPr>
          <a:lstStyle>
            <a:lvl1pPr marL="0" indent="0" algn="l">
              <a:spcBef>
                <a:spcPts val="0"/>
              </a:spcBef>
              <a:spcAft>
                <a:spcPts val="0"/>
              </a:spcAft>
              <a:buNone/>
              <a:defRPr sz="2200" b="0" i="0">
                <a:solidFill>
                  <a:srgbClr val="E8EEF4"/>
                </a:solidFill>
                <a:latin typeface="IBM Plex Sans"/>
                <a:ea typeface="IBM Plex Sans"/>
                <a:cs typeface="IBM Plex Sans"/>
              </a:defRPr>
            </a:lvl1pPr>
          </a:lstStyle>
          <a:p>
            <a:r>
              <a:rPr lang="de-DE" dirty="0"/>
              <a:t>Untertitel</a:t>
            </a:r>
          </a:p>
        </p:txBody>
      </p:sp>
      <p:sp>
        <p:nvSpPr>
          <p:cNvPr id="15" name="Presenter"/>
          <p:cNvSpPr>
            <a:spLocks noGrp="1"/>
          </p:cNvSpPr>
          <p:nvPr>
            <p:ph type="body" idx="13" hasCustomPrompt="1"/>
          </p:nvPr>
        </p:nvSpPr>
        <p:spPr>
          <a:xfrm>
            <a:off x="762000" y="5448300"/>
            <a:ext cx="5588000" cy="330200"/>
          </a:xfrm>
          <a:prstGeom prst="rect">
            <a:avLst/>
          </a:prstGeom>
          <a:noFill/>
          <a:ln>
            <a:noFill/>
          </a:ln>
        </p:spPr>
        <p:txBody>
          <a:bodyPr wrap="square" lIns="0" tIns="0" rIns="0" bIns="0" anchor="t">
            <a:noAutofit/>
          </a:bodyPr>
          <a:lstStyle>
            <a:lvl1pPr marL="0" indent="0" algn="l">
              <a:spcBef>
                <a:spcPts val="0"/>
              </a:spcBef>
              <a:spcAft>
                <a:spcPts val="0"/>
              </a:spcAft>
              <a:buNone/>
              <a:defRPr sz="1900" b="0" i="0">
                <a:solidFill>
                  <a:srgbClr val="FFFFFF"/>
                </a:solidFill>
                <a:latin typeface="IBM Plex Sans Medium"/>
                <a:ea typeface="IBM Plex Sans Medium"/>
                <a:cs typeface="IBM Plex Sans Medium"/>
              </a:defRPr>
            </a:lvl1pPr>
          </a:lstStyle>
          <a:p>
            <a:r>
              <a:rPr lang="de-DE" dirty="0"/>
              <a:t>Name</a:t>
            </a:r>
          </a:p>
        </p:txBody>
      </p:sp>
      <p:sp>
        <p:nvSpPr>
          <p:cNvPr id="16" name="Credentials"/>
          <p:cNvSpPr>
            <a:spLocks noGrp="1"/>
          </p:cNvSpPr>
          <p:nvPr>
            <p:ph type="body" idx="14" hasCustomPrompt="1"/>
          </p:nvPr>
        </p:nvSpPr>
        <p:spPr>
          <a:xfrm>
            <a:off x="762000" y="5778500"/>
            <a:ext cx="5588000" cy="444500"/>
          </a:xfrm>
          <a:prstGeom prst="rect">
            <a:avLst/>
          </a:prstGeom>
          <a:noFill/>
          <a:ln>
            <a:noFill/>
          </a:ln>
        </p:spPr>
        <p:txBody>
          <a:bodyPr wrap="square" lIns="0" tIns="0" rIns="0" bIns="0" anchor="t">
            <a:noAutofit/>
          </a:bodyPr>
          <a:lstStyle>
            <a:lvl1pPr marL="0" indent="0" algn="l">
              <a:spcBef>
                <a:spcPts val="0"/>
              </a:spcBef>
              <a:spcAft>
                <a:spcPts val="0"/>
              </a:spcAft>
              <a:buNone/>
              <a:defRPr sz="1200" b="0" i="0">
                <a:solidFill>
                  <a:srgbClr val="A3B6C9"/>
                </a:solidFill>
                <a:latin typeface="IBM Plex Mono"/>
                <a:ea typeface="IBM Plex Mono"/>
                <a:cs typeface="IBM Plex Mono"/>
              </a:defRPr>
            </a:lvl1pPr>
          </a:lstStyle>
          <a:p>
            <a:r>
              <a:rPr lang="de-DE" dirty="0"/>
              <a:t>Funktion
Datum · Ort</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02 Agenda">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3 Kapitel">
    <p:bg>
      <p:bgPr>
        <a:solidFill>
          <a:srgbClr val="043751"/>
        </a:solidFill>
        <a:effectLst/>
      </p:bgPr>
    </p:bg>
    <p:spTree>
      <p:nvGrpSpPr>
        <p:cNvPr id="1" name=""/>
        <p:cNvGrpSpPr/>
        <p:nvPr/>
      </p:nvGrpSpPr>
      <p:grpSpPr>
        <a:xfrm>
          <a:off x="0" y="0"/>
          <a:ext cx="0" cy="0"/>
          <a:chOff x="0" y="0"/>
          <a:chExt cx="0" cy="0"/>
        </a:xfrm>
      </p:grpSpPr>
      <p:pic>
        <p:nvPicPr>
          <p:cNvPr id="2" name="head-logo" descr="logo-white.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325C72"/>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325C72"/>
          </a:solidFill>
          <a:ln>
            <a:noFill/>
          </a:ln>
        </p:spPr>
        <p:txBody>
          <a:bodyPr rtlCol="0" anchor="ctr"/>
          <a:lstStyle/>
          <a:p>
            <a:pPr algn="ctr"/>
          </a:p>
        </p:txBody>
      </p:sp>
      <p:sp>
        <p:nvSpPr>
          <p:cNvPr id="5" name="chapter-hair"/>
          <p:cNvSpPr/>
          <p:nvPr/>
        </p:nvSpPr>
        <p:spPr>
          <a:xfrm>
            <a:off x="889000" y="1905000"/>
            <a:ext cx="3810000" cy="3810000"/>
          </a:xfrm>
          <a:prstGeom prst="ellipse">
            <a:avLst/>
          </a:prstGeom>
          <a:noFill/>
          <a:ln w="12700">
            <a:solidFill>
              <a:srgbClr val="325C72"/>
            </a:solidFill>
          </a:ln>
        </p:spPr>
        <p:txBody>
          <a:bodyPr rtlCol="0" anchor="ctr"/>
          <a:lstStyle/>
          <a:p>
            <a:pPr algn="ctr"/>
          </a:p>
        </p:txBody>
      </p:sp>
      <p:sp>
        <p:nvSpPr>
          <p:cNvPr id="6" name="Number"/>
          <p:cNvSpPr>
            <a:spLocks noGrp="1"/>
          </p:cNvSpPr>
          <p:nvPr>
            <p:ph type="body" idx="16" hasCustomPrompt="1"/>
          </p:nvPr>
        </p:nvSpPr>
        <p:spPr>
          <a:xfrm>
            <a:off x="1524000" y="2984500"/>
            <a:ext cx="2540000" cy="1651000"/>
          </a:xfrm>
          <a:prstGeom prst="rect">
            <a:avLst/>
          </a:prstGeom>
          <a:noFill/>
          <a:ln>
            <a:noFill/>
          </a:ln>
        </p:spPr>
        <p:txBody>
          <a:bodyPr wrap="square" lIns="0" tIns="0" rIns="0" bIns="0" anchor="ctr">
            <a:noAutofit/>
          </a:bodyPr>
          <a:lstStyle>
            <a:lvl1pPr marL="0" indent="0" algn="ctr">
              <a:spcBef>
                <a:spcPts val="0"/>
              </a:spcBef>
              <a:spcAft>
                <a:spcPts val="0"/>
              </a:spcAft>
              <a:buNone/>
              <a:defRPr sz="12000" b="0" i="0">
                <a:solidFill>
                  <a:srgbClr val="FFFFFF"/>
                </a:solidFill>
                <a:latin typeface="Archivo SemiBold"/>
                <a:ea typeface="Archivo SemiBold"/>
                <a:cs typeface="Archivo SemiBold"/>
              </a:defRPr>
            </a:lvl1pPr>
          </a:lstStyle>
          <a:p>
            <a:r>
              <a:rPr lang="de-DE" dirty="0"/>
              <a:t>01</a:t>
            </a:r>
          </a:p>
        </p:txBody>
      </p:sp>
      <p:sp>
        <p:nvSpPr>
          <p:cNvPr id="7" name="Kicker"/>
          <p:cNvSpPr>
            <a:spLocks noGrp="1"/>
          </p:cNvSpPr>
          <p:nvPr>
            <p:ph type="body" idx="11" hasCustomPrompt="1"/>
          </p:nvPr>
        </p:nvSpPr>
        <p:spPr>
          <a:xfrm>
            <a:off x="5334000" y="2489200"/>
            <a:ext cx="6096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8FC65A"/>
                </a:solidFill>
                <a:latin typeface="IBM Plex Mono Medium"/>
                <a:ea typeface="IBM Plex Mono Medium"/>
                <a:cs typeface="IBM Plex Mono Medium"/>
              </a:defRPr>
            </a:lvl1pPr>
          </a:lstStyle>
          <a:p>
            <a:r>
              <a:rPr lang="de-DE" dirty="0"/>
              <a:t>Kapitel 1 von 5</a:t>
            </a:r>
          </a:p>
        </p:txBody>
      </p:sp>
      <p:sp>
        <p:nvSpPr>
          <p:cNvPr id="8" name="Title"/>
          <p:cNvSpPr>
            <a:spLocks noGrp="1"/>
          </p:cNvSpPr>
          <p:nvPr>
            <p:ph type="title" hasCustomPrompt="1"/>
          </p:nvPr>
        </p:nvSpPr>
        <p:spPr>
          <a:xfrm>
            <a:off x="5308600" y="2768600"/>
            <a:ext cx="6121400" cy="838200"/>
          </a:xfrm>
          <a:prstGeom prst="rect">
            <a:avLst/>
          </a:prstGeom>
          <a:noFill/>
          <a:ln>
            <a:noFill/>
          </a:ln>
        </p:spPr>
        <p:txBody>
          <a:bodyPr wrap="square" lIns="0" tIns="0" rIns="0" bIns="0" anchor="t">
            <a:noAutofit/>
          </a:bodyPr>
          <a:lstStyle>
            <a:lvl1pPr marL="0" indent="0" algn="l">
              <a:lnSpc>
                <a:spcPct val="92000"/>
              </a:lnSpc>
              <a:spcBef>
                <a:spcPts val="0"/>
              </a:spcBef>
              <a:spcAft>
                <a:spcPts val="0"/>
              </a:spcAft>
              <a:buNone/>
              <a:defRPr sz="6000" b="0" i="0">
                <a:solidFill>
                  <a:srgbClr val="FFFFFF"/>
                </a:solidFill>
                <a:latin typeface="Archivo SemiBold"/>
                <a:ea typeface="Archivo SemiBold"/>
                <a:cs typeface="Archivo SemiBold"/>
              </a:defRPr>
            </a:lvl1pPr>
          </a:lstStyle>
          <a:p>
            <a:r>
              <a:rPr lang="de-DE" dirty="0"/>
              <a:t>Kapitel</a:t>
            </a:r>
          </a:p>
        </p:txBody>
      </p:sp>
      <p:sp>
        <p:nvSpPr>
          <p:cNvPr id="9" name="Line"/>
          <p:cNvSpPr>
            <a:spLocks noGrp="1"/>
          </p:cNvSpPr>
          <p:nvPr>
            <p:ph type="body" idx="17" hasCustomPrompt="1"/>
          </p:nvPr>
        </p:nvSpPr>
        <p:spPr>
          <a:xfrm>
            <a:off x="5334000" y="3759200"/>
            <a:ext cx="5588000" cy="952500"/>
          </a:xfrm>
          <a:prstGeom prst="rect">
            <a:avLst/>
          </a:prstGeom>
          <a:noFill/>
          <a:ln>
            <a:noFill/>
          </a:ln>
        </p:spPr>
        <p:txBody>
          <a:bodyPr wrap="square" lIns="0" tIns="0" rIns="0" bIns="0" anchor="t">
            <a:noAutofit/>
          </a:bodyPr>
          <a:lstStyle>
            <a:lvl1pPr marL="0" indent="0" algn="l">
              <a:spcBef>
                <a:spcPts val="0"/>
              </a:spcBef>
              <a:spcAft>
                <a:spcPts val="0"/>
              </a:spcAft>
              <a:buNone/>
              <a:defRPr sz="2400" b="0" i="0">
                <a:solidFill>
                  <a:srgbClr val="E8EEF4"/>
                </a:solidFill>
                <a:latin typeface="IBM Plex Sans"/>
                <a:ea typeface="IBM Plex Sans"/>
                <a:cs typeface="IBM Plex Sans"/>
              </a:defRPr>
            </a:lvl1pPr>
          </a:lstStyle>
          <a:p>
            <a:r>
              <a:rPr lang="de-DE" dirty="0"/>
              <a:t>Ein Satz zu diesem Kapitel.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4 Einstieg">
    <p:bg>
      <p:bgPr>
        <a:solidFill>
          <a:srgbClr val="043751"/>
        </a:solidFill>
        <a:effectLst/>
      </p:bgPr>
    </p:bg>
    <p:spTree>
      <p:nvGrpSpPr>
        <p:cNvPr id="1" name=""/>
        <p:cNvGrpSpPr/>
        <p:nvPr/>
      </p:nvGrpSpPr>
      <p:grpSpPr>
        <a:xfrm>
          <a:off x="0" y="0"/>
          <a:ext cx="0" cy="0"/>
          <a:chOff x="0" y="0"/>
          <a:chExt cx="0" cy="0"/>
        </a:xfrm>
      </p:grpSpPr>
      <p:pic>
        <p:nvPicPr>
          <p:cNvPr id="2" name="head-logo" descr="logo-white.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325C72"/>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325C72"/>
          </a:solidFill>
          <a:ln>
            <a:noFill/>
          </a:ln>
        </p:spPr>
        <p:txBody>
          <a:bodyPr rtlCol="0" anchor="ctr"/>
          <a:lstStyle/>
          <a:p>
            <a:pPr algn="ctr"/>
          </a:p>
        </p:txBody>
      </p:sp>
      <p:sp>
        <p:nvSpPr>
          <p:cNvPr id="5" name="truth-card"/>
          <p:cNvSpPr/>
          <p:nvPr/>
        </p:nvSpPr>
        <p:spPr>
          <a:xfrm>
            <a:off x="762000" y="3429000"/>
            <a:ext cx="5080000" cy="2159000"/>
          </a:xfrm>
          <a:prstGeom prst="rect">
            <a:avLst/>
          </a:prstGeom>
          <a:solidFill>
            <a:srgbClr val="032C41"/>
          </a:solidFill>
          <a:ln>
            <a:noFill/>
          </a:ln>
        </p:spPr>
        <p:txBody>
          <a:bodyPr rtlCol="0" anchor="ctr"/>
          <a:lstStyle/>
          <a:p>
            <a:pPr algn="ctr"/>
          </a:p>
        </p:txBody>
      </p:sp>
      <p:sp>
        <p:nvSpPr>
          <p:cNvPr id="6" name="answer-card"/>
          <p:cNvSpPr/>
          <p:nvPr/>
        </p:nvSpPr>
        <p:spPr>
          <a:xfrm>
            <a:off x="6096000" y="3429000"/>
            <a:ext cx="5334000" cy="2159000"/>
          </a:xfrm>
          <a:prstGeom prst="rect">
            <a:avLst/>
          </a:prstGeom>
          <a:solidFill>
            <a:srgbClr val="032C41"/>
          </a:solidFill>
          <a:ln>
            <a:noFill/>
          </a:ln>
        </p:spPr>
        <p:txBody>
          <a:bodyPr rtlCol="0" anchor="ctr"/>
          <a:lstStyle/>
          <a:p>
            <a:pPr algn="ctr"/>
          </a:p>
        </p:txBody>
      </p:sp>
      <p:sp>
        <p:nvSpPr>
          <p:cNvPr id="7" name="answer-card-accent"/>
          <p:cNvSpPr/>
          <p:nvPr/>
        </p:nvSpPr>
        <p:spPr>
          <a:xfrm>
            <a:off x="6096000" y="3429000"/>
            <a:ext cx="38100" cy="2159000"/>
          </a:xfrm>
          <a:prstGeom prst="rect">
            <a:avLst/>
          </a:prstGeom>
          <a:solidFill>
            <a:srgbClr val="6EA52E"/>
          </a:solidFill>
          <a:ln>
            <a:noFill/>
          </a:ln>
        </p:spPr>
        <p:txBody>
          <a:bodyPr rtlCol="0" anchor="ctr"/>
          <a:lstStyle/>
          <a:p>
            <a:pPr algn="ctr"/>
          </a:p>
        </p:txBody>
      </p:sp>
      <p:sp>
        <p:nvSpPr>
          <p:cNvPr id="8"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8FC65A"/>
                </a:solidFill>
                <a:latin typeface="IBM Plex Mono Medium"/>
                <a:ea typeface="IBM Plex Mono Medium"/>
                <a:cs typeface="IBM Plex Mono Medium"/>
              </a:defRPr>
            </a:lvl1pPr>
          </a:lstStyle>
          <a:p>
            <a:r>
              <a:rPr lang="de-DE" dirty="0"/>
              <a:t>Kapitel · Thema</a:t>
            </a:r>
          </a:p>
        </p:txBody>
      </p:sp>
      <p:sp>
        <p:nvSpPr>
          <p:cNvPr id="9" name="Quote"/>
          <p:cNvSpPr>
            <a:spLocks noGrp="1"/>
          </p:cNvSpPr>
          <p:nvPr>
            <p:ph type="body" idx="18" hasCustomPrompt="1"/>
          </p:nvPr>
        </p:nvSpPr>
        <p:spPr>
          <a:xfrm>
            <a:off x="762000" y="1270000"/>
            <a:ext cx="9906000" cy="1841500"/>
          </a:xfrm>
          <a:prstGeom prst="rect">
            <a:avLst/>
          </a:prstGeom>
          <a:noFill/>
          <a:ln>
            <a:noFill/>
          </a:ln>
        </p:spPr>
        <p:txBody>
          <a:bodyPr wrap="square" lIns="0" tIns="0" rIns="0" bIns="0" anchor="t">
            <a:noAutofit/>
          </a:bodyPr>
          <a:lstStyle>
            <a:lvl1pPr marL="0" indent="0" algn="l">
              <a:lnSpc>
                <a:spcPct val="112000"/>
              </a:lnSpc>
              <a:spcBef>
                <a:spcPts val="0"/>
              </a:spcBef>
              <a:spcAft>
                <a:spcPts val="0"/>
              </a:spcAft>
              <a:buNone/>
              <a:defRPr sz="3400" b="0" i="0">
                <a:solidFill>
                  <a:srgbClr val="FFFFFF"/>
                </a:solidFill>
                <a:latin typeface="Archivo"/>
                <a:ea typeface="Archivo"/>
                <a:cs typeface="Archivo"/>
              </a:defRPr>
            </a:lvl1pPr>
          </a:lstStyle>
          <a:p>
            <a:r>
              <a:rPr lang="de-DE" dirty="0"/>
              <a:t>Die Frage Ihres Gegenübers</a:t>
            </a:r>
          </a:p>
        </p:txBody>
      </p:sp>
      <p:sp>
        <p:nvSpPr>
          <p:cNvPr id="10" name="TruthLabel"/>
          <p:cNvSpPr>
            <a:spLocks noGrp="1"/>
          </p:cNvSpPr>
          <p:nvPr>
            <p:ph type="body" idx="19" hasCustomPrompt="1"/>
          </p:nvPr>
        </p:nvSpPr>
        <p:spPr>
          <a:xfrm>
            <a:off x="1079500" y="3683000"/>
            <a:ext cx="4445000" cy="190500"/>
          </a:xfrm>
          <a:prstGeom prst="rect">
            <a:avLst/>
          </a:prstGeom>
          <a:noFill/>
          <a:ln>
            <a:noFill/>
          </a:ln>
        </p:spPr>
        <p:txBody>
          <a:bodyPr wrap="square" lIns="0" tIns="0" rIns="0" bIns="0" anchor="t">
            <a:noAutofit/>
          </a:bodyPr>
          <a:lstStyle>
            <a:lvl1pPr marL="0" indent="0" algn="l">
              <a:spcBef>
                <a:spcPts val="0"/>
              </a:spcBef>
              <a:spcAft>
                <a:spcPts val="0"/>
              </a:spcAft>
              <a:buNone/>
              <a:defRPr sz="1100" b="0" i="0" cap="all" spc="110">
                <a:solidFill>
                  <a:srgbClr val="A3B6C9"/>
                </a:solidFill>
                <a:latin typeface="IBM Plex Mono Medium"/>
                <a:ea typeface="IBM Plex Mono Medium"/>
                <a:cs typeface="IBM Plex Mono Medium"/>
              </a:defRPr>
            </a:lvl1pPr>
          </a:lstStyle>
          <a:p>
            <a:r>
              <a:rPr lang="de-DE" dirty="0"/>
              <a:t>Ausgangslage</a:t>
            </a:r>
          </a:p>
        </p:txBody>
      </p:sp>
      <p:sp>
        <p:nvSpPr>
          <p:cNvPr id="11" name="TruthText"/>
          <p:cNvSpPr>
            <a:spLocks noGrp="1"/>
          </p:cNvSpPr>
          <p:nvPr>
            <p:ph type="body" idx="20" hasCustomPrompt="1"/>
          </p:nvPr>
        </p:nvSpPr>
        <p:spPr>
          <a:xfrm>
            <a:off x="1079500" y="3987800"/>
            <a:ext cx="4445000" cy="1460500"/>
          </a:xfrm>
          <a:prstGeom prst="rect">
            <a:avLst/>
          </a:prstGeom>
          <a:noFill/>
          <a:ln>
            <a:noFill/>
          </a:ln>
        </p:spPr>
        <p:txBody>
          <a:bodyPr wrap="square" lIns="0" tIns="0" rIns="0" bIns="0" anchor="t">
            <a:noAutofit/>
          </a:bodyPr>
          <a:lstStyle>
            <a:lvl1pPr marL="0" indent="0" algn="l">
              <a:spcBef>
                <a:spcPts val="0"/>
              </a:spcBef>
              <a:spcAft>
                <a:spcPts val="0"/>
              </a:spcAft>
              <a:buNone/>
              <a:defRPr sz="1900" b="0" i="0">
                <a:solidFill>
                  <a:srgbClr val="E8EEF4"/>
                </a:solidFill>
                <a:latin typeface="IBM Plex Sans"/>
                <a:ea typeface="IBM Plex Sans"/>
                <a:cs typeface="IBM Plex Sans"/>
              </a:defRPr>
            </a:lvl1pPr>
          </a:lstStyle>
          <a:p>
            <a:r>
              <a:rPr lang="de-DE" dirty="0"/>
              <a:t>Was heute passiert.</a:t>
            </a:r>
          </a:p>
        </p:txBody>
      </p:sp>
      <p:sp>
        <p:nvSpPr>
          <p:cNvPr id="12" name="AnswerLabel"/>
          <p:cNvSpPr>
            <a:spLocks noGrp="1"/>
          </p:cNvSpPr>
          <p:nvPr>
            <p:ph type="body" idx="21" hasCustomPrompt="1"/>
          </p:nvPr>
        </p:nvSpPr>
        <p:spPr>
          <a:xfrm>
            <a:off x="6413500" y="3683000"/>
            <a:ext cx="4699000" cy="190500"/>
          </a:xfrm>
          <a:prstGeom prst="rect">
            <a:avLst/>
          </a:prstGeom>
          <a:noFill/>
          <a:ln>
            <a:noFill/>
          </a:ln>
        </p:spPr>
        <p:txBody>
          <a:bodyPr wrap="square" lIns="0" tIns="0" rIns="0" bIns="0" anchor="t">
            <a:noAutofit/>
          </a:bodyPr>
          <a:lstStyle>
            <a:lvl1pPr marL="0" indent="0" algn="l">
              <a:spcBef>
                <a:spcPts val="0"/>
              </a:spcBef>
              <a:spcAft>
                <a:spcPts val="0"/>
              </a:spcAft>
              <a:buNone/>
              <a:defRPr sz="1100" b="0" i="0" cap="all" spc="110">
                <a:solidFill>
                  <a:srgbClr val="8FC65A"/>
                </a:solidFill>
                <a:latin typeface="IBM Plex Mono Medium"/>
                <a:ea typeface="IBM Plex Mono Medium"/>
                <a:cs typeface="IBM Plex Mono Medium"/>
              </a:defRPr>
            </a:lvl1pPr>
          </a:lstStyle>
          <a:p>
            <a:r>
              <a:rPr lang="de-DE" dirty="0"/>
              <a:t>Unsere Antwort</a:t>
            </a:r>
          </a:p>
        </p:txBody>
      </p:sp>
      <p:sp>
        <p:nvSpPr>
          <p:cNvPr id="13" name="AnswerText"/>
          <p:cNvSpPr>
            <a:spLocks noGrp="1"/>
          </p:cNvSpPr>
          <p:nvPr>
            <p:ph type="body" idx="22" hasCustomPrompt="1"/>
          </p:nvPr>
        </p:nvSpPr>
        <p:spPr>
          <a:xfrm>
            <a:off x="6413500" y="3987800"/>
            <a:ext cx="4699000" cy="1460500"/>
          </a:xfrm>
          <a:prstGeom prst="rect">
            <a:avLst/>
          </a:prstGeom>
          <a:noFill/>
          <a:ln>
            <a:noFill/>
          </a:ln>
        </p:spPr>
        <p:txBody>
          <a:bodyPr wrap="square" lIns="0" tIns="0" rIns="0" bIns="0" anchor="t">
            <a:noAutofit/>
          </a:bodyPr>
          <a:lstStyle>
            <a:lvl1pPr marL="0" indent="0" algn="l">
              <a:spcBef>
                <a:spcPts val="0"/>
              </a:spcBef>
              <a:spcAft>
                <a:spcPts val="0"/>
              </a:spcAft>
              <a:buNone/>
              <a:defRPr sz="1900" b="0" i="0">
                <a:solidFill>
                  <a:srgbClr val="FFFFFF"/>
                </a:solidFill>
                <a:latin typeface="IBM Plex Sans"/>
                <a:ea typeface="IBM Plex Sans"/>
                <a:cs typeface="IBM Plex Sans"/>
              </a:defRPr>
            </a:lvl1pPr>
          </a:lstStyle>
          <a:p>
            <a:r>
              <a:rPr lang="de-DE" dirty="0"/>
              <a:t>Wie ECOWERTH es löst.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05 Punkte">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7" name="Points"/>
          <p:cNvSpPr>
            <a:spLocks noGrp="1"/>
          </p:cNvSpPr>
          <p:nvPr>
            <p:ph type="body" idx="26" hasCustomPrompt="1"/>
          </p:nvPr>
        </p:nvSpPr>
        <p:spPr>
          <a:xfrm>
            <a:off x="762000" y="2159000"/>
            <a:ext cx="9906000" cy="3556000"/>
          </a:xfrm>
          <a:prstGeom prst="rect">
            <a:avLst/>
          </a:prstGeom>
          <a:noFill/>
          <a:ln>
            <a:noFill/>
          </a:ln>
        </p:spPr>
        <p:txBody>
          <a:bodyPr wrap="square" lIns="0" tIns="0" rIns="0" bIns="0" anchor="t">
            <a:noAutofit/>
          </a:bodyPr>
          <a:lstStyle>
            <a:lvl1pPr marL="457200" indent="-457200" algn="l">
              <a:spcBef>
                <a:spcPts val="2200"/>
              </a:spcBef>
              <a:spcAft>
                <a:spcPts val="0"/>
              </a:spcAft>
              <a:buNone/>
              <a:tabLst>
                <a:tab pos="457200" algn="l"/>
              </a:tabLst>
              <a:defRPr sz="2200" b="0" i="0">
                <a:solidFill>
                  <a:srgbClr val="043751"/>
                </a:solidFill>
                <a:latin typeface="Archivo SemiBold"/>
                <a:ea typeface="Archivo SemiBold"/>
                <a:cs typeface="Archivo SemiBold"/>
              </a:defRPr>
            </a:lvl1pPr>
            <a:lvl2pPr marL="457200" indent="0" algn="l">
              <a:spcBef>
                <a:spcPts val="600"/>
              </a:spcBef>
              <a:spcAft>
                <a:spcPts val="0"/>
              </a:spcAft>
              <a:buNone/>
              <a:defRPr sz="1700" b="0" i="0">
                <a:solidFill>
                  <a:srgbClr val="4A6079"/>
                </a:solidFill>
                <a:latin typeface="IBM Plex Sans"/>
                <a:ea typeface="IBM Plex Sans"/>
                <a:cs typeface="IBM Plex Sans"/>
              </a:defRPr>
            </a:lvl2pPr>
          </a:lstStyle>
          <a:p>
            <a:r>
              <a:rPr lang="de-DE" dirty="0"/>
              <a:t>01	Punkt</a:t>
            </a:r>
          </a:p>
          <a:p>
            <a:pPr lvl="1"/>
            <a:r>
              <a:rPr lang="de-DE" dirty="0"/>
              <a:t>Kurze Erklärung</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06 Punkte + Foto">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7" name="Points"/>
          <p:cNvSpPr>
            <a:spLocks noGrp="1"/>
          </p:cNvSpPr>
          <p:nvPr>
            <p:ph type="body" idx="26" hasCustomPrompt="1"/>
          </p:nvPr>
        </p:nvSpPr>
        <p:spPr>
          <a:xfrm>
            <a:off x="762000" y="2159000"/>
            <a:ext cx="4826000" cy="3556000"/>
          </a:xfrm>
          <a:prstGeom prst="rect">
            <a:avLst/>
          </a:prstGeom>
          <a:noFill/>
          <a:ln>
            <a:noFill/>
          </a:ln>
        </p:spPr>
        <p:txBody>
          <a:bodyPr wrap="square" lIns="0" tIns="0" rIns="0" bIns="0" anchor="t">
            <a:noAutofit/>
          </a:bodyPr>
          <a:lstStyle>
            <a:lvl1pPr marL="457200" indent="-457200" algn="l">
              <a:spcBef>
                <a:spcPts val="2200"/>
              </a:spcBef>
              <a:spcAft>
                <a:spcPts val="0"/>
              </a:spcAft>
              <a:buNone/>
              <a:tabLst>
                <a:tab pos="457200" algn="l"/>
              </a:tabLst>
              <a:defRPr sz="2200" b="0" i="0">
                <a:solidFill>
                  <a:srgbClr val="043751"/>
                </a:solidFill>
                <a:latin typeface="Archivo SemiBold"/>
                <a:ea typeface="Archivo SemiBold"/>
                <a:cs typeface="Archivo SemiBold"/>
              </a:defRPr>
            </a:lvl1pPr>
            <a:lvl2pPr marL="457200" indent="0" algn="l">
              <a:spcBef>
                <a:spcPts val="600"/>
              </a:spcBef>
              <a:spcAft>
                <a:spcPts val="0"/>
              </a:spcAft>
              <a:buNone/>
              <a:defRPr sz="1700" b="0" i="0">
                <a:solidFill>
                  <a:srgbClr val="4A6079"/>
                </a:solidFill>
                <a:latin typeface="IBM Plex Sans"/>
                <a:ea typeface="IBM Plex Sans"/>
                <a:cs typeface="IBM Plex Sans"/>
              </a:defRPr>
            </a:lvl2pPr>
          </a:lstStyle>
          <a:p>
            <a:r>
              <a:rPr lang="de-DE" dirty="0"/>
              <a:t>01	Punkt</a:t>
            </a:r>
          </a:p>
          <a:p>
            <a:pPr lvl="1"/>
            <a:r>
              <a:rPr lang="de-DE" dirty="0"/>
              <a:t>Kurze Erklärung</a:t>
            </a:r>
          </a:p>
        </p:txBody>
      </p:sp>
      <p:sp>
        <p:nvSpPr>
          <p:cNvPr id="8" name="Photo"/>
          <p:cNvSpPr>
            <a:spLocks noGrp="1"/>
          </p:cNvSpPr>
          <p:nvPr>
            <p:ph type="pic" idx="15" hasCustomPrompt="1"/>
          </p:nvPr>
        </p:nvSpPr>
        <p:spPr>
          <a:xfrm>
            <a:off x="6096000" y="2095500"/>
            <a:ext cx="5334000" cy="3003550"/>
          </a:xfrm>
          <a:prstGeom prst="rect">
            <a:avLst/>
          </a:prstGeom>
          <a:solidFill>
            <a:srgbClr val="E7ECF1"/>
          </a:solidFill>
          <a:ln>
            <a:noFill/>
          </a:ln>
        </p:spPr>
        <p:txBody>
          <a:bodyPr wrap="square" lIns="0" tIns="0" rIns="0" bIns="0" anchor="ctr">
            <a:noAutofit/>
          </a:bodyPr>
          <a:lstStyle>
            <a:lvl1pPr marL="0" indent="0" algn="ctr">
              <a:spcBef>
                <a:spcPts val="0"/>
              </a:spcBef>
              <a:spcAft>
                <a:spcPts val="0"/>
              </a:spcAft>
              <a:buNone/>
              <a:defRPr sz="1300" b="0" i="0">
                <a:solidFill>
                  <a:srgbClr val="4A6079"/>
                </a:solidFill>
                <a:latin typeface="IBM Plex Sans"/>
                <a:ea typeface="IBM Plex Sans"/>
                <a:cs typeface="IBM Plex Sans"/>
              </a:defRPr>
            </a:lvl1pPr>
          </a:lstStyle>
          <a:p>
            <a:r>
              <a:rPr lang="de-DE" dirty="0"/>
              <a:t>Foto einfügen</a:t>
            </a:r>
          </a:p>
        </p:txBody>
      </p:sp>
      <p:sp>
        <p:nvSpPr>
          <p:cNvPr id="9" name="Caption"/>
          <p:cNvSpPr>
            <a:spLocks noGrp="1"/>
          </p:cNvSpPr>
          <p:nvPr>
            <p:ph type="body" idx="27" hasCustomPrompt="1"/>
          </p:nvPr>
        </p:nvSpPr>
        <p:spPr>
          <a:xfrm>
            <a:off x="6096000" y="5207000"/>
            <a:ext cx="5334000" cy="254000"/>
          </a:xfrm>
          <a:prstGeom prst="rect">
            <a:avLst/>
          </a:prstGeom>
          <a:noFill/>
          <a:ln>
            <a:noFill/>
          </a:ln>
        </p:spPr>
        <p:txBody>
          <a:bodyPr wrap="square" lIns="0" tIns="0" rIns="0" bIns="0" anchor="t">
            <a:noAutofit/>
          </a:bodyPr>
          <a:lstStyle>
            <a:lvl1pPr marL="0" indent="0" algn="l">
              <a:spcBef>
                <a:spcPts val="0"/>
              </a:spcBef>
              <a:spcAft>
                <a:spcPts val="0"/>
              </a:spcAft>
              <a:buNone/>
              <a:defRPr sz="1300" b="0" i="0">
                <a:solidFill>
                  <a:srgbClr val="4A6079"/>
                </a:solidFill>
                <a:latin typeface="IBM Plex Sans"/>
                <a:ea typeface="IBM Plex Sans"/>
                <a:cs typeface="IBM Plex Sans"/>
              </a:defRPr>
            </a:lvl1pPr>
          </a:lstStyle>
          <a:p>
            <a:r>
              <a:rPr lang="de-DE" dirty="0"/>
              <a:t>Bildunterschrift</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07 Punkte + Grafik">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7" name="Points"/>
          <p:cNvSpPr>
            <a:spLocks noGrp="1"/>
          </p:cNvSpPr>
          <p:nvPr>
            <p:ph type="body" idx="26" hasCustomPrompt="1"/>
          </p:nvPr>
        </p:nvSpPr>
        <p:spPr>
          <a:xfrm>
            <a:off x="762000" y="2159000"/>
            <a:ext cx="4826000" cy="3556000"/>
          </a:xfrm>
          <a:prstGeom prst="rect">
            <a:avLst/>
          </a:prstGeom>
          <a:noFill/>
          <a:ln>
            <a:noFill/>
          </a:ln>
        </p:spPr>
        <p:txBody>
          <a:bodyPr wrap="square" lIns="0" tIns="0" rIns="0" bIns="0" anchor="t">
            <a:noAutofit/>
          </a:bodyPr>
          <a:lstStyle>
            <a:lvl1pPr marL="457200" indent="-457200" algn="l">
              <a:spcBef>
                <a:spcPts val="2200"/>
              </a:spcBef>
              <a:spcAft>
                <a:spcPts val="0"/>
              </a:spcAft>
              <a:buNone/>
              <a:tabLst>
                <a:tab pos="457200" algn="l"/>
              </a:tabLst>
              <a:defRPr sz="2200" b="0" i="0">
                <a:solidFill>
                  <a:srgbClr val="043751"/>
                </a:solidFill>
                <a:latin typeface="Archivo SemiBold"/>
                <a:ea typeface="Archivo SemiBold"/>
                <a:cs typeface="Archivo SemiBold"/>
              </a:defRPr>
            </a:lvl1pPr>
            <a:lvl2pPr marL="457200" indent="0" algn="l">
              <a:spcBef>
                <a:spcPts val="600"/>
              </a:spcBef>
              <a:spcAft>
                <a:spcPts val="0"/>
              </a:spcAft>
              <a:buNone/>
              <a:defRPr sz="1700" b="0" i="0">
                <a:solidFill>
                  <a:srgbClr val="4A6079"/>
                </a:solidFill>
                <a:latin typeface="IBM Plex Sans"/>
                <a:ea typeface="IBM Plex Sans"/>
                <a:cs typeface="IBM Plex Sans"/>
              </a:defRPr>
            </a:lvl2pPr>
          </a:lstStyle>
          <a:p>
            <a:r>
              <a:rPr lang="de-DE" dirty="0"/>
              <a:t>01	Punkt</a:t>
            </a:r>
          </a:p>
          <a:p>
            <a:pPr lvl="1"/>
            <a:r>
              <a:rPr lang="de-DE" dirty="0"/>
              <a:t>Kurze Erklärung</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08 Aussage">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Big"/>
          <p:cNvSpPr>
            <a:spLocks noGrp="1"/>
          </p:cNvSpPr>
          <p:nvPr>
            <p:ph type="body" idx="28" hasCustomPrompt="1"/>
          </p:nvPr>
        </p:nvSpPr>
        <p:spPr>
          <a:xfrm>
            <a:off x="723900" y="1447800"/>
            <a:ext cx="9906000" cy="2032000"/>
          </a:xfrm>
          <a:prstGeom prst="rect">
            <a:avLst/>
          </a:prstGeom>
          <a:noFill/>
          <a:ln>
            <a:noFill/>
          </a:ln>
        </p:spPr>
        <p:txBody>
          <a:bodyPr wrap="square" lIns="0" tIns="0" rIns="0" bIns="0" anchor="t">
            <a:noAutofit/>
          </a:bodyPr>
          <a:lstStyle>
            <a:lvl1pPr marL="0" indent="0" algn="l">
              <a:lnSpc>
                <a:spcPct val="85000"/>
              </a:lnSpc>
              <a:spcBef>
                <a:spcPts val="0"/>
              </a:spcBef>
              <a:spcAft>
                <a:spcPts val="0"/>
              </a:spcAft>
              <a:buNone/>
              <a:defRPr sz="15000" b="0" i="0">
                <a:solidFill>
                  <a:srgbClr val="4F7A1E"/>
                </a:solidFill>
                <a:latin typeface="Archivo SemiBold"/>
                <a:ea typeface="Archivo SemiBold"/>
                <a:cs typeface="Archivo SemiBold"/>
              </a:defRPr>
            </a:lvl1pPr>
          </a:lstStyle>
          <a:p>
            <a:r>
              <a:rPr lang="de-DE" dirty="0"/>
              <a:t>4</a:t>
            </a:r>
          </a:p>
        </p:txBody>
      </p:sp>
      <p:sp>
        <p:nvSpPr>
          <p:cNvPr id="7" name="Statement"/>
          <p:cNvSpPr>
            <a:spLocks noGrp="1"/>
          </p:cNvSpPr>
          <p:nvPr>
            <p:ph type="body" idx="29" hasCustomPrompt="1"/>
          </p:nvPr>
        </p:nvSpPr>
        <p:spPr>
          <a:xfrm>
            <a:off x="762000" y="3619500"/>
            <a:ext cx="9906000" cy="952500"/>
          </a:xfrm>
          <a:prstGeom prst="rect">
            <a:avLst/>
          </a:prstGeom>
          <a:noFill/>
          <a:ln>
            <a:noFill/>
          </a:ln>
        </p:spPr>
        <p:txBody>
          <a:bodyPr wrap="square" lIns="0" tIns="0" rIns="0" bIns="0" anchor="t">
            <a:noAutofit/>
          </a:bodyPr>
          <a:lstStyle>
            <a:lvl1pPr marL="0" indent="0" algn="l">
              <a:spcBef>
                <a:spcPts val="0"/>
              </a:spcBef>
              <a:spcAft>
                <a:spcPts val="0"/>
              </a:spcAft>
              <a:buNone/>
              <a:defRPr sz="3200" b="0" i="0">
                <a:solidFill>
                  <a:srgbClr val="043751"/>
                </a:solidFill>
                <a:latin typeface="Archivo SemiBold"/>
                <a:ea typeface="Archivo SemiBold"/>
                <a:cs typeface="Archivo SemiBold"/>
              </a:defRPr>
            </a:lvl1pPr>
          </a:lstStyle>
          <a:p>
            <a:r>
              <a:rPr lang="de-DE" dirty="0"/>
              <a:t>Aussage in ein bis zwei Zeilen</a:t>
            </a:r>
          </a:p>
        </p:txBody>
      </p:sp>
      <p:sp>
        <p:nvSpPr>
          <p:cNvPr id="8" name="Text"/>
          <p:cNvSpPr>
            <a:spLocks noGrp="1"/>
          </p:cNvSpPr>
          <p:nvPr>
            <p:ph type="body" idx="30" hasCustomPrompt="1"/>
          </p:nvPr>
        </p:nvSpPr>
        <p:spPr>
          <a:xfrm>
            <a:off x="762000" y="4699000"/>
            <a:ext cx="9906000" cy="825500"/>
          </a:xfrm>
          <a:prstGeom prst="rect">
            <a:avLst/>
          </a:prstGeom>
          <a:noFill/>
          <a:ln>
            <a:noFill/>
          </a:ln>
        </p:spPr>
        <p:txBody>
          <a:bodyPr wrap="square" lIns="0" tIns="0" rIns="0" bIns="0" anchor="t">
            <a:noAutofit/>
          </a:bodyPr>
          <a:lstStyle>
            <a:lvl1pPr marL="0" indent="0" algn="l">
              <a:spcBef>
                <a:spcPts val="0"/>
              </a:spcBef>
              <a:spcAft>
                <a:spcPts val="0"/>
              </a:spcAft>
              <a:buNone/>
              <a:defRPr sz="1700" b="0" i="0">
                <a:solidFill>
                  <a:srgbClr val="4A6079"/>
                </a:solidFill>
                <a:latin typeface="IBM Plex Sans"/>
                <a:ea typeface="IBM Plex Sans"/>
                <a:cs typeface="IBM Plex Sans"/>
              </a:defRPr>
            </a:lvl1pPr>
          </a:lstStyle>
          <a:p>
            <a:r>
              <a:rPr lang="de-DE" dirty="0"/>
              <a:t>Ergänzender Satz.</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09 Kennzahlen">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facts-band"/>
          <p:cNvSpPr/>
          <p:nvPr/>
        </p:nvSpPr>
        <p:spPr>
          <a:xfrm>
            <a:off x="0" y="3429000"/>
            <a:ext cx="12192000" cy="2222500"/>
          </a:xfrm>
          <a:prstGeom prst="rect">
            <a:avLst/>
          </a:prstGeom>
          <a:solidFill>
            <a:srgbClr val="6EA52E"/>
          </a:solidFill>
          <a:ln>
            <a:noFill/>
          </a:ln>
        </p:spPr>
        <p:txBody>
          <a:bodyPr rtlCol="0" anchor="ctr"/>
          <a:lstStyle/>
          <a:p>
            <a:pPr algn="ctr"/>
          </a:p>
        </p:txBody>
      </p:sp>
      <p:sp>
        <p:nvSpPr>
          <p:cNvPr id="6"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7"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8" name="Lead"/>
          <p:cNvSpPr>
            <a:spLocks noGrp="1"/>
          </p:cNvSpPr>
          <p:nvPr>
            <p:ph type="body" idx="37" hasCustomPrompt="1"/>
          </p:nvPr>
        </p:nvSpPr>
        <p:spPr>
          <a:xfrm>
            <a:off x="762000" y="2095500"/>
            <a:ext cx="8890000" cy="889000"/>
          </a:xfrm>
          <a:prstGeom prst="rect">
            <a:avLst/>
          </a:prstGeom>
          <a:noFill/>
          <a:ln>
            <a:noFill/>
          </a:ln>
        </p:spPr>
        <p:txBody>
          <a:bodyPr wrap="square" lIns="0" tIns="0" rIns="0" bIns="0" anchor="t">
            <a:noAutofit/>
          </a:bodyPr>
          <a:lstStyle>
            <a:lvl1pPr marL="0" indent="0" algn="l">
              <a:spcBef>
                <a:spcPts val="0"/>
              </a:spcBef>
              <a:spcAft>
                <a:spcPts val="0"/>
              </a:spcAft>
              <a:buNone/>
              <a:defRPr sz="2000" b="0" i="0">
                <a:solidFill>
                  <a:srgbClr val="4A6079"/>
                </a:solidFill>
                <a:latin typeface="IBM Plex Sans"/>
                <a:ea typeface="IBM Plex Sans"/>
                <a:cs typeface="IBM Plex Sans"/>
              </a:defRPr>
            </a:lvl1pPr>
          </a:lstStyle>
          <a:p>
            <a:r>
              <a:rPr lang="de-DE" dirty="0"/>
              <a:t>Einleitender Satz zu den Kennzahlen.</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0 Marken">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1 Checkliste">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 Schritte">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3 Vergleich">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4 Tabelle">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5 Skala">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7" name="Points"/>
          <p:cNvSpPr>
            <a:spLocks noGrp="1"/>
          </p:cNvSpPr>
          <p:nvPr>
            <p:ph type="body" idx="26" hasCustomPrompt="1"/>
          </p:nvPr>
        </p:nvSpPr>
        <p:spPr>
          <a:xfrm>
            <a:off x="762000" y="3810000"/>
            <a:ext cx="9906000" cy="1905000"/>
          </a:xfrm>
          <a:prstGeom prst="rect">
            <a:avLst/>
          </a:prstGeom>
          <a:noFill/>
          <a:ln>
            <a:noFill/>
          </a:ln>
        </p:spPr>
        <p:txBody>
          <a:bodyPr wrap="square" lIns="0" tIns="0" rIns="0" bIns="0" anchor="t">
            <a:noAutofit/>
          </a:bodyPr>
          <a:lstStyle>
            <a:lvl1pPr marL="457200" indent="-457200" algn="l">
              <a:spcBef>
                <a:spcPts val="2200"/>
              </a:spcBef>
              <a:spcAft>
                <a:spcPts val="0"/>
              </a:spcAft>
              <a:buNone/>
              <a:tabLst>
                <a:tab pos="457200" algn="l"/>
              </a:tabLst>
              <a:defRPr sz="2200" b="0" i="0">
                <a:solidFill>
                  <a:srgbClr val="043751"/>
                </a:solidFill>
                <a:latin typeface="Archivo SemiBold"/>
                <a:ea typeface="Archivo SemiBold"/>
                <a:cs typeface="Archivo SemiBold"/>
              </a:defRPr>
            </a:lvl1pPr>
            <a:lvl2pPr marL="457200" indent="0" algn="l">
              <a:spcBef>
                <a:spcPts val="600"/>
              </a:spcBef>
              <a:spcAft>
                <a:spcPts val="0"/>
              </a:spcAft>
              <a:buNone/>
              <a:defRPr sz="1700" b="0" i="0">
                <a:solidFill>
                  <a:srgbClr val="4A6079"/>
                </a:solidFill>
                <a:latin typeface="IBM Plex Sans"/>
                <a:ea typeface="IBM Plex Sans"/>
                <a:cs typeface="IBM Plex Sans"/>
              </a:defRPr>
            </a:lvl2pPr>
          </a:lstStyle>
          <a:p>
            <a:r>
              <a:rPr lang="de-DE" dirty="0"/>
              <a:t>01	Punkt</a:t>
            </a:r>
          </a:p>
          <a:p>
            <a:pPr lvl="1"/>
            <a:r>
              <a:rPr lang="de-DE" dirty="0"/>
              <a:t>Kurze Erklärung</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 Foto">
    <p:bg>
      <p:bgPr>
        <a:solidFill>
          <a:srgbClr val="043751"/>
        </a:solidFill>
        <a:effectLst/>
      </p:bgPr>
    </p:bg>
    <p:spTree>
      <p:nvGrpSpPr>
        <p:cNvPr id="1" name=""/>
        <p:cNvGrpSpPr/>
        <p:nvPr/>
      </p:nvGrpSpPr>
      <p:grpSpPr>
        <a:xfrm>
          <a:off x="0" y="0"/>
          <a:ext cx="0" cy="0"/>
          <a:chOff x="0" y="0"/>
          <a:chExt cx="0" cy="0"/>
        </a:xfrm>
      </p:grpSpPr>
      <p:sp>
        <p:nvSpPr>
          <p:cNvPr id="2" name="Photo"/>
          <p:cNvSpPr>
            <a:spLocks noGrp="1"/>
          </p:cNvSpPr>
          <p:nvPr>
            <p:ph type="pic" idx="15" hasCustomPrompt="1"/>
          </p:nvPr>
        </p:nvSpPr>
        <p:spPr>
          <a:xfrm>
            <a:off x="0" y="0"/>
            <a:ext cx="12192000" cy="6858000"/>
          </a:xfrm>
          <a:prstGeom prst="rect">
            <a:avLst/>
          </a:prstGeom>
          <a:solidFill>
            <a:srgbClr val="E7ECF1"/>
          </a:solidFill>
          <a:ln>
            <a:noFill/>
          </a:ln>
        </p:spPr>
        <p:txBody>
          <a:bodyPr wrap="square" lIns="0" tIns="0" rIns="0" bIns="0" anchor="ctr">
            <a:noAutofit/>
          </a:bodyPr>
          <a:lstStyle>
            <a:lvl1pPr marL="0" indent="0" algn="ctr">
              <a:spcBef>
                <a:spcPts val="0"/>
              </a:spcBef>
              <a:spcAft>
                <a:spcPts val="0"/>
              </a:spcAft>
              <a:buNone/>
              <a:defRPr sz="1300" b="0" i="0">
                <a:solidFill>
                  <a:srgbClr val="4A6079"/>
                </a:solidFill>
                <a:latin typeface="IBM Plex Sans"/>
                <a:ea typeface="IBM Plex Sans"/>
                <a:cs typeface="IBM Plex Sans"/>
              </a:defRPr>
            </a:lvl1pPr>
          </a:lstStyle>
          <a:p>
            <a:r>
              <a:rPr lang="de-DE" dirty="0"/>
              <a:t>Foto einfügen</a:t>
            </a:r>
          </a:p>
        </p:txBody>
      </p:sp>
      <p:sp>
        <p:nvSpPr>
          <p:cNvPr id="3" name="Kicker"/>
          <p:cNvSpPr>
            <a:spLocks noGrp="1"/>
          </p:cNvSpPr>
          <p:nvPr>
            <p:ph type="body" idx="11" hasCustomPrompt="1"/>
          </p:nvPr>
        </p:nvSpPr>
        <p:spPr>
          <a:xfrm>
            <a:off x="762000" y="4826000"/>
            <a:ext cx="8890000" cy="393700"/>
          </a:xfrm>
          <a:prstGeom prst="rect">
            <a:avLst/>
          </a:prstGeom>
          <a:solidFill>
            <a:srgbClr val="043751"/>
          </a:solidFill>
          <a:ln>
            <a:noFill/>
          </a:ln>
        </p:spPr>
        <p:txBody>
          <a:bodyPr wrap="square" lIns="279400" tIns="152400" rIns="279400" bIns="0" anchor="t">
            <a:noAutofit/>
          </a:bodyPr>
          <a:lstStyle>
            <a:lvl1pPr marL="0" indent="0" algn="l">
              <a:spcBef>
                <a:spcPts val="0"/>
              </a:spcBef>
              <a:spcAft>
                <a:spcPts val="0"/>
              </a:spcAft>
              <a:buNone/>
              <a:defRPr sz="1300" b="0" i="0" cap="all" spc="182">
                <a:solidFill>
                  <a:srgbClr val="8FC65A"/>
                </a:solidFill>
                <a:latin typeface="IBM Plex Mono Medium"/>
                <a:ea typeface="IBM Plex Mono Medium"/>
                <a:cs typeface="IBM Plex Mono Medium"/>
              </a:defRPr>
            </a:lvl1pPr>
          </a:lstStyle>
          <a:p>
            <a:r>
              <a:rPr lang="de-DE" dirty="0"/>
              <a:t>Kapitel · Thema</a:t>
            </a:r>
          </a:p>
        </p:txBody>
      </p:sp>
      <p:sp>
        <p:nvSpPr>
          <p:cNvPr id="4" name="Title"/>
          <p:cNvSpPr>
            <a:spLocks noGrp="1"/>
          </p:cNvSpPr>
          <p:nvPr>
            <p:ph type="title" hasCustomPrompt="1"/>
          </p:nvPr>
        </p:nvSpPr>
        <p:spPr>
          <a:xfrm>
            <a:off x="762000" y="5207000"/>
            <a:ext cx="8890000" cy="647700"/>
          </a:xfrm>
          <a:prstGeom prst="rect">
            <a:avLst/>
          </a:prstGeom>
          <a:solidFill>
            <a:srgbClr val="043751"/>
          </a:solidFill>
          <a:ln>
            <a:noFill/>
          </a:ln>
        </p:spPr>
        <p:txBody>
          <a:bodyPr wrap="square" lIns="279400" tIns="50800" rIns="279400" bIns="0" anchor="t">
            <a:noAutofit/>
          </a:bodyPr>
          <a:lstStyle>
            <a:lvl1pPr marL="0" indent="0" algn="l">
              <a:spcBef>
                <a:spcPts val="0"/>
              </a:spcBef>
              <a:spcAft>
                <a:spcPts val="0"/>
              </a:spcAft>
              <a:buNone/>
              <a:defRPr sz="4000" b="0" i="0">
                <a:solidFill>
                  <a:srgbClr val="FFFFFF"/>
                </a:solidFill>
                <a:latin typeface="Archivo SemiBold"/>
                <a:ea typeface="Archivo SemiBold"/>
                <a:cs typeface="Archivo SemiBold"/>
              </a:defRPr>
            </a:lvl1pPr>
          </a:lstStyle>
          <a:p>
            <a:r>
              <a:rPr lang="de-DE" dirty="0"/>
              <a:t>Fototitel</a:t>
            </a:r>
          </a:p>
        </p:txBody>
      </p:sp>
      <p:sp>
        <p:nvSpPr>
          <p:cNvPr id="5" name="Caption"/>
          <p:cNvSpPr>
            <a:spLocks noGrp="1"/>
          </p:cNvSpPr>
          <p:nvPr>
            <p:ph type="body" idx="27" hasCustomPrompt="1"/>
          </p:nvPr>
        </p:nvSpPr>
        <p:spPr>
          <a:xfrm>
            <a:off x="762000" y="5842000"/>
            <a:ext cx="8890000" cy="558800"/>
          </a:xfrm>
          <a:prstGeom prst="rect">
            <a:avLst/>
          </a:prstGeom>
          <a:solidFill>
            <a:srgbClr val="043751"/>
          </a:solidFill>
          <a:ln>
            <a:noFill/>
          </a:ln>
        </p:spPr>
        <p:txBody>
          <a:bodyPr wrap="square" lIns="279400" tIns="0" rIns="279400" bIns="139700" anchor="t">
            <a:noAutofit/>
          </a:bodyPr>
          <a:lstStyle>
            <a:lvl1pPr marL="0" indent="0" algn="l">
              <a:spcBef>
                <a:spcPts val="0"/>
              </a:spcBef>
              <a:spcAft>
                <a:spcPts val="0"/>
              </a:spcAft>
              <a:buNone/>
              <a:defRPr sz="1700" b="0" i="0">
                <a:solidFill>
                  <a:srgbClr val="E8EEF4"/>
                </a:solidFill>
                <a:latin typeface="IBM Plex Sans"/>
                <a:ea typeface="IBM Plex Sans"/>
                <a:cs typeface="IBM Plex Sans"/>
              </a:defRPr>
            </a:lvl1pPr>
          </a:lstStyle>
          <a:p>
            <a:r>
              <a:rPr lang="de-DE" dirty="0"/>
              <a:t>Bildunterschrift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 Zwei Fotos">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7" name="PhotoLeft"/>
          <p:cNvSpPr>
            <a:spLocks noGrp="1"/>
          </p:cNvSpPr>
          <p:nvPr>
            <p:ph type="pic" idx="31" hasCustomPrompt="1"/>
          </p:nvPr>
        </p:nvSpPr>
        <p:spPr>
          <a:xfrm>
            <a:off x="762000" y="2159000"/>
            <a:ext cx="5207000" cy="2927350"/>
          </a:xfrm>
          <a:prstGeom prst="rect">
            <a:avLst/>
          </a:prstGeom>
          <a:solidFill>
            <a:srgbClr val="E7ECF1"/>
          </a:solidFill>
          <a:ln>
            <a:noFill/>
          </a:ln>
        </p:spPr>
        <p:txBody>
          <a:bodyPr wrap="square" lIns="0" tIns="0" rIns="0" bIns="0" anchor="ctr">
            <a:noAutofit/>
          </a:bodyPr>
          <a:lstStyle>
            <a:lvl1pPr marL="0" indent="0" algn="ctr">
              <a:spcBef>
                <a:spcPts val="0"/>
              </a:spcBef>
              <a:spcAft>
                <a:spcPts val="0"/>
              </a:spcAft>
              <a:buNone/>
              <a:defRPr sz="1300" b="0" i="0">
                <a:solidFill>
                  <a:srgbClr val="4A6079"/>
                </a:solidFill>
                <a:latin typeface="IBM Plex Sans"/>
                <a:ea typeface="IBM Plex Sans"/>
                <a:cs typeface="IBM Plex Sans"/>
              </a:defRPr>
            </a:lvl1pPr>
          </a:lstStyle>
          <a:p>
            <a:r>
              <a:rPr lang="de-DE" dirty="0"/>
              <a:t>Foto einfügen</a:t>
            </a:r>
          </a:p>
        </p:txBody>
      </p:sp>
      <p:sp>
        <p:nvSpPr>
          <p:cNvPr id="8" name="PhotoRight"/>
          <p:cNvSpPr>
            <a:spLocks noGrp="1"/>
          </p:cNvSpPr>
          <p:nvPr>
            <p:ph type="pic" idx="32" hasCustomPrompt="1"/>
          </p:nvPr>
        </p:nvSpPr>
        <p:spPr>
          <a:xfrm>
            <a:off x="6223000" y="2159000"/>
            <a:ext cx="5207000" cy="2927350"/>
          </a:xfrm>
          <a:prstGeom prst="rect">
            <a:avLst/>
          </a:prstGeom>
          <a:solidFill>
            <a:srgbClr val="E7ECF1"/>
          </a:solidFill>
          <a:ln>
            <a:noFill/>
          </a:ln>
        </p:spPr>
        <p:txBody>
          <a:bodyPr wrap="square" lIns="0" tIns="0" rIns="0" bIns="0" anchor="ctr">
            <a:noAutofit/>
          </a:bodyPr>
          <a:lstStyle>
            <a:lvl1pPr marL="0" indent="0" algn="ctr">
              <a:spcBef>
                <a:spcPts val="0"/>
              </a:spcBef>
              <a:spcAft>
                <a:spcPts val="0"/>
              </a:spcAft>
              <a:buNone/>
              <a:defRPr sz="1300" b="0" i="0">
                <a:solidFill>
                  <a:srgbClr val="4A6079"/>
                </a:solidFill>
                <a:latin typeface="IBM Plex Sans"/>
                <a:ea typeface="IBM Plex Sans"/>
                <a:cs typeface="IBM Plex Sans"/>
              </a:defRPr>
            </a:lvl1pPr>
          </a:lstStyle>
          <a:p>
            <a:r>
              <a:rPr lang="de-DE" dirty="0"/>
              <a:t>Foto einfügen</a:t>
            </a:r>
          </a:p>
        </p:txBody>
      </p:sp>
      <p:sp>
        <p:nvSpPr>
          <p:cNvPr id="9" name="LabelLeft"/>
          <p:cNvSpPr>
            <a:spLocks noGrp="1"/>
          </p:cNvSpPr>
          <p:nvPr>
            <p:ph type="body" idx="33" hasCustomPrompt="1"/>
          </p:nvPr>
        </p:nvSpPr>
        <p:spPr>
          <a:xfrm>
            <a:off x="762000" y="5232400"/>
            <a:ext cx="5207000" cy="279400"/>
          </a:xfrm>
          <a:prstGeom prst="rect">
            <a:avLst/>
          </a:prstGeom>
          <a:noFill/>
          <a:ln>
            <a:noFill/>
          </a:ln>
        </p:spPr>
        <p:txBody>
          <a:bodyPr wrap="square" lIns="0" tIns="0" rIns="0" bIns="0" anchor="t">
            <a:noAutofit/>
          </a:bodyPr>
          <a:lstStyle>
            <a:lvl1pPr marL="0" indent="0" algn="l">
              <a:spcBef>
                <a:spcPts val="0"/>
              </a:spcBef>
              <a:spcAft>
                <a:spcPts val="0"/>
              </a:spcAft>
              <a:buNone/>
              <a:defRPr sz="2100" b="0" i="0">
                <a:solidFill>
                  <a:srgbClr val="043751"/>
                </a:solidFill>
                <a:latin typeface="Archivo SemiBold"/>
                <a:ea typeface="Archivo SemiBold"/>
                <a:cs typeface="Archivo SemiBold"/>
              </a:defRPr>
            </a:lvl1pPr>
          </a:lstStyle>
          <a:p>
            <a:r>
              <a:rPr lang="de-DE" dirty="0"/>
              <a:t>Links</a:t>
            </a:r>
          </a:p>
        </p:txBody>
      </p:sp>
      <p:sp>
        <p:nvSpPr>
          <p:cNvPr id="10" name="LabelRight"/>
          <p:cNvSpPr>
            <a:spLocks noGrp="1"/>
          </p:cNvSpPr>
          <p:nvPr>
            <p:ph type="body" idx="34" hasCustomPrompt="1"/>
          </p:nvPr>
        </p:nvSpPr>
        <p:spPr>
          <a:xfrm>
            <a:off x="6223000" y="5232400"/>
            <a:ext cx="5207000" cy="279400"/>
          </a:xfrm>
          <a:prstGeom prst="rect">
            <a:avLst/>
          </a:prstGeom>
          <a:noFill/>
          <a:ln>
            <a:noFill/>
          </a:ln>
        </p:spPr>
        <p:txBody>
          <a:bodyPr wrap="square" lIns="0" tIns="0" rIns="0" bIns="0" anchor="t">
            <a:noAutofit/>
          </a:bodyPr>
          <a:lstStyle>
            <a:lvl1pPr marL="0" indent="0" algn="l">
              <a:spcBef>
                <a:spcPts val="0"/>
              </a:spcBef>
              <a:spcAft>
                <a:spcPts val="0"/>
              </a:spcAft>
              <a:buNone/>
              <a:defRPr sz="2100" b="0" i="0">
                <a:solidFill>
                  <a:srgbClr val="043751"/>
                </a:solidFill>
                <a:latin typeface="Archivo SemiBold"/>
                <a:ea typeface="Archivo SemiBold"/>
                <a:cs typeface="Archivo SemiBold"/>
              </a:defRPr>
            </a:lvl1pPr>
          </a:lstStyle>
          <a:p>
            <a:r>
              <a:rPr lang="de-DE" dirty="0"/>
              <a:t>Rechts</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8 Foto mit Markierungen">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7" name="Photo"/>
          <p:cNvSpPr>
            <a:spLocks noGrp="1"/>
          </p:cNvSpPr>
          <p:nvPr>
            <p:ph type="pic" idx="15" hasCustomPrompt="1"/>
          </p:nvPr>
        </p:nvSpPr>
        <p:spPr>
          <a:xfrm>
            <a:off x="762000" y="2095500"/>
            <a:ext cx="6350000" cy="3575050"/>
          </a:xfrm>
          <a:prstGeom prst="rect">
            <a:avLst/>
          </a:prstGeom>
          <a:solidFill>
            <a:srgbClr val="E7ECF1"/>
          </a:solidFill>
          <a:ln>
            <a:noFill/>
          </a:ln>
        </p:spPr>
        <p:txBody>
          <a:bodyPr wrap="square" lIns="0" tIns="0" rIns="0" bIns="0" anchor="ctr">
            <a:noAutofit/>
          </a:bodyPr>
          <a:lstStyle>
            <a:lvl1pPr marL="0" indent="0" algn="ctr">
              <a:spcBef>
                <a:spcPts val="0"/>
              </a:spcBef>
              <a:spcAft>
                <a:spcPts val="0"/>
              </a:spcAft>
              <a:buNone/>
              <a:defRPr sz="1300" b="0" i="0">
                <a:solidFill>
                  <a:srgbClr val="4A6079"/>
                </a:solidFill>
                <a:latin typeface="IBM Plex Sans"/>
                <a:ea typeface="IBM Plex Sans"/>
                <a:cs typeface="IBM Plex Sans"/>
              </a:defRPr>
            </a:lvl1pPr>
          </a:lstStyle>
          <a:p>
            <a:r>
              <a:rPr lang="de-DE" dirty="0"/>
              <a:t>Foto einfügen</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9 Praxisfall">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
        <p:nvSpPr>
          <p:cNvPr id="7" name="Story"/>
          <p:cNvSpPr>
            <a:spLocks noGrp="1"/>
          </p:cNvSpPr>
          <p:nvPr>
            <p:ph type="body" idx="35" hasCustomPrompt="1"/>
          </p:nvPr>
        </p:nvSpPr>
        <p:spPr>
          <a:xfrm>
            <a:off x="762000" y="2133600"/>
            <a:ext cx="9906000" cy="952500"/>
          </a:xfrm>
          <a:prstGeom prst="rect">
            <a:avLst/>
          </a:prstGeom>
          <a:noFill/>
          <a:ln>
            <a:noFill/>
          </a:ln>
        </p:spPr>
        <p:txBody>
          <a:bodyPr wrap="square" lIns="0" tIns="0" rIns="0" bIns="0" anchor="t">
            <a:noAutofit/>
          </a:bodyPr>
          <a:lstStyle>
            <a:lvl1pPr marL="0" indent="0" algn="l">
              <a:lnSpc>
                <a:spcPct val="110000"/>
              </a:lnSpc>
              <a:spcBef>
                <a:spcPts val="0"/>
              </a:spcBef>
              <a:spcAft>
                <a:spcPts val="0"/>
              </a:spcAft>
              <a:buNone/>
              <a:defRPr sz="2400" b="0" i="0">
                <a:solidFill>
                  <a:srgbClr val="043751"/>
                </a:solidFill>
                <a:latin typeface="Archivo"/>
                <a:ea typeface="Archivo"/>
                <a:cs typeface="Archivo"/>
              </a:defRPr>
            </a:lvl1pPr>
          </a:lstStyle>
          <a:p>
            <a:r>
              <a:rPr lang="de-DE" dirty="0"/>
              <a:t>Der Fall in zwei, drei Sätzen.</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0 Zitat">
    <p:bg>
      <p:bgPr>
        <a:solidFill>
          <a:srgbClr val="043751"/>
        </a:solidFill>
        <a:effectLst/>
      </p:bgPr>
    </p:bg>
    <p:spTree>
      <p:nvGrpSpPr>
        <p:cNvPr id="1" name=""/>
        <p:cNvGrpSpPr/>
        <p:nvPr/>
      </p:nvGrpSpPr>
      <p:grpSpPr>
        <a:xfrm>
          <a:off x="0" y="0"/>
          <a:ext cx="0" cy="0"/>
          <a:chOff x="0" y="0"/>
          <a:chExt cx="0" cy="0"/>
        </a:xfrm>
      </p:grpSpPr>
      <p:pic>
        <p:nvPicPr>
          <p:cNvPr id="2" name="head-logo" descr="logo-white.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325C72"/>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325C72"/>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8FC65A"/>
                </a:solidFill>
                <a:latin typeface="IBM Plex Mono Medium"/>
                <a:ea typeface="IBM Plex Mono Medium"/>
                <a:cs typeface="IBM Plex Mono Medium"/>
              </a:defRPr>
            </a:lvl1pPr>
          </a:lstStyle>
          <a:p>
            <a:r>
              <a:rPr lang="de-DE" dirty="0"/>
              <a:t>Kapitel · Thema</a:t>
            </a:r>
          </a:p>
        </p:txBody>
      </p:sp>
      <p:sp>
        <p:nvSpPr>
          <p:cNvPr id="6" name="Photo"/>
          <p:cNvSpPr>
            <a:spLocks noGrp="1"/>
          </p:cNvSpPr>
          <p:nvPr>
            <p:ph type="pic" idx="15" hasCustomPrompt="1"/>
          </p:nvPr>
        </p:nvSpPr>
        <p:spPr>
          <a:xfrm>
            <a:off x="762000" y="1587500"/>
            <a:ext cx="3048000" cy="3810000"/>
          </a:xfrm>
          <a:prstGeom prst="rect">
            <a:avLst/>
          </a:prstGeom>
          <a:solidFill>
            <a:srgbClr val="E7ECF1"/>
          </a:solidFill>
          <a:ln>
            <a:noFill/>
          </a:ln>
        </p:spPr>
        <p:txBody>
          <a:bodyPr wrap="square" lIns="0" tIns="0" rIns="0" bIns="0" anchor="ctr">
            <a:noAutofit/>
          </a:bodyPr>
          <a:lstStyle>
            <a:lvl1pPr marL="0" indent="0" algn="ctr">
              <a:spcBef>
                <a:spcPts val="0"/>
              </a:spcBef>
              <a:spcAft>
                <a:spcPts val="0"/>
              </a:spcAft>
              <a:buNone/>
              <a:defRPr sz="1300" b="0" i="0">
                <a:solidFill>
                  <a:srgbClr val="4A6079"/>
                </a:solidFill>
                <a:latin typeface="IBM Plex Sans"/>
                <a:ea typeface="IBM Plex Sans"/>
                <a:cs typeface="IBM Plex Sans"/>
              </a:defRPr>
            </a:lvl1pPr>
          </a:lstStyle>
          <a:p>
            <a:r>
              <a:rPr lang="de-DE" dirty="0"/>
              <a:t>Foto einfügen</a:t>
            </a:r>
          </a:p>
        </p:txBody>
      </p:sp>
      <p:sp>
        <p:nvSpPr>
          <p:cNvPr id="7" name="Quote"/>
          <p:cNvSpPr>
            <a:spLocks noGrp="1"/>
          </p:cNvSpPr>
          <p:nvPr>
            <p:ph type="body" idx="18" hasCustomPrompt="1"/>
          </p:nvPr>
        </p:nvSpPr>
        <p:spPr>
          <a:xfrm>
            <a:off x="4572000" y="1587500"/>
            <a:ext cx="6858000" cy="2857500"/>
          </a:xfrm>
          <a:prstGeom prst="rect">
            <a:avLst/>
          </a:prstGeom>
          <a:noFill/>
          <a:ln>
            <a:noFill/>
          </a:ln>
        </p:spPr>
        <p:txBody>
          <a:bodyPr wrap="square" lIns="0" tIns="0" rIns="0" bIns="0" anchor="t">
            <a:noAutofit/>
          </a:bodyPr>
          <a:lstStyle>
            <a:lvl1pPr marL="0" indent="0" algn="l">
              <a:lnSpc>
                <a:spcPct val="115000"/>
              </a:lnSpc>
              <a:spcBef>
                <a:spcPts val="0"/>
              </a:spcBef>
              <a:spcAft>
                <a:spcPts val="0"/>
              </a:spcAft>
              <a:buNone/>
              <a:defRPr sz="3400" b="0" i="0">
                <a:solidFill>
                  <a:srgbClr val="FFFFFF"/>
                </a:solidFill>
                <a:latin typeface="Archivo"/>
                <a:ea typeface="Archivo"/>
                <a:cs typeface="Archivo"/>
              </a:defRPr>
            </a:lvl1pPr>
          </a:lstStyle>
          <a:p>
            <a:r>
              <a:rPr lang="de-DE" dirty="0"/>
              <a:t>„Zitat in zwei bis vier Zeilen.“</a:t>
            </a:r>
          </a:p>
        </p:txBody>
      </p:sp>
      <p:sp>
        <p:nvSpPr>
          <p:cNvPr id="8" name="Name"/>
          <p:cNvSpPr>
            <a:spLocks noGrp="1"/>
          </p:cNvSpPr>
          <p:nvPr>
            <p:ph type="body" idx="38" hasCustomPrompt="1"/>
          </p:nvPr>
        </p:nvSpPr>
        <p:spPr>
          <a:xfrm>
            <a:off x="4572000" y="4699000"/>
            <a:ext cx="6858000" cy="355600"/>
          </a:xfrm>
          <a:prstGeom prst="rect">
            <a:avLst/>
          </a:prstGeom>
          <a:noFill/>
          <a:ln>
            <a:noFill/>
          </a:ln>
        </p:spPr>
        <p:txBody>
          <a:bodyPr wrap="square" lIns="0" tIns="0" rIns="0" bIns="0" anchor="t">
            <a:noAutofit/>
          </a:bodyPr>
          <a:lstStyle>
            <a:lvl1pPr marL="0" indent="0" algn="l">
              <a:spcBef>
                <a:spcPts val="0"/>
              </a:spcBef>
              <a:spcAft>
                <a:spcPts val="0"/>
              </a:spcAft>
              <a:buNone/>
              <a:defRPr sz="2400" b="0" i="0">
                <a:solidFill>
                  <a:srgbClr val="FFFFFF"/>
                </a:solidFill>
                <a:latin typeface="Archivo SemiBold"/>
                <a:ea typeface="Archivo SemiBold"/>
                <a:cs typeface="Archivo SemiBold"/>
              </a:defRPr>
            </a:lvl1pPr>
          </a:lstStyle>
          <a:p>
            <a:r>
              <a:rPr lang="de-DE" dirty="0"/>
              <a:t>Name</a:t>
            </a:r>
          </a:p>
        </p:txBody>
      </p:sp>
      <p:sp>
        <p:nvSpPr>
          <p:cNvPr id="9" name="Role"/>
          <p:cNvSpPr>
            <a:spLocks noGrp="1"/>
          </p:cNvSpPr>
          <p:nvPr>
            <p:ph type="body" idx="39" hasCustomPrompt="1"/>
          </p:nvPr>
        </p:nvSpPr>
        <p:spPr>
          <a:xfrm>
            <a:off x="4572000" y="5080000"/>
            <a:ext cx="685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100" b="0" i="0" cap="all" spc="110">
                <a:solidFill>
                  <a:srgbClr val="A3B6C9"/>
                </a:solidFill>
                <a:latin typeface="IBM Plex Mono Medium"/>
                <a:ea typeface="IBM Plex Mono Medium"/>
                <a:cs typeface="IBM Plex Mono Medium"/>
              </a:defRPr>
            </a:lvl1pPr>
          </a:lstStyle>
          <a:p>
            <a:r>
              <a:rPr lang="de-DE" dirty="0"/>
              <a:t>Funktion</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1 Wissenscheck">
    <p:bg>
      <p:bgPr>
        <a:solidFill>
          <a:srgbClr val="043751"/>
        </a:solidFill>
        <a:effectLst/>
      </p:bgPr>
    </p:bg>
    <p:spTree>
      <p:nvGrpSpPr>
        <p:cNvPr id="1" name=""/>
        <p:cNvGrpSpPr/>
        <p:nvPr/>
      </p:nvGrpSpPr>
      <p:grpSpPr>
        <a:xfrm>
          <a:off x="0" y="0"/>
          <a:ext cx="0" cy="0"/>
          <a:chOff x="0" y="0"/>
          <a:chExt cx="0" cy="0"/>
        </a:xfrm>
      </p:grpSpPr>
      <p:pic>
        <p:nvPicPr>
          <p:cNvPr id="2" name="head-logo" descr="logo-white.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325C72"/>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325C72"/>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8FC65A"/>
                </a:solidFill>
                <a:latin typeface="IBM Plex Mono Medium"/>
                <a:ea typeface="IBM Plex Mono Medium"/>
                <a:cs typeface="IBM Plex Mono Medium"/>
              </a:defRPr>
            </a:lvl1pPr>
          </a:lstStyle>
          <a:p>
            <a:r>
              <a:rPr lang="de-DE" dirty="0"/>
              <a:t>Kapitel · Thema</a:t>
            </a:r>
          </a:p>
        </p:txBody>
      </p:sp>
      <p:sp>
        <p:nvSpPr>
          <p:cNvPr id="6" name="Question"/>
          <p:cNvSpPr>
            <a:spLocks noGrp="1"/>
          </p:cNvSpPr>
          <p:nvPr>
            <p:ph type="body" idx="36" hasCustomPrompt="1"/>
          </p:nvPr>
        </p:nvSpPr>
        <p:spPr>
          <a:xfrm>
            <a:off x="762000" y="1270000"/>
            <a:ext cx="9906000" cy="1460500"/>
          </a:xfrm>
          <a:prstGeom prst="rect">
            <a:avLst/>
          </a:prstGeom>
          <a:noFill/>
          <a:ln>
            <a:noFill/>
          </a:ln>
        </p:spPr>
        <p:txBody>
          <a:bodyPr wrap="square" lIns="0" tIns="0" rIns="0" bIns="0" anchor="t">
            <a:noAutofit/>
          </a:bodyPr>
          <a:lstStyle>
            <a:lvl1pPr marL="0" indent="0" algn="l">
              <a:lnSpc>
                <a:spcPct val="105000"/>
              </a:lnSpc>
              <a:spcBef>
                <a:spcPts val="0"/>
              </a:spcBef>
              <a:spcAft>
                <a:spcPts val="0"/>
              </a:spcAft>
              <a:buNone/>
              <a:defRPr sz="3400" b="0" i="0">
                <a:solidFill>
                  <a:srgbClr val="FFFFFF"/>
                </a:solidFill>
                <a:latin typeface="Archivo SemiBold"/>
                <a:ea typeface="Archivo SemiBold"/>
                <a:cs typeface="Archivo SemiBold"/>
              </a:defRPr>
            </a:lvl1pPr>
          </a:lstStyle>
          <a:p>
            <a:r>
              <a:rPr lang="de-DE" dirty="0"/>
              <a:t>Frage?</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2 Zusammenfassung">
    <p:bg>
      <p:bgPr>
        <a:solidFill>
          <a:srgbClr val="FFFFFF"/>
        </a:solidFill>
        <a:effectLst/>
      </p:bgPr>
    </p:bg>
    <p:spTree>
      <p:nvGrpSpPr>
        <p:cNvPr id="1" name=""/>
        <p:cNvGrpSpPr/>
        <p:nvPr/>
      </p:nvGrpSpPr>
      <p:grpSpPr>
        <a:xfrm>
          <a:off x="0" y="0"/>
          <a:ext cx="0" cy="0"/>
          <a:chOff x="0" y="0"/>
          <a:chExt cx="0" cy="0"/>
        </a:xfrm>
      </p:grpSpPr>
      <p:pic>
        <p:nvPicPr>
          <p:cNvPr id="2" name="head-logo" descr="logo-navy.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D9D9D9"/>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D9D9D9"/>
          </a:solidFill>
          <a:ln>
            <a:noFill/>
          </a:ln>
        </p:spPr>
        <p:txBody>
          <a:bodyPr rtlCol="0" anchor="ctr"/>
          <a:lstStyle/>
          <a:p>
            <a:pPr algn="ctr"/>
          </a:p>
        </p:txBody>
      </p:sp>
      <p:sp>
        <p:nvSpPr>
          <p:cNvPr id="5"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4F7A1E"/>
                </a:solidFill>
                <a:latin typeface="IBM Plex Mono Medium"/>
                <a:ea typeface="IBM Plex Mono Medium"/>
                <a:cs typeface="IBM Plex Mono Medium"/>
              </a:defRPr>
            </a:lvl1pPr>
          </a:lstStyle>
          <a:p>
            <a:r>
              <a:rPr lang="de-DE" dirty="0"/>
              <a:t>Kapitel · Thema</a:t>
            </a:r>
          </a:p>
        </p:txBody>
      </p:sp>
      <p:sp>
        <p:nvSpPr>
          <p:cNvPr id="6"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043751"/>
                </a:solidFill>
                <a:latin typeface="Archivo SemiBold"/>
                <a:ea typeface="Archivo SemiBold"/>
                <a:cs typeface="Archivo SemiBold"/>
              </a:defRPr>
            </a:lvl1pPr>
          </a:lstStyle>
          <a:p>
            <a:r>
              <a:rPr lang="de-DE" dirty="0"/>
              <a:t>Folientitel</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3 Abschluss">
    <p:bg>
      <p:bgPr>
        <a:solidFill>
          <a:srgbClr val="043751"/>
        </a:solidFill>
        <a:effectLst/>
      </p:bgPr>
    </p:bg>
    <p:spTree>
      <p:nvGrpSpPr>
        <p:cNvPr id="1" name=""/>
        <p:cNvGrpSpPr/>
        <p:nvPr/>
      </p:nvGrpSpPr>
      <p:grpSpPr>
        <a:xfrm>
          <a:off x="0" y="0"/>
          <a:ext cx="0" cy="0"/>
          <a:chOff x="0" y="0"/>
          <a:chExt cx="0" cy="0"/>
        </a:xfrm>
      </p:grpSpPr>
      <p:pic>
        <p:nvPicPr>
          <p:cNvPr id="2" name="head-logo" descr="logo-white.png"/>
          <p:cNvPicPr>
            <a:picLocks noChangeAspect="1"/>
          </p:cNvPicPr>
          <p:nvPr/>
        </p:nvPicPr>
        <p:blipFill>
          <a:blip r:embed="rId2"/>
          <a:stretch>
            <a:fillRect/>
          </a:stretch>
        </p:blipFill>
        <p:spPr>
          <a:xfrm>
            <a:off x="762000" y="254000"/>
            <a:ext cx="1219200" cy="203200"/>
          </a:xfrm>
          <a:prstGeom prst="rect">
            <a:avLst/>
          </a:prstGeom>
        </p:spPr>
      </p:pic>
      <p:sp>
        <p:nvSpPr>
          <p:cNvPr id="3" name="head-line"/>
          <p:cNvSpPr/>
          <p:nvPr/>
        </p:nvSpPr>
        <p:spPr>
          <a:xfrm>
            <a:off x="0" y="704850"/>
            <a:ext cx="12192000" cy="12700"/>
          </a:xfrm>
          <a:prstGeom prst="rect">
            <a:avLst/>
          </a:prstGeom>
          <a:solidFill>
            <a:srgbClr val="325C72"/>
          </a:solidFill>
          <a:ln>
            <a:noFill/>
          </a:ln>
        </p:spPr>
        <p:txBody>
          <a:bodyPr rtlCol="0" anchor="ctr"/>
          <a:lstStyle/>
          <a:p>
            <a:pPr algn="ctr"/>
          </a:p>
        </p:txBody>
      </p:sp>
      <p:sp>
        <p:nvSpPr>
          <p:cNvPr id="4" name="foot-line"/>
          <p:cNvSpPr/>
          <p:nvPr/>
        </p:nvSpPr>
        <p:spPr>
          <a:xfrm>
            <a:off x="762000" y="6242050"/>
            <a:ext cx="10668000" cy="12700"/>
          </a:xfrm>
          <a:prstGeom prst="rect">
            <a:avLst/>
          </a:prstGeom>
          <a:solidFill>
            <a:srgbClr val="325C72"/>
          </a:solidFill>
          <a:ln>
            <a:noFill/>
          </a:ln>
        </p:spPr>
        <p:txBody>
          <a:bodyPr rtlCol="0" anchor="ctr"/>
          <a:lstStyle/>
          <a:p>
            <a:pPr algn="ctr"/>
          </a:p>
        </p:txBody>
      </p:sp>
      <p:sp>
        <p:nvSpPr>
          <p:cNvPr id="5" name="next-card"/>
          <p:cNvSpPr/>
          <p:nvPr/>
        </p:nvSpPr>
        <p:spPr>
          <a:xfrm>
            <a:off x="7366000" y="2159000"/>
            <a:ext cx="4064000" cy="2667000"/>
          </a:xfrm>
          <a:prstGeom prst="rect">
            <a:avLst/>
          </a:prstGeom>
          <a:solidFill>
            <a:srgbClr val="032C41"/>
          </a:solidFill>
          <a:ln>
            <a:noFill/>
          </a:ln>
        </p:spPr>
        <p:txBody>
          <a:bodyPr rtlCol="0" anchor="ctr"/>
          <a:lstStyle/>
          <a:p>
            <a:pPr algn="ctr"/>
          </a:p>
        </p:txBody>
      </p:sp>
      <p:sp>
        <p:nvSpPr>
          <p:cNvPr id="6" name="next-card-accent"/>
          <p:cNvSpPr/>
          <p:nvPr/>
        </p:nvSpPr>
        <p:spPr>
          <a:xfrm>
            <a:off x="7366000" y="2159000"/>
            <a:ext cx="38100" cy="2667000"/>
          </a:xfrm>
          <a:prstGeom prst="rect">
            <a:avLst/>
          </a:prstGeom>
          <a:solidFill>
            <a:srgbClr val="6EA52E"/>
          </a:solidFill>
          <a:ln>
            <a:noFill/>
          </a:ln>
        </p:spPr>
        <p:txBody>
          <a:bodyPr rtlCol="0" anchor="ctr"/>
          <a:lstStyle/>
          <a:p>
            <a:pPr algn="ctr"/>
          </a:p>
        </p:txBody>
      </p:sp>
      <p:sp>
        <p:nvSpPr>
          <p:cNvPr id="7" name="Kicker"/>
          <p:cNvSpPr>
            <a:spLocks noGrp="1"/>
          </p:cNvSpPr>
          <p:nvPr>
            <p:ph type="body" idx="11" hasCustomPrompt="1"/>
          </p:nvPr>
        </p:nvSpPr>
        <p:spPr>
          <a:xfrm>
            <a:off x="762000" y="1003300"/>
            <a:ext cx="10668000" cy="228600"/>
          </a:xfrm>
          <a:prstGeom prst="rect">
            <a:avLst/>
          </a:prstGeom>
          <a:noFill/>
          <a:ln>
            <a:noFill/>
          </a:ln>
        </p:spPr>
        <p:txBody>
          <a:bodyPr wrap="square" lIns="0" tIns="0" rIns="0" bIns="0" anchor="t">
            <a:noAutofit/>
          </a:bodyPr>
          <a:lstStyle>
            <a:lvl1pPr marL="0" indent="0" algn="l">
              <a:spcBef>
                <a:spcPts val="0"/>
              </a:spcBef>
              <a:spcAft>
                <a:spcPts val="0"/>
              </a:spcAft>
              <a:buNone/>
              <a:defRPr sz="1300" b="0" i="0" cap="all" spc="182">
                <a:solidFill>
                  <a:srgbClr val="8FC65A"/>
                </a:solidFill>
                <a:latin typeface="IBM Plex Mono Medium"/>
                <a:ea typeface="IBM Plex Mono Medium"/>
                <a:cs typeface="IBM Plex Mono Medium"/>
              </a:defRPr>
            </a:lvl1pPr>
          </a:lstStyle>
          <a:p>
            <a:r>
              <a:rPr lang="de-DE" dirty="0"/>
              <a:t>Kapitel · Thema</a:t>
            </a:r>
          </a:p>
        </p:txBody>
      </p:sp>
      <p:sp>
        <p:nvSpPr>
          <p:cNvPr id="8" name="Title"/>
          <p:cNvSpPr>
            <a:spLocks noGrp="1"/>
          </p:cNvSpPr>
          <p:nvPr>
            <p:ph type="title" hasCustomPrompt="1"/>
          </p:nvPr>
        </p:nvSpPr>
        <p:spPr>
          <a:xfrm>
            <a:off x="742950" y="1244600"/>
            <a:ext cx="10668000" cy="698500"/>
          </a:xfrm>
          <a:prstGeom prst="rect">
            <a:avLst/>
          </a:prstGeom>
          <a:noFill/>
          <a:ln>
            <a:noFill/>
          </a:ln>
        </p:spPr>
        <p:txBody>
          <a:bodyPr wrap="square" lIns="0" tIns="0" rIns="0" bIns="0" anchor="t">
            <a:noAutofit/>
          </a:bodyPr>
          <a:lstStyle>
            <a:lvl1pPr marL="0" indent="0" algn="l">
              <a:spcBef>
                <a:spcPts val="0"/>
              </a:spcBef>
              <a:spcAft>
                <a:spcPts val="0"/>
              </a:spcAft>
              <a:buNone/>
              <a:defRPr sz="4000" b="0" i="0">
                <a:solidFill>
                  <a:srgbClr val="FFFFFF"/>
                </a:solidFill>
                <a:latin typeface="Archivo SemiBold"/>
                <a:ea typeface="Archivo SemiBold"/>
                <a:cs typeface="Archivo SemiBold"/>
              </a:defRPr>
            </a:lvl1pPr>
          </a:lstStyle>
          <a:p>
            <a:r>
              <a:rPr lang="de-DE" dirty="0"/>
              <a:t>Folientitel</a:t>
            </a:r>
          </a:p>
        </p:txBody>
      </p:sp>
      <p:sp>
        <p:nvSpPr>
          <p:cNvPr id="9" name="NextLabel"/>
          <p:cNvSpPr>
            <a:spLocks noGrp="1"/>
          </p:cNvSpPr>
          <p:nvPr>
            <p:ph type="body" idx="23" hasCustomPrompt="1"/>
          </p:nvPr>
        </p:nvSpPr>
        <p:spPr>
          <a:xfrm>
            <a:off x="7683500" y="2438400"/>
            <a:ext cx="3429000" cy="190500"/>
          </a:xfrm>
          <a:prstGeom prst="rect">
            <a:avLst/>
          </a:prstGeom>
          <a:noFill/>
          <a:ln>
            <a:noFill/>
          </a:ln>
        </p:spPr>
        <p:txBody>
          <a:bodyPr wrap="square" lIns="0" tIns="0" rIns="0" bIns="0" anchor="t">
            <a:noAutofit/>
          </a:bodyPr>
          <a:lstStyle>
            <a:lvl1pPr marL="0" indent="0" algn="l">
              <a:spcBef>
                <a:spcPts val="0"/>
              </a:spcBef>
              <a:spcAft>
                <a:spcPts val="0"/>
              </a:spcAft>
              <a:buNone/>
              <a:defRPr sz="1100" b="0" i="0" cap="all" spc="110">
                <a:solidFill>
                  <a:srgbClr val="8FC65A"/>
                </a:solidFill>
                <a:latin typeface="IBM Plex Mono Medium"/>
                <a:ea typeface="IBM Plex Mono Medium"/>
                <a:cs typeface="IBM Plex Mono Medium"/>
              </a:defRPr>
            </a:lvl1pPr>
          </a:lstStyle>
          <a:p>
            <a:r>
              <a:rPr lang="de-DE" dirty="0"/>
              <a:t>Kontakt</a:t>
            </a:r>
          </a:p>
        </p:txBody>
      </p:sp>
      <p:sp>
        <p:nvSpPr>
          <p:cNvPr id="10" name="NextTitle"/>
          <p:cNvSpPr>
            <a:spLocks noGrp="1"/>
          </p:cNvSpPr>
          <p:nvPr>
            <p:ph type="body" idx="24" hasCustomPrompt="1"/>
          </p:nvPr>
        </p:nvSpPr>
        <p:spPr>
          <a:xfrm>
            <a:off x="7683500" y="2717800"/>
            <a:ext cx="3429000" cy="635000"/>
          </a:xfrm>
          <a:prstGeom prst="rect">
            <a:avLst/>
          </a:prstGeom>
          <a:noFill/>
          <a:ln>
            <a:noFill/>
          </a:ln>
        </p:spPr>
        <p:txBody>
          <a:bodyPr wrap="square" lIns="0" tIns="0" rIns="0" bIns="0" anchor="t">
            <a:noAutofit/>
          </a:bodyPr>
          <a:lstStyle>
            <a:lvl1pPr marL="0" indent="0" algn="l">
              <a:spcBef>
                <a:spcPts val="0"/>
              </a:spcBef>
              <a:spcAft>
                <a:spcPts val="0"/>
              </a:spcAft>
              <a:buNone/>
              <a:defRPr sz="2600" b="0" i="0">
                <a:solidFill>
                  <a:srgbClr val="FFFFFF"/>
                </a:solidFill>
                <a:latin typeface="Archivo SemiBold"/>
                <a:ea typeface="Archivo SemiBold"/>
                <a:cs typeface="Archivo SemiBold"/>
              </a:defRPr>
            </a:lvl1pPr>
          </a:lstStyle>
          <a:p>
            <a:r>
              <a:rPr lang="de-DE" dirty="0"/>
              <a:t>Name</a:t>
            </a:r>
          </a:p>
        </p:txBody>
      </p:sp>
      <p:sp>
        <p:nvSpPr>
          <p:cNvPr id="11" name="NextText"/>
          <p:cNvSpPr>
            <a:spLocks noGrp="1"/>
          </p:cNvSpPr>
          <p:nvPr>
            <p:ph type="body" idx="25" hasCustomPrompt="1"/>
          </p:nvPr>
        </p:nvSpPr>
        <p:spPr>
          <a:xfrm>
            <a:off x="7683500" y="3403600"/>
            <a:ext cx="3429000" cy="1206500"/>
          </a:xfrm>
          <a:prstGeom prst="rect">
            <a:avLst/>
          </a:prstGeom>
          <a:noFill/>
          <a:ln>
            <a:noFill/>
          </a:ln>
        </p:spPr>
        <p:txBody>
          <a:bodyPr wrap="square" lIns="0" tIns="0" rIns="0" bIns="0" anchor="t">
            <a:noAutofit/>
          </a:bodyPr>
          <a:lstStyle>
            <a:lvl1pPr marL="0" indent="0" algn="l">
              <a:spcBef>
                <a:spcPts val="0"/>
              </a:spcBef>
              <a:spcAft>
                <a:spcPts val="0"/>
              </a:spcAft>
              <a:buNone/>
              <a:defRPr sz="1700" b="0" i="0">
                <a:solidFill>
                  <a:srgbClr val="E8EEF4"/>
                </a:solidFill>
                <a:latin typeface="IBM Plex Sans"/>
                <a:ea typeface="IBM Plex Sans"/>
                <a:cs typeface="IBM Plex Sans"/>
              </a:defRPr>
            </a:lvl1pPr>
          </a:lstStyle>
          <a:p>
            <a:r>
              <a:rPr lang="de-DE" dirty="0"/>
              <a:t>Funktion, Telefon, E-Mail</a:t>
            </a: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theme" Target="../theme/theme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Lst>
  <p:txStyles>
    <p:titleStyle>
      <a:lvl1pPr marL="0" indent="0" algn="l" defTabSz="914400" rtl="0" eaLnBrk="1" latinLnBrk="0" hangingPunct="1">
        <a:lnSpc>
          <a:spcPct val="100000"/>
        </a:lnSpc>
        <a:spcBef>
          <a:spcPts val="0"/>
        </a:spcBef>
        <a:buNone/>
        <a:defRPr sz="4000" kern="1200">
          <a:solidFill>
            <a:srgbClr val="043751"/>
          </a:solidFill>
          <a:latin typeface="+mj-lt"/>
          <a:ea typeface="+mj-ea"/>
          <a:cs typeface="+mj-cs"/>
        </a:defRPr>
      </a:lvl1pPr>
    </p:titleStyle>
    <p:bodyStyle>
      <a:lvl1pPr marL="0" indent="0" algn="l" defTabSz="914400" rtl="0" eaLnBrk="1" latinLnBrk="0" hangingPunct="1">
        <a:lnSpc>
          <a:spcPct val="100000"/>
        </a:lnSpc>
        <a:spcBef>
          <a:spcPts val="0"/>
        </a:spcBef>
        <a:buNone/>
        <a:defRPr sz="2200" kern="1200">
          <a:solidFill>
            <a:srgbClr val="043751"/>
          </a:solidFill>
          <a:latin typeface="+mn-lt"/>
          <a:ea typeface="+mn-ea"/>
          <a:cs typeface="+mn-cs"/>
        </a:defRPr>
      </a:lvl1pPr>
      <a:lvl2pPr marL="0" indent="0" algn="l" defTabSz="914400" rtl="0" eaLnBrk="1" latinLnBrk="0" hangingPunct="1">
        <a:lnSpc>
          <a:spcPct val="100000"/>
        </a:lnSpc>
        <a:spcBef>
          <a:spcPts val="0"/>
        </a:spcBef>
        <a:buNone/>
        <a:defRPr sz="1700" kern="1200">
          <a:solidFill>
            <a:srgbClr val="4A6079"/>
          </a:solidFill>
          <a:latin typeface="+mn-lt"/>
          <a:ea typeface="+mn-ea"/>
          <a:cs typeface="+mn-cs"/>
        </a:defRPr>
      </a:lvl2pPr>
      <a:lvl3pPr marL="0" indent="0" algn="l" defTabSz="914400" rtl="0" eaLnBrk="1" latinLnBrk="0" hangingPunct="1">
        <a:lnSpc>
          <a:spcPct val="100000"/>
        </a:lnSpc>
        <a:spcBef>
          <a:spcPts val="0"/>
        </a:spcBef>
        <a:buNone/>
        <a:defRPr sz="1700" kern="1200">
          <a:solidFill>
            <a:srgbClr val="4A6079"/>
          </a:solidFill>
          <a:latin typeface="+mn-lt"/>
          <a:ea typeface="+mn-ea"/>
          <a:cs typeface="+mn-cs"/>
        </a:defRPr>
      </a:lvl3pPr>
    </p:bodyStyle>
    <p:otherStyle>
      <a:defPPr>
        <a:defRPr lang="de-DE"/>
      </a:defPPr>
      <a:lvl1pPr marL="0" indent="0" algn="l" defTabSz="914400" rtl="0" eaLnBrk="1" latinLnBrk="0" hangingPunct="1">
        <a:lnSpc>
          <a:spcPct val="100000"/>
        </a:lnSpc>
        <a:spcBef>
          <a:spcPts val="0"/>
        </a:spcBef>
        <a:buNone/>
        <a:defRPr sz="1700" kern="1200">
          <a:solidFill>
            <a:srgbClr val="043751"/>
          </a:solidFill>
          <a:latin typeface="+mn-lt"/>
          <a:ea typeface="+mn-ea"/>
          <a:cs typeface="+mn-cs"/>
        </a:defRPr>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3.jp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image" Target="../media/image8.jpg"/><Relationship Id="rId3" Type="http://schemas.openxmlformats.org/officeDocument/2006/relationships/image" Target="../media/image9.jpg"/><Relationship Id="rId4"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image9.jp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image" Target="../media/image10.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ECOWERTH · Unternehmenspräsentation</a:t>
            </a:r>
          </a:p>
        </p:txBody>
      </p:sp>
      <p:sp>
        <p:nvSpPr>
          <p:cNvPr id="3" name="Title 2"/>
          <p:cNvSpPr>
            <a:spLocks noGrp="1"/>
          </p:cNvSpPr>
          <p:nvPr>
            <p:ph type="title"/>
          </p:nvPr>
        </p:nvSpPr>
        <p:spPr/>
        <p:txBody>
          <a:bodyPr/>
          <a:lstStyle/>
          <a:p>
            <a:r>
              <a:t>Zukunft im Kreislauf</a:t>
            </a:r>
          </a:p>
        </p:txBody>
      </p:sp>
      <p:sp>
        <p:nvSpPr>
          <p:cNvPr id="4" name="Text Placeholder 3"/>
          <p:cNvSpPr>
            <a:spLocks noGrp="1"/>
          </p:cNvSpPr>
          <p:nvPr>
            <p:ph type="body" idx="12"/>
          </p:nvPr>
        </p:nvSpPr>
        <p:spPr/>
        <p:txBody>
          <a:bodyPr/>
          <a:lstStyle/>
          <a:p>
            <a:r>
              <a:t>Kreislaufwirtschaft aus einer Hand. Ganzheitlich. Rechtskonform. Nachhaltig.</a:t>
            </a:r>
          </a:p>
        </p:txBody>
      </p:sp>
      <p:sp>
        <p:nvSpPr>
          <p:cNvPr id="5" name="Text Placeholder 4"/>
          <p:cNvSpPr>
            <a:spLocks noGrp="1"/>
          </p:cNvSpPr>
          <p:nvPr>
            <p:ph type="body" idx="13"/>
          </p:nvPr>
        </p:nvSpPr>
        <p:spPr/>
        <p:txBody>
          <a:bodyPr/>
          <a:lstStyle/>
          <a:p>
            <a:r>
              <a:t>Florian Werthmann</a:t>
            </a:r>
          </a:p>
        </p:txBody>
      </p:sp>
      <p:sp>
        <p:nvSpPr>
          <p:cNvPr id="6" name="Text Placeholder 5"/>
          <p:cNvSpPr>
            <a:spLocks noGrp="1"/>
          </p:cNvSpPr>
          <p:nvPr>
            <p:ph type="body" idx="14"/>
          </p:nvPr>
        </p:nvSpPr>
        <p:spPr/>
        <p:txBody>
          <a:bodyPr/>
          <a:lstStyle/>
          <a:p>
            <a:r>
              <a:t>Geschäftsführer, ecowerth GmbH</a:t>
            </a:r>
          </a:p>
          <a:p>
            <a:r>
              <a:t>Oktober 2026 · Reichenberg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Agenda</a:t>
            </a:r>
          </a:p>
        </p:txBody>
      </p:sp>
      <p:sp>
        <p:nvSpPr>
          <p:cNvPr id="3" name="Title 2"/>
          <p:cNvSpPr>
            <a:spLocks noGrp="1"/>
          </p:cNvSpPr>
          <p:nvPr>
            <p:ph type="title"/>
          </p:nvPr>
        </p:nvSpPr>
        <p:spPr/>
        <p:txBody>
          <a:bodyPr/>
          <a:lstStyle/>
          <a:p>
            <a:r>
              <a:t>Inhalt</a:t>
            </a:r>
          </a:p>
        </p:txBody>
      </p:sp>
      <p:sp>
        <p:nvSpPr>
          <p:cNvPr id="4" name="agenda-rule"/>
          <p:cNvSpPr/>
          <p:nvPr/>
        </p:nvSpPr>
        <p:spPr>
          <a:xfrm>
            <a:off x="762000" y="2152650"/>
            <a:ext cx="10668000" cy="12700"/>
          </a:xfrm>
          <a:prstGeom prst="rect">
            <a:avLst/>
          </a:prstGeom>
          <a:solidFill>
            <a:srgbClr val="043751"/>
          </a:solidFill>
          <a:ln>
            <a:noFill/>
          </a:ln>
        </p:spPr>
        <p:txBody>
          <a:bodyPr rtlCol="0" anchor="ctr"/>
          <a:lstStyle/>
          <a:p>
            <a:pPr algn="ctr"/>
          </a:p>
        </p:txBody>
      </p:sp>
      <p:sp>
        <p:nvSpPr>
          <p:cNvPr id="5" name="agenda-num-1"/>
          <p:cNvSpPr txBox="1"/>
          <p:nvPr/>
        </p:nvSpPr>
        <p:spPr>
          <a:xfrm>
            <a:off x="762000" y="2159000"/>
            <a:ext cx="571500" cy="711200"/>
          </a:xfrm>
          <a:prstGeom prst="rect">
            <a:avLst/>
          </a:prstGeom>
          <a:noFill/>
        </p:spPr>
        <p:txBody>
          <a:bodyPr wrap="square" lIns="0" rIns="0" tIns="0" bIns="0" anchor="ctr">
            <a:noAutofit/>
          </a:bodyPr>
          <a:lstStyle/>
          <a:p>
            <a:pPr algn="l"/>
            <a:r>
              <a:rPr sz="1800" b="0" i="0" lang="de-DE">
                <a:solidFill>
                  <a:srgbClr val="4F7A1E"/>
                </a:solidFill>
                <a:latin typeface="IBM Plex Mono Medium"/>
              </a:rPr>
              <a:t>01</a:t>
            </a:r>
          </a:p>
        </p:txBody>
      </p:sp>
      <p:sp>
        <p:nvSpPr>
          <p:cNvPr id="6" name="agenda-title-1"/>
          <p:cNvSpPr txBox="1"/>
          <p:nvPr/>
        </p:nvSpPr>
        <p:spPr>
          <a:xfrm>
            <a:off x="1397000" y="2159000"/>
            <a:ext cx="4445000" cy="711200"/>
          </a:xfrm>
          <a:prstGeom prst="rect">
            <a:avLst/>
          </a:prstGeom>
          <a:noFill/>
        </p:spPr>
        <p:txBody>
          <a:bodyPr wrap="square" lIns="0" rIns="0" tIns="0" bIns="0" anchor="ctr">
            <a:noAutofit/>
          </a:bodyPr>
          <a:lstStyle/>
          <a:p>
            <a:pPr algn="l"/>
            <a:r>
              <a:rPr sz="2800" b="0" i="0" lang="de-DE">
                <a:solidFill>
                  <a:srgbClr val="043751"/>
                </a:solidFill>
                <a:latin typeface="Archivo SemiBold"/>
              </a:rPr>
              <a:t>Die Gruppe</a:t>
            </a:r>
          </a:p>
        </p:txBody>
      </p:sp>
      <p:sp>
        <p:nvSpPr>
          <p:cNvPr id="7" name="agenda-text-1"/>
          <p:cNvSpPr txBox="1"/>
          <p:nvPr/>
        </p:nvSpPr>
        <p:spPr>
          <a:xfrm>
            <a:off x="6223000" y="2159000"/>
            <a:ext cx="5207000" cy="711200"/>
          </a:xfrm>
          <a:prstGeom prst="rect">
            <a:avLst/>
          </a:prstGeom>
          <a:noFill/>
        </p:spPr>
        <p:txBody>
          <a:bodyPr wrap="square" lIns="0" rIns="0" tIns="0" bIns="0" anchor="ctr">
            <a:noAutofit/>
          </a:bodyPr>
          <a:lstStyle/>
          <a:p>
            <a:pPr algn="l"/>
            <a:r>
              <a:rPr sz="1700" b="0" i="0" lang="de-DE">
                <a:solidFill>
                  <a:srgbClr val="4A6079"/>
                </a:solidFill>
                <a:latin typeface="IBM Plex Sans"/>
              </a:rPr>
              <a:t>Vier Unternehmen. Ein Kreislauf.</a:t>
            </a:r>
          </a:p>
        </p:txBody>
      </p:sp>
      <p:sp>
        <p:nvSpPr>
          <p:cNvPr id="8" name="agenda-line-1"/>
          <p:cNvSpPr/>
          <p:nvPr/>
        </p:nvSpPr>
        <p:spPr>
          <a:xfrm>
            <a:off x="762000" y="2863850"/>
            <a:ext cx="10668000" cy="12700"/>
          </a:xfrm>
          <a:prstGeom prst="rect">
            <a:avLst/>
          </a:prstGeom>
          <a:solidFill>
            <a:srgbClr val="D9D9D9"/>
          </a:solidFill>
          <a:ln>
            <a:noFill/>
          </a:ln>
        </p:spPr>
        <p:txBody>
          <a:bodyPr rtlCol="0" anchor="ctr"/>
          <a:lstStyle/>
          <a:p>
            <a:pPr algn="ctr"/>
          </a:p>
        </p:txBody>
      </p:sp>
      <p:sp>
        <p:nvSpPr>
          <p:cNvPr id="9" name="agenda-num-2"/>
          <p:cNvSpPr txBox="1"/>
          <p:nvPr/>
        </p:nvSpPr>
        <p:spPr>
          <a:xfrm>
            <a:off x="762000" y="2870200"/>
            <a:ext cx="571500" cy="711200"/>
          </a:xfrm>
          <a:prstGeom prst="rect">
            <a:avLst/>
          </a:prstGeom>
          <a:noFill/>
        </p:spPr>
        <p:txBody>
          <a:bodyPr wrap="square" lIns="0" rIns="0" tIns="0" bIns="0" anchor="ctr">
            <a:noAutofit/>
          </a:bodyPr>
          <a:lstStyle/>
          <a:p>
            <a:pPr algn="l"/>
            <a:r>
              <a:rPr sz="1800" b="0" i="0" lang="de-DE">
                <a:solidFill>
                  <a:srgbClr val="4F7A1E"/>
                </a:solidFill>
                <a:latin typeface="IBM Plex Mono Medium"/>
              </a:rPr>
              <a:t>02</a:t>
            </a:r>
          </a:p>
        </p:txBody>
      </p:sp>
      <p:sp>
        <p:nvSpPr>
          <p:cNvPr id="10" name="agenda-title-2"/>
          <p:cNvSpPr txBox="1"/>
          <p:nvPr/>
        </p:nvSpPr>
        <p:spPr>
          <a:xfrm>
            <a:off x="1397000" y="2870200"/>
            <a:ext cx="4445000" cy="711200"/>
          </a:xfrm>
          <a:prstGeom prst="rect">
            <a:avLst/>
          </a:prstGeom>
          <a:noFill/>
        </p:spPr>
        <p:txBody>
          <a:bodyPr wrap="square" lIns="0" rIns="0" tIns="0" bIns="0" anchor="ctr">
            <a:noAutofit/>
          </a:bodyPr>
          <a:lstStyle/>
          <a:p>
            <a:pPr algn="l"/>
            <a:r>
              <a:rPr sz="2800" b="0" i="0" lang="de-DE">
                <a:solidFill>
                  <a:srgbClr val="043751"/>
                </a:solidFill>
                <a:latin typeface="Archivo SemiBold"/>
              </a:rPr>
              <a:t>Unsere Marken</a:t>
            </a:r>
          </a:p>
        </p:txBody>
      </p:sp>
      <p:sp>
        <p:nvSpPr>
          <p:cNvPr id="11" name="agenda-text-2"/>
          <p:cNvSpPr txBox="1"/>
          <p:nvPr/>
        </p:nvSpPr>
        <p:spPr>
          <a:xfrm>
            <a:off x="6223000" y="2870200"/>
            <a:ext cx="5207000" cy="711200"/>
          </a:xfrm>
          <a:prstGeom prst="rect">
            <a:avLst/>
          </a:prstGeom>
          <a:noFill/>
        </p:spPr>
        <p:txBody>
          <a:bodyPr wrap="square" lIns="0" rIns="0" tIns="0" bIns="0" anchor="ctr">
            <a:noAutofit/>
          </a:bodyPr>
          <a:lstStyle/>
          <a:p>
            <a:pPr algn="l"/>
            <a:r>
              <a:rPr sz="1700" b="0" i="0" lang="de-DE">
                <a:solidFill>
                  <a:srgbClr val="4A6079"/>
                </a:solidFill>
                <a:latin typeface="IBM Plex Sans"/>
              </a:rPr>
              <a:t>Ein Dach, drei Marken.</a:t>
            </a:r>
          </a:p>
        </p:txBody>
      </p:sp>
      <p:sp>
        <p:nvSpPr>
          <p:cNvPr id="12" name="agenda-line-2"/>
          <p:cNvSpPr/>
          <p:nvPr/>
        </p:nvSpPr>
        <p:spPr>
          <a:xfrm>
            <a:off x="762000" y="3575050"/>
            <a:ext cx="10668000" cy="12700"/>
          </a:xfrm>
          <a:prstGeom prst="rect">
            <a:avLst/>
          </a:prstGeom>
          <a:solidFill>
            <a:srgbClr val="D9D9D9"/>
          </a:solidFill>
          <a:ln>
            <a:noFill/>
          </a:ln>
        </p:spPr>
        <p:txBody>
          <a:bodyPr rtlCol="0" anchor="ctr"/>
          <a:lstStyle/>
          <a:p>
            <a:pPr algn="ctr"/>
          </a:p>
        </p:txBody>
      </p:sp>
      <p:sp>
        <p:nvSpPr>
          <p:cNvPr id="13" name="agenda-num-3"/>
          <p:cNvSpPr txBox="1"/>
          <p:nvPr/>
        </p:nvSpPr>
        <p:spPr>
          <a:xfrm>
            <a:off x="762000" y="3581400"/>
            <a:ext cx="571500" cy="711200"/>
          </a:xfrm>
          <a:prstGeom prst="rect">
            <a:avLst/>
          </a:prstGeom>
          <a:noFill/>
        </p:spPr>
        <p:txBody>
          <a:bodyPr wrap="square" lIns="0" rIns="0" tIns="0" bIns="0" anchor="ctr">
            <a:noAutofit/>
          </a:bodyPr>
          <a:lstStyle/>
          <a:p>
            <a:pPr algn="l"/>
            <a:r>
              <a:rPr sz="1800" b="0" i="0" lang="de-DE">
                <a:solidFill>
                  <a:srgbClr val="4F7A1E"/>
                </a:solidFill>
                <a:latin typeface="IBM Plex Mono Medium"/>
              </a:rPr>
              <a:t>03</a:t>
            </a:r>
          </a:p>
        </p:txBody>
      </p:sp>
      <p:sp>
        <p:nvSpPr>
          <p:cNvPr id="14" name="agenda-title-3"/>
          <p:cNvSpPr txBox="1"/>
          <p:nvPr/>
        </p:nvSpPr>
        <p:spPr>
          <a:xfrm>
            <a:off x="1397000" y="3581400"/>
            <a:ext cx="4445000" cy="711200"/>
          </a:xfrm>
          <a:prstGeom prst="rect">
            <a:avLst/>
          </a:prstGeom>
          <a:noFill/>
        </p:spPr>
        <p:txBody>
          <a:bodyPr wrap="square" lIns="0" rIns="0" tIns="0" bIns="0" anchor="ctr">
            <a:noAutofit/>
          </a:bodyPr>
          <a:lstStyle/>
          <a:p>
            <a:pPr algn="l"/>
            <a:r>
              <a:rPr sz="2800" b="0" i="0" lang="de-DE">
                <a:solidFill>
                  <a:srgbClr val="043751"/>
                </a:solidFill>
                <a:latin typeface="Archivo SemiBold"/>
              </a:rPr>
              <a:t>Leistungen</a:t>
            </a:r>
          </a:p>
        </p:txBody>
      </p:sp>
      <p:sp>
        <p:nvSpPr>
          <p:cNvPr id="15" name="agenda-text-3"/>
          <p:cNvSpPr txBox="1"/>
          <p:nvPr/>
        </p:nvSpPr>
        <p:spPr>
          <a:xfrm>
            <a:off x="6223000" y="3581400"/>
            <a:ext cx="5207000" cy="711200"/>
          </a:xfrm>
          <a:prstGeom prst="rect">
            <a:avLst/>
          </a:prstGeom>
          <a:noFill/>
        </p:spPr>
        <p:txBody>
          <a:bodyPr wrap="square" lIns="0" rIns="0" tIns="0" bIns="0" anchor="ctr">
            <a:noAutofit/>
          </a:bodyPr>
          <a:lstStyle/>
          <a:p>
            <a:pPr algn="l"/>
            <a:r>
              <a:rPr sz="1700" b="0" i="0" lang="de-DE">
                <a:solidFill>
                  <a:srgbClr val="4A6079"/>
                </a:solidFill>
                <a:latin typeface="IBM Plex Sans"/>
              </a:rPr>
              <a:t>Acht Leistungsfelder entlang der Pflichtenkette.</a:t>
            </a:r>
          </a:p>
        </p:txBody>
      </p:sp>
      <p:sp>
        <p:nvSpPr>
          <p:cNvPr id="16" name="agenda-line-3"/>
          <p:cNvSpPr/>
          <p:nvPr/>
        </p:nvSpPr>
        <p:spPr>
          <a:xfrm>
            <a:off x="762000" y="4286250"/>
            <a:ext cx="10668000" cy="12700"/>
          </a:xfrm>
          <a:prstGeom prst="rect">
            <a:avLst/>
          </a:prstGeom>
          <a:solidFill>
            <a:srgbClr val="D9D9D9"/>
          </a:solidFill>
          <a:ln>
            <a:noFill/>
          </a:ln>
        </p:spPr>
        <p:txBody>
          <a:bodyPr rtlCol="0" anchor="ctr"/>
          <a:lstStyle/>
          <a:p>
            <a:pPr algn="ctr"/>
          </a:p>
        </p:txBody>
      </p:sp>
      <p:sp>
        <p:nvSpPr>
          <p:cNvPr id="17" name="agenda-num-4"/>
          <p:cNvSpPr txBox="1"/>
          <p:nvPr/>
        </p:nvSpPr>
        <p:spPr>
          <a:xfrm>
            <a:off x="762000" y="4292600"/>
            <a:ext cx="571500" cy="711200"/>
          </a:xfrm>
          <a:prstGeom prst="rect">
            <a:avLst/>
          </a:prstGeom>
          <a:noFill/>
        </p:spPr>
        <p:txBody>
          <a:bodyPr wrap="square" lIns="0" rIns="0" tIns="0" bIns="0" anchor="ctr">
            <a:noAutofit/>
          </a:bodyPr>
          <a:lstStyle/>
          <a:p>
            <a:pPr algn="l"/>
            <a:r>
              <a:rPr sz="1800" b="0" i="0" lang="de-DE">
                <a:solidFill>
                  <a:srgbClr val="4F7A1E"/>
                </a:solidFill>
                <a:latin typeface="IBM Plex Mono Medium"/>
              </a:rPr>
              <a:t>04</a:t>
            </a:r>
          </a:p>
        </p:txBody>
      </p:sp>
      <p:sp>
        <p:nvSpPr>
          <p:cNvPr id="18" name="agenda-title-4"/>
          <p:cNvSpPr txBox="1"/>
          <p:nvPr/>
        </p:nvSpPr>
        <p:spPr>
          <a:xfrm>
            <a:off x="1397000" y="4292600"/>
            <a:ext cx="4445000" cy="711200"/>
          </a:xfrm>
          <a:prstGeom prst="rect">
            <a:avLst/>
          </a:prstGeom>
          <a:noFill/>
        </p:spPr>
        <p:txBody>
          <a:bodyPr wrap="square" lIns="0" rIns="0" tIns="0" bIns="0" anchor="ctr">
            <a:noAutofit/>
          </a:bodyPr>
          <a:lstStyle/>
          <a:p>
            <a:pPr algn="l"/>
            <a:r>
              <a:rPr sz="2800" b="0" i="0" lang="de-DE">
                <a:solidFill>
                  <a:srgbClr val="043751"/>
                </a:solidFill>
                <a:latin typeface="Archivo SemiBold"/>
              </a:rPr>
              <a:t>Rechtsrahmen</a:t>
            </a:r>
          </a:p>
        </p:txBody>
      </p:sp>
      <p:sp>
        <p:nvSpPr>
          <p:cNvPr id="19" name="agenda-text-4"/>
          <p:cNvSpPr txBox="1"/>
          <p:nvPr/>
        </p:nvSpPr>
        <p:spPr>
          <a:xfrm>
            <a:off x="6223000" y="4292600"/>
            <a:ext cx="5207000" cy="711200"/>
          </a:xfrm>
          <a:prstGeom prst="rect">
            <a:avLst/>
          </a:prstGeom>
          <a:noFill/>
        </p:spPr>
        <p:txBody>
          <a:bodyPr wrap="square" lIns="0" rIns="0" tIns="0" bIns="0" anchor="ctr">
            <a:noAutofit/>
          </a:bodyPr>
          <a:lstStyle/>
          <a:p>
            <a:pPr algn="l"/>
            <a:r>
              <a:rPr sz="1700" b="0" i="0" lang="de-DE">
                <a:solidFill>
                  <a:srgbClr val="4A6079"/>
                </a:solidFill>
                <a:latin typeface="IBM Plex Sans"/>
              </a:rPr>
              <a:t>Ihre Pflichten. Unsere Systematik.</a:t>
            </a:r>
          </a:p>
        </p:txBody>
      </p:sp>
      <p:sp>
        <p:nvSpPr>
          <p:cNvPr id="20" name="agenda-line-4"/>
          <p:cNvSpPr/>
          <p:nvPr/>
        </p:nvSpPr>
        <p:spPr>
          <a:xfrm>
            <a:off x="762000" y="4997450"/>
            <a:ext cx="10668000" cy="12700"/>
          </a:xfrm>
          <a:prstGeom prst="rect">
            <a:avLst/>
          </a:prstGeom>
          <a:solidFill>
            <a:srgbClr val="D9D9D9"/>
          </a:solidFill>
          <a:ln>
            <a:noFill/>
          </a:ln>
        </p:spPr>
        <p:txBody>
          <a:bodyPr rtlCol="0" anchor="ctr"/>
          <a:lstStyle/>
          <a:p>
            <a:pPr algn="ctr"/>
          </a:p>
        </p:txBody>
      </p:sp>
      <p:sp>
        <p:nvSpPr>
          <p:cNvPr id="21" name="agenda-num-5"/>
          <p:cNvSpPr txBox="1"/>
          <p:nvPr/>
        </p:nvSpPr>
        <p:spPr>
          <a:xfrm>
            <a:off x="762000" y="5003800"/>
            <a:ext cx="571500" cy="711200"/>
          </a:xfrm>
          <a:prstGeom prst="rect">
            <a:avLst/>
          </a:prstGeom>
          <a:noFill/>
        </p:spPr>
        <p:txBody>
          <a:bodyPr wrap="square" lIns="0" rIns="0" tIns="0" bIns="0" anchor="ctr">
            <a:noAutofit/>
          </a:bodyPr>
          <a:lstStyle/>
          <a:p>
            <a:pPr algn="l"/>
            <a:r>
              <a:rPr sz="1800" b="0" i="0" lang="de-DE">
                <a:solidFill>
                  <a:srgbClr val="4F7A1E"/>
                </a:solidFill>
                <a:latin typeface="IBM Plex Mono Medium"/>
              </a:rPr>
              <a:t>05</a:t>
            </a:r>
          </a:p>
        </p:txBody>
      </p:sp>
      <p:sp>
        <p:nvSpPr>
          <p:cNvPr id="22" name="agenda-title-5"/>
          <p:cNvSpPr txBox="1"/>
          <p:nvPr/>
        </p:nvSpPr>
        <p:spPr>
          <a:xfrm>
            <a:off x="1397000" y="5003800"/>
            <a:ext cx="4445000" cy="711200"/>
          </a:xfrm>
          <a:prstGeom prst="rect">
            <a:avLst/>
          </a:prstGeom>
          <a:noFill/>
        </p:spPr>
        <p:txBody>
          <a:bodyPr wrap="square" lIns="0" rIns="0" tIns="0" bIns="0" anchor="ctr">
            <a:noAutofit/>
          </a:bodyPr>
          <a:lstStyle/>
          <a:p>
            <a:pPr algn="l"/>
            <a:r>
              <a:rPr sz="2800" b="0" i="0" lang="de-DE">
                <a:solidFill>
                  <a:srgbClr val="043751"/>
                </a:solidFill>
                <a:latin typeface="Archivo SemiBold"/>
              </a:rPr>
              <a:t>Zusammenarbeit</a:t>
            </a:r>
          </a:p>
        </p:txBody>
      </p:sp>
      <p:sp>
        <p:nvSpPr>
          <p:cNvPr id="23" name="agenda-text-5"/>
          <p:cNvSpPr txBox="1"/>
          <p:nvPr/>
        </p:nvSpPr>
        <p:spPr>
          <a:xfrm>
            <a:off x="6223000" y="5003800"/>
            <a:ext cx="5207000" cy="711200"/>
          </a:xfrm>
          <a:prstGeom prst="rect">
            <a:avLst/>
          </a:prstGeom>
          <a:noFill/>
        </p:spPr>
        <p:txBody>
          <a:bodyPr wrap="square" lIns="0" rIns="0" tIns="0" bIns="0" anchor="ctr">
            <a:noAutofit/>
          </a:bodyPr>
          <a:lstStyle/>
          <a:p>
            <a:pPr algn="l"/>
            <a:r>
              <a:rPr sz="1700" b="0" i="0" lang="de-DE">
                <a:solidFill>
                  <a:srgbClr val="4A6079"/>
                </a:solidFill>
                <a:latin typeface="IBM Plex Sans"/>
              </a:rPr>
              <a:t>Ein Gespräch, in dem Ihre Pflichten sortiert werden.</a:t>
            </a:r>
          </a:p>
        </p:txBody>
      </p:sp>
      <p:sp>
        <p:nvSpPr>
          <p:cNvPr id="24" name="agenda-line-5"/>
          <p:cNvSpPr/>
          <p:nvPr/>
        </p:nvSpPr>
        <p:spPr>
          <a:xfrm>
            <a:off x="762000" y="5708650"/>
            <a:ext cx="10668000" cy="12700"/>
          </a:xfrm>
          <a:prstGeom prst="rect">
            <a:avLst/>
          </a:prstGeom>
          <a:solidFill>
            <a:srgbClr val="D9D9D9"/>
          </a:solidFill>
          <a:ln>
            <a:noFill/>
          </a:ln>
        </p:spPr>
        <p:txBody>
          <a:bodyPr rtlCol="0" anchor="ctr"/>
          <a:lstStyle/>
          <a:p>
            <a:pPr algn="ctr"/>
          </a:p>
        </p:txBody>
      </p:sp>
      <p:sp>
        <p:nvSpPr>
          <p:cNvPr id="25"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26"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27"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8"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29"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30"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31"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Einstieg</a:t>
            </a:r>
          </a:p>
        </p:txBody>
      </p:sp>
      <p:sp>
        <p:nvSpPr>
          <p:cNvPr id="3" name="Text Placeholder 2"/>
          <p:cNvSpPr>
            <a:spLocks noGrp="1"/>
          </p:cNvSpPr>
          <p:nvPr>
            <p:ph type="body" idx="18"/>
          </p:nvPr>
        </p:nvSpPr>
        <p:spPr/>
        <p:txBody>
          <a:bodyPr/>
          <a:lstStyle/>
          <a:p>
            <a:r>
              <a:t>„Sie wissen nicht, welche Pflichten Sie treffen?“</a:t>
            </a:r>
          </a:p>
        </p:txBody>
      </p:sp>
      <p:sp>
        <p:nvSpPr>
          <p:cNvPr id="4" name="Text Placeholder 3"/>
          <p:cNvSpPr>
            <a:spLocks noGrp="1"/>
          </p:cNvSpPr>
          <p:nvPr>
            <p:ph type="body" idx="19"/>
          </p:nvPr>
        </p:nvSpPr>
        <p:spPr/>
        <p:txBody>
          <a:bodyPr/>
          <a:lstStyle/>
          <a:p>
            <a:r>
              <a:t>Ausgangslage</a:t>
            </a:r>
          </a:p>
        </p:txBody>
      </p:sp>
      <p:sp>
        <p:nvSpPr>
          <p:cNvPr id="5" name="Text Placeholder 4"/>
          <p:cNvSpPr>
            <a:spLocks noGrp="1"/>
          </p:cNvSpPr>
          <p:nvPr>
            <p:ph type="body" idx="20"/>
          </p:nvPr>
        </p:nvSpPr>
        <p:spPr/>
        <p:txBody>
          <a:bodyPr/>
          <a:lstStyle/>
          <a:p>
            <a:r>
              <a:t>Ob KrWG, ElektroG oder EU-VO 2024/1157: Welche Pflicht gilt, hängt an Ihrer Rolle im Materialkreislauf.</a:t>
            </a:r>
          </a:p>
        </p:txBody>
      </p:sp>
      <p:sp>
        <p:nvSpPr>
          <p:cNvPr id="6" name="Text Placeholder 5"/>
          <p:cNvSpPr>
            <a:spLocks noGrp="1"/>
          </p:cNvSpPr>
          <p:nvPr>
            <p:ph type="body" idx="21"/>
          </p:nvPr>
        </p:nvSpPr>
        <p:spPr/>
        <p:txBody>
          <a:bodyPr/>
          <a:lstStyle/>
          <a:p>
            <a:r>
              <a:t>Unsere Antwort</a:t>
            </a:r>
          </a:p>
        </p:txBody>
      </p:sp>
      <p:sp>
        <p:nvSpPr>
          <p:cNvPr id="7" name="Text Placeholder 6"/>
          <p:cNvSpPr>
            <a:spLocks noGrp="1"/>
          </p:cNvSpPr>
          <p:nvPr>
            <p:ph type="body" idx="22"/>
          </p:nvPr>
        </p:nvSpPr>
        <p:spPr/>
        <p:txBody>
          <a:bodyPr/>
          <a:lstStyle/>
          <a:p>
            <a:r>
              <a:t>Wir ordnen zu, welche Pflicht für Ihre Rolle gilt – und setzen sie um. Beratung, Systembetrieb und Fläche aus einer Hand.</a:t>
            </a:r>
          </a:p>
        </p:txBody>
      </p:sp>
      <p:sp>
        <p:nvSpPr>
          <p:cNvPr id="8"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9"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0"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1"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A3B6C9"/>
                </a:solidFill>
                <a:latin typeface="IBM Plex Mono"/>
              </a:rPr>
              <a:t>04</a:t>
            </a:r>
            <a:r>
              <a:rPr sz="1200" b="0" i="0" lang="de-DE">
                <a:solidFill>
                  <a:srgbClr val="A3B6C9"/>
                </a:solidFill>
                <a:latin typeface="IBM Plex Mono"/>
              </a:rPr>
              <a:t> </a:t>
            </a:r>
            <a:r>
              <a:rPr sz="1200" b="0" i="0" lang="de-DE" cap="all" spc="72">
                <a:solidFill>
                  <a:srgbClr val="A3B6C9"/>
                </a:solidFill>
                <a:latin typeface="IBM Plex Sans Medium"/>
              </a:rPr>
              <a:t>Rechtsrahmen</a:t>
            </a:r>
          </a:p>
        </p:txBody>
      </p:sp>
      <p:sp>
        <p:nvSpPr>
          <p:cNvPr id="12"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
        <p:nvSpPr>
          <p:cNvPr id="13"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A3B6C9"/>
                </a:solidFill>
                <a:latin typeface="IBM Plex Mono Medium"/>
              </a:rPr>
              <a:t>Zukunft im Kreislauf</a:t>
            </a:r>
          </a:p>
        </p:txBody>
      </p:sp>
      <p:sp>
        <p:nvSpPr>
          <p:cNvPr id="14"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A3B6C9"/>
                </a:solidFill>
                <a:latin typeface="IBM Plex Mono Medium"/>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p:nvPr>
        </p:nvSpPr>
        <p:spPr/>
        <p:txBody>
          <a:bodyPr/>
          <a:lstStyle/>
          <a:p>
            <a:r>
              <a:t>01</a:t>
            </a:r>
          </a:p>
        </p:txBody>
      </p:sp>
      <p:sp>
        <p:nvSpPr>
          <p:cNvPr id="3" name="Text Placeholder 2"/>
          <p:cNvSpPr>
            <a:spLocks noGrp="1"/>
          </p:cNvSpPr>
          <p:nvPr>
            <p:ph type="body" idx="11"/>
          </p:nvPr>
        </p:nvSpPr>
        <p:spPr/>
        <p:txBody>
          <a:bodyPr/>
          <a:lstStyle/>
          <a:p>
            <a:r>
              <a:t>Kapitel 1 von 5</a:t>
            </a:r>
          </a:p>
        </p:txBody>
      </p:sp>
      <p:sp>
        <p:nvSpPr>
          <p:cNvPr id="4" name="Title 3"/>
          <p:cNvSpPr>
            <a:spLocks noGrp="1"/>
          </p:cNvSpPr>
          <p:nvPr>
            <p:ph type="title"/>
          </p:nvPr>
        </p:nvSpPr>
        <p:spPr/>
        <p:txBody>
          <a:bodyPr/>
          <a:lstStyle/>
          <a:p>
            <a:r>
              <a:t>Die Gruppe</a:t>
            </a:r>
          </a:p>
        </p:txBody>
      </p:sp>
      <p:sp>
        <p:nvSpPr>
          <p:cNvPr id="5" name="Text Placeholder 4"/>
          <p:cNvSpPr>
            <a:spLocks noGrp="1"/>
          </p:cNvSpPr>
          <p:nvPr>
            <p:ph type="body" idx="17"/>
          </p:nvPr>
        </p:nvSpPr>
        <p:spPr/>
        <p:txBody>
          <a:bodyPr/>
          <a:lstStyle/>
          <a:p>
            <a:r>
              <a:t>Vier Unternehmen. Ein Kreislauf.</a:t>
            </a:r>
          </a:p>
        </p:txBody>
      </p:sp>
      <p:sp>
        <p:nvSpPr>
          <p:cNvPr id="6" name="ring-seg-1-active"/>
          <p:cNvSpPr/>
          <p:nvPr/>
        </p:nvSpPr>
        <p:spPr>
          <a:xfrm>
            <a:off x="1206500" y="2222500"/>
            <a:ext cx="3175000" cy="3175000"/>
          </a:xfrm>
          <a:prstGeom prst="arc">
            <a:avLst>
              <a:gd name="adj1" fmla="val 16612530"/>
              <a:gd name="adj2" fmla="val 20107470"/>
            </a:avLst>
          </a:prstGeom>
          <a:noFill/>
          <a:ln w="190500" cap="rnd">
            <a:solidFill>
              <a:srgbClr val="6EA52E"/>
            </a:solidFill>
          </a:ln>
        </p:spPr>
        <p:txBody>
          <a:bodyPr rtlCol="0" anchor="ctr"/>
          <a:lstStyle/>
          <a:p>
            <a:pPr algn="ctr"/>
          </a:p>
        </p:txBody>
      </p:sp>
      <p:sp>
        <p:nvSpPr>
          <p:cNvPr id="7" name="ring-seg-2-todo"/>
          <p:cNvSpPr/>
          <p:nvPr/>
        </p:nvSpPr>
        <p:spPr>
          <a:xfrm>
            <a:off x="1206500" y="2222500"/>
            <a:ext cx="3175000" cy="3175000"/>
          </a:xfrm>
          <a:prstGeom prst="arc">
            <a:avLst>
              <a:gd name="adj1" fmla="val 20932530"/>
              <a:gd name="adj2" fmla="val 2827470"/>
            </a:avLst>
          </a:prstGeom>
          <a:noFill/>
          <a:ln w="190500" cap="rnd">
            <a:solidFill>
              <a:srgbClr val="325C72"/>
            </a:solidFill>
          </a:ln>
        </p:spPr>
        <p:txBody>
          <a:bodyPr rtlCol="0" anchor="ctr"/>
          <a:lstStyle/>
          <a:p>
            <a:pPr algn="ctr"/>
          </a:p>
        </p:txBody>
      </p:sp>
      <p:sp>
        <p:nvSpPr>
          <p:cNvPr id="8" name="ring-seg-3-todo"/>
          <p:cNvSpPr/>
          <p:nvPr/>
        </p:nvSpPr>
        <p:spPr>
          <a:xfrm>
            <a:off x="1206500" y="2222500"/>
            <a:ext cx="3175000" cy="3175000"/>
          </a:xfrm>
          <a:prstGeom prst="arc">
            <a:avLst>
              <a:gd name="adj1" fmla="val 3652530"/>
              <a:gd name="adj2" fmla="val 7147470"/>
            </a:avLst>
          </a:prstGeom>
          <a:noFill/>
          <a:ln w="190500" cap="rnd">
            <a:solidFill>
              <a:srgbClr val="325C72"/>
            </a:solidFill>
          </a:ln>
        </p:spPr>
        <p:txBody>
          <a:bodyPr rtlCol="0" anchor="ctr"/>
          <a:lstStyle/>
          <a:p>
            <a:pPr algn="ctr"/>
          </a:p>
        </p:txBody>
      </p:sp>
      <p:sp>
        <p:nvSpPr>
          <p:cNvPr id="9" name="ring-seg-4-todo"/>
          <p:cNvSpPr/>
          <p:nvPr/>
        </p:nvSpPr>
        <p:spPr>
          <a:xfrm>
            <a:off x="1206500" y="2222500"/>
            <a:ext cx="3175000" cy="3175000"/>
          </a:xfrm>
          <a:prstGeom prst="arc">
            <a:avLst>
              <a:gd name="adj1" fmla="val 7972530"/>
              <a:gd name="adj2" fmla="val 11467470"/>
            </a:avLst>
          </a:prstGeom>
          <a:noFill/>
          <a:ln w="190500" cap="rnd">
            <a:solidFill>
              <a:srgbClr val="325C72"/>
            </a:solidFill>
          </a:ln>
        </p:spPr>
        <p:txBody>
          <a:bodyPr rtlCol="0" anchor="ctr"/>
          <a:lstStyle/>
          <a:p>
            <a:pPr algn="ctr"/>
          </a:p>
        </p:txBody>
      </p:sp>
      <p:sp>
        <p:nvSpPr>
          <p:cNvPr id="10" name="ring-seg-5-todo"/>
          <p:cNvSpPr/>
          <p:nvPr/>
        </p:nvSpPr>
        <p:spPr>
          <a:xfrm>
            <a:off x="1206500" y="2222500"/>
            <a:ext cx="3175000" cy="3175000"/>
          </a:xfrm>
          <a:prstGeom prst="arc">
            <a:avLst>
              <a:gd name="adj1" fmla="val 12292530"/>
              <a:gd name="adj2" fmla="val 15787470"/>
            </a:avLst>
          </a:prstGeom>
          <a:noFill/>
          <a:ln w="190500" cap="rnd">
            <a:solidFill>
              <a:srgbClr val="325C72"/>
            </a:solidFill>
          </a:ln>
        </p:spPr>
        <p:txBody>
          <a:bodyPr rtlCol="0" anchor="ctr"/>
          <a:lstStyle/>
          <a:p>
            <a:pPr algn="ctr"/>
          </a:p>
        </p:txBody>
      </p:sp>
      <p:sp>
        <p:nvSpPr>
          <p:cNvPr id="11" name="nav-1-active"/>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8FC65A"/>
                </a:solidFill>
                <a:latin typeface="IBM Plex Mono"/>
              </a:rPr>
              <a:t>01</a:t>
            </a:r>
            <a:r>
              <a:rPr sz="1200" b="0" i="0" lang="de-DE">
                <a:solidFill>
                  <a:srgbClr val="FFFFFF"/>
                </a:solidFill>
                <a:latin typeface="IBM Plex Mono"/>
              </a:rPr>
              <a:t> </a:t>
            </a:r>
            <a:r>
              <a:rPr sz="1200" b="0" i="0" lang="de-DE" cap="all" spc="72">
                <a:solidFill>
                  <a:srgbClr val="FFFFFF"/>
                </a:solidFill>
                <a:latin typeface="IBM Plex Sans Medium"/>
              </a:rPr>
              <a:t>Die Gruppe</a:t>
            </a:r>
          </a:p>
        </p:txBody>
      </p:sp>
      <p:sp>
        <p:nvSpPr>
          <p:cNvPr id="12" name="nav-underline"/>
          <p:cNvSpPr/>
          <p:nvPr/>
        </p:nvSpPr>
        <p:spPr>
          <a:xfrm>
            <a:off x="2862715" y="685800"/>
            <a:ext cx="1250414" cy="25400"/>
          </a:xfrm>
          <a:prstGeom prst="rect">
            <a:avLst/>
          </a:prstGeom>
          <a:solidFill>
            <a:srgbClr val="8FC65A"/>
          </a:solidFill>
          <a:ln>
            <a:noFill/>
          </a:ln>
        </p:spPr>
        <p:txBody>
          <a:bodyPr rtlCol="0" anchor="ctr"/>
          <a:lstStyle/>
          <a:p>
            <a:pPr algn="ctr"/>
          </a:p>
        </p:txBody>
      </p:sp>
      <p:sp>
        <p:nvSpPr>
          <p:cNvPr id="13"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4"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5"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A3B6C9"/>
                </a:solidFill>
                <a:latin typeface="IBM Plex Mono"/>
              </a:rPr>
              <a:t>04</a:t>
            </a:r>
            <a:r>
              <a:rPr sz="1200" b="0" i="0" lang="de-DE">
                <a:solidFill>
                  <a:srgbClr val="A3B6C9"/>
                </a:solidFill>
                <a:latin typeface="IBM Plex Mono"/>
              </a:rPr>
              <a:t> </a:t>
            </a:r>
            <a:r>
              <a:rPr sz="1200" b="0" i="0" lang="de-DE" cap="all" spc="72">
                <a:solidFill>
                  <a:srgbClr val="A3B6C9"/>
                </a:solidFill>
                <a:latin typeface="IBM Plex Sans Medium"/>
              </a:rPr>
              <a:t>Rechtsrahmen</a:t>
            </a:r>
          </a:p>
        </p:txBody>
      </p:sp>
      <p:sp>
        <p:nvSpPr>
          <p:cNvPr id="16"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01 · Die Gruppe</a:t>
            </a:r>
          </a:p>
        </p:txBody>
      </p:sp>
      <p:sp>
        <p:nvSpPr>
          <p:cNvPr id="3" name="Text Placeholder 2"/>
          <p:cNvSpPr>
            <a:spLocks noGrp="1"/>
          </p:cNvSpPr>
          <p:nvPr>
            <p:ph type="body" idx="28"/>
          </p:nvPr>
        </p:nvSpPr>
        <p:spPr/>
        <p:txBody>
          <a:bodyPr/>
          <a:lstStyle/>
          <a:p>
            <a:r>
              <a:t>4</a:t>
            </a:r>
          </a:p>
        </p:txBody>
      </p:sp>
      <p:sp>
        <p:nvSpPr>
          <p:cNvPr id="4" name="Text Placeholder 3"/>
          <p:cNvSpPr>
            <a:spLocks noGrp="1"/>
          </p:cNvSpPr>
          <p:nvPr>
            <p:ph type="body" idx="29"/>
          </p:nvPr>
        </p:nvSpPr>
        <p:spPr/>
        <p:txBody>
          <a:bodyPr/>
          <a:lstStyle/>
          <a:p>
            <a:r>
              <a:t>Unternehmen gehen in der ecowerth GmbH auf</a:t>
            </a:r>
          </a:p>
        </p:txBody>
      </p:sp>
      <p:sp>
        <p:nvSpPr>
          <p:cNvPr id="5" name="Text Placeholder 4"/>
          <p:cNvSpPr>
            <a:spLocks noGrp="1"/>
          </p:cNvSpPr>
          <p:nvPr>
            <p:ph type="body" idx="30"/>
          </p:nvPr>
        </p:nvSpPr>
        <p:spPr/>
        <p:txBody>
          <a:bodyPr/>
          <a:lstStyle/>
          <a:p>
            <a:r>
              <a:t>Ecologicon GmbH · ECO ReLoop GmbH · Eco Park Röthlein GmbH · Maintal Recycling UG</a:t>
            </a:r>
          </a:p>
        </p:txBody>
      </p:sp>
      <p:sp>
        <p:nvSpPr>
          <p:cNvPr id="6" name="nav-1-active"/>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F7A1E"/>
                </a:solidFill>
                <a:latin typeface="IBM Plex Mono"/>
              </a:rPr>
              <a:t>01</a:t>
            </a:r>
            <a:r>
              <a:rPr sz="1200" b="0" i="0" lang="de-DE">
                <a:solidFill>
                  <a:srgbClr val="043751"/>
                </a:solidFill>
                <a:latin typeface="IBM Plex Mono"/>
              </a:rPr>
              <a:t> </a:t>
            </a:r>
            <a:r>
              <a:rPr sz="1200" b="0" i="0" lang="de-DE" cap="all" spc="72">
                <a:solidFill>
                  <a:srgbClr val="043751"/>
                </a:solidFill>
                <a:latin typeface="IBM Plex Sans Medium"/>
              </a:rPr>
              <a:t>Die Gruppe</a:t>
            </a:r>
          </a:p>
        </p:txBody>
      </p:sp>
      <p:sp>
        <p:nvSpPr>
          <p:cNvPr id="7" name="nav-underline"/>
          <p:cNvSpPr/>
          <p:nvPr/>
        </p:nvSpPr>
        <p:spPr>
          <a:xfrm>
            <a:off x="2862715" y="685800"/>
            <a:ext cx="1250414" cy="25400"/>
          </a:xfrm>
          <a:prstGeom prst="rect">
            <a:avLst/>
          </a:prstGeom>
          <a:solidFill>
            <a:srgbClr val="6EA52E"/>
          </a:solidFill>
          <a:ln>
            <a:noFill/>
          </a:ln>
        </p:spPr>
        <p:txBody>
          <a:bodyPr rtlCol="0" anchor="ctr"/>
          <a:lstStyle/>
          <a:p>
            <a:pPr algn="ctr"/>
          </a:p>
        </p:txBody>
      </p:sp>
      <p:sp>
        <p:nvSpPr>
          <p:cNvPr id="8"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9"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10"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11"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12"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13"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01 · Die Gruppe</a:t>
            </a:r>
          </a:p>
        </p:txBody>
      </p:sp>
      <p:sp>
        <p:nvSpPr>
          <p:cNvPr id="3" name="Title 2"/>
          <p:cNvSpPr>
            <a:spLocks noGrp="1"/>
          </p:cNvSpPr>
          <p:nvPr>
            <p:ph type="title"/>
          </p:nvPr>
        </p:nvSpPr>
        <p:spPr/>
        <p:txBody>
          <a:bodyPr/>
          <a:lstStyle/>
          <a:p>
            <a:r>
              <a:t>Was sich ändert – und was nicht</a:t>
            </a:r>
          </a:p>
        </p:txBody>
      </p:sp>
      <p:sp>
        <p:nvSpPr>
          <p:cNvPr id="4" name="compare-head-l"/>
          <p:cNvSpPr/>
          <p:nvPr/>
        </p:nvSpPr>
        <p:spPr>
          <a:xfrm>
            <a:off x="762000" y="2159000"/>
            <a:ext cx="5207000" cy="381000"/>
          </a:xfrm>
          <a:prstGeom prst="rect">
            <a:avLst/>
          </a:prstGeom>
          <a:solidFill>
            <a:srgbClr val="043751"/>
          </a:solidFill>
          <a:ln>
            <a:noFill/>
          </a:ln>
        </p:spPr>
        <p:txBody>
          <a:bodyPr rtlCol="0" anchor="ctr" wrap="square" lIns="177800" rIns="0" tIns="0" bIns="0">
            <a:noAutofit/>
          </a:bodyPr>
          <a:lstStyle/>
          <a:p>
            <a:pPr algn="l"/>
            <a:r>
              <a:rPr sz="1300" b="0" i="0" lang="de-DE" cap="all" spc="182">
                <a:solidFill>
                  <a:srgbClr val="FFFFFF"/>
                </a:solidFill>
                <a:latin typeface="IBM Plex Mono Medium"/>
              </a:rPr>
              <a:t>Was sich ändert</a:t>
            </a:r>
          </a:p>
        </p:txBody>
      </p:sp>
      <p:sp>
        <p:nvSpPr>
          <p:cNvPr id="5" name="icon-dash-l-1"/>
          <p:cNvSpPr/>
          <p:nvPr/>
        </p:nvSpPr>
        <p:spPr>
          <a:xfrm>
            <a:off x="787400" y="2876550"/>
            <a:ext cx="139700" cy="12700"/>
          </a:xfrm>
          <a:prstGeom prst="rect">
            <a:avLst/>
          </a:prstGeom>
          <a:solidFill>
            <a:srgbClr val="6EA52E"/>
          </a:solidFill>
          <a:ln>
            <a:noFill/>
          </a:ln>
        </p:spPr>
        <p:txBody>
          <a:bodyPr rtlCol="0" anchor="ctr"/>
          <a:lstStyle/>
          <a:p>
            <a:pPr algn="ctr"/>
          </a:p>
        </p:txBody>
      </p:sp>
      <p:sp>
        <p:nvSpPr>
          <p:cNvPr id="6" name="compare-item-l-1"/>
          <p:cNvSpPr txBox="1"/>
          <p:nvPr/>
        </p:nvSpPr>
        <p:spPr>
          <a:xfrm>
            <a:off x="1143000" y="2743200"/>
            <a:ext cx="4826000" cy="660400"/>
          </a:xfrm>
          <a:prstGeom prst="rect">
            <a:avLst/>
          </a:prstGeom>
          <a:noFill/>
        </p:spPr>
        <p:txBody>
          <a:bodyPr wrap="square" lIns="0" rIns="0" tIns="0" bIns="0" anchor="t">
            <a:noAutofit/>
          </a:bodyPr>
          <a:lstStyle/>
          <a:p>
            <a:pPr algn="l"/>
            <a:r>
              <a:rPr sz="1900" b="0" i="0" lang="de-DE">
                <a:solidFill>
                  <a:srgbClr val="043751"/>
                </a:solidFill>
                <a:latin typeface="IBM Plex Sans"/>
              </a:rPr>
              <a:t>Eine Firmierung: die ecowerth GmbH</a:t>
            </a:r>
          </a:p>
        </p:txBody>
      </p:sp>
      <p:sp>
        <p:nvSpPr>
          <p:cNvPr id="7" name="compare-line-l-1"/>
          <p:cNvSpPr/>
          <p:nvPr/>
        </p:nvSpPr>
        <p:spPr>
          <a:xfrm>
            <a:off x="762000" y="3409950"/>
            <a:ext cx="5207000" cy="12700"/>
          </a:xfrm>
          <a:prstGeom prst="rect">
            <a:avLst/>
          </a:prstGeom>
          <a:solidFill>
            <a:srgbClr val="D9D9D9"/>
          </a:solidFill>
          <a:ln>
            <a:noFill/>
          </a:ln>
        </p:spPr>
        <p:txBody>
          <a:bodyPr rtlCol="0" anchor="ctr"/>
          <a:lstStyle/>
          <a:p>
            <a:pPr algn="ctr"/>
          </a:p>
        </p:txBody>
      </p:sp>
      <p:sp>
        <p:nvSpPr>
          <p:cNvPr id="8" name="icon-dash-l-2"/>
          <p:cNvSpPr/>
          <p:nvPr/>
        </p:nvSpPr>
        <p:spPr>
          <a:xfrm>
            <a:off x="787400" y="3625850"/>
            <a:ext cx="139700" cy="12700"/>
          </a:xfrm>
          <a:prstGeom prst="rect">
            <a:avLst/>
          </a:prstGeom>
          <a:solidFill>
            <a:srgbClr val="6EA52E"/>
          </a:solidFill>
          <a:ln>
            <a:noFill/>
          </a:ln>
        </p:spPr>
        <p:txBody>
          <a:bodyPr rtlCol="0" anchor="ctr"/>
          <a:lstStyle/>
          <a:p>
            <a:pPr algn="ctr"/>
          </a:p>
        </p:txBody>
      </p:sp>
      <p:sp>
        <p:nvSpPr>
          <p:cNvPr id="9" name="compare-item-l-2"/>
          <p:cNvSpPr txBox="1"/>
          <p:nvPr/>
        </p:nvSpPr>
        <p:spPr>
          <a:xfrm>
            <a:off x="1143000" y="3492500"/>
            <a:ext cx="4826000" cy="660400"/>
          </a:xfrm>
          <a:prstGeom prst="rect">
            <a:avLst/>
          </a:prstGeom>
          <a:noFill/>
        </p:spPr>
        <p:txBody>
          <a:bodyPr wrap="square" lIns="0" rIns="0" tIns="0" bIns="0" anchor="t">
            <a:noAutofit/>
          </a:bodyPr>
          <a:lstStyle/>
          <a:p>
            <a:pPr algn="l"/>
            <a:r>
              <a:rPr sz="1900" b="0" i="0" lang="de-DE">
                <a:solidFill>
                  <a:srgbClr val="043751"/>
                </a:solidFill>
                <a:latin typeface="IBM Plex Sans"/>
              </a:rPr>
              <a:t>Drei klar geschnittene Marken</a:t>
            </a:r>
          </a:p>
        </p:txBody>
      </p:sp>
      <p:sp>
        <p:nvSpPr>
          <p:cNvPr id="10" name="compare-line-l-2"/>
          <p:cNvSpPr/>
          <p:nvPr/>
        </p:nvSpPr>
        <p:spPr>
          <a:xfrm>
            <a:off x="762000" y="4159250"/>
            <a:ext cx="5207000" cy="12700"/>
          </a:xfrm>
          <a:prstGeom prst="rect">
            <a:avLst/>
          </a:prstGeom>
          <a:solidFill>
            <a:srgbClr val="D9D9D9"/>
          </a:solidFill>
          <a:ln>
            <a:noFill/>
          </a:ln>
        </p:spPr>
        <p:txBody>
          <a:bodyPr rtlCol="0" anchor="ctr"/>
          <a:lstStyle/>
          <a:p>
            <a:pPr algn="ctr"/>
          </a:p>
        </p:txBody>
      </p:sp>
      <p:sp>
        <p:nvSpPr>
          <p:cNvPr id="11" name="icon-dash-l-3"/>
          <p:cNvSpPr/>
          <p:nvPr/>
        </p:nvSpPr>
        <p:spPr>
          <a:xfrm>
            <a:off x="787400" y="4375150"/>
            <a:ext cx="139700" cy="12700"/>
          </a:xfrm>
          <a:prstGeom prst="rect">
            <a:avLst/>
          </a:prstGeom>
          <a:solidFill>
            <a:srgbClr val="6EA52E"/>
          </a:solidFill>
          <a:ln>
            <a:noFill/>
          </a:ln>
        </p:spPr>
        <p:txBody>
          <a:bodyPr rtlCol="0" anchor="ctr"/>
          <a:lstStyle/>
          <a:p>
            <a:pPr algn="ctr"/>
          </a:p>
        </p:txBody>
      </p:sp>
      <p:sp>
        <p:nvSpPr>
          <p:cNvPr id="12" name="compare-item-l-3"/>
          <p:cNvSpPr txBox="1"/>
          <p:nvPr/>
        </p:nvSpPr>
        <p:spPr>
          <a:xfrm>
            <a:off x="1143000" y="4241800"/>
            <a:ext cx="4826000" cy="660400"/>
          </a:xfrm>
          <a:prstGeom prst="rect">
            <a:avLst/>
          </a:prstGeom>
          <a:noFill/>
        </p:spPr>
        <p:txBody>
          <a:bodyPr wrap="square" lIns="0" rIns="0" tIns="0" bIns="0" anchor="t">
            <a:noAutofit/>
          </a:bodyPr>
          <a:lstStyle/>
          <a:p>
            <a:pPr algn="l"/>
            <a:r>
              <a:rPr sz="1900" b="0" i="0" lang="de-DE">
                <a:solidFill>
                  <a:srgbClr val="043751"/>
                </a:solidFill>
                <a:latin typeface="IBM Plex Sans"/>
              </a:rPr>
              <a:t>Ein Vertragspartner für Beratung, Systembetrieb und Fläche</a:t>
            </a:r>
          </a:p>
        </p:txBody>
      </p:sp>
      <p:sp>
        <p:nvSpPr>
          <p:cNvPr id="13" name="compare-line-l-3"/>
          <p:cNvSpPr/>
          <p:nvPr/>
        </p:nvSpPr>
        <p:spPr>
          <a:xfrm>
            <a:off x="762000" y="4908550"/>
            <a:ext cx="5207000" cy="12700"/>
          </a:xfrm>
          <a:prstGeom prst="rect">
            <a:avLst/>
          </a:prstGeom>
          <a:solidFill>
            <a:srgbClr val="D9D9D9"/>
          </a:solidFill>
          <a:ln>
            <a:noFill/>
          </a:ln>
        </p:spPr>
        <p:txBody>
          <a:bodyPr rtlCol="0" anchor="ctr"/>
          <a:lstStyle/>
          <a:p>
            <a:pPr algn="ctr"/>
          </a:p>
        </p:txBody>
      </p:sp>
      <p:sp>
        <p:nvSpPr>
          <p:cNvPr id="14" name="compare-head-r"/>
          <p:cNvSpPr/>
          <p:nvPr/>
        </p:nvSpPr>
        <p:spPr>
          <a:xfrm>
            <a:off x="6223000" y="2159000"/>
            <a:ext cx="5207000" cy="381000"/>
          </a:xfrm>
          <a:prstGeom prst="rect">
            <a:avLst/>
          </a:prstGeom>
          <a:solidFill>
            <a:srgbClr val="043751"/>
          </a:solidFill>
          <a:ln>
            <a:noFill/>
          </a:ln>
        </p:spPr>
        <p:txBody>
          <a:bodyPr rtlCol="0" anchor="ctr" wrap="square" lIns="177800" rIns="0" tIns="0" bIns="0">
            <a:noAutofit/>
          </a:bodyPr>
          <a:lstStyle/>
          <a:p>
            <a:pPr algn="l"/>
            <a:r>
              <a:rPr sz="1300" b="0" i="0" lang="de-DE" cap="all" spc="182">
                <a:solidFill>
                  <a:srgbClr val="FFFFFF"/>
                </a:solidFill>
                <a:latin typeface="IBM Plex Mono Medium"/>
              </a:rPr>
              <a:t>Was bleibt</a:t>
            </a:r>
          </a:p>
        </p:txBody>
      </p:sp>
      <p:sp>
        <p:nvSpPr>
          <p:cNvPr id="15" name="icon-dash-r-1"/>
          <p:cNvSpPr/>
          <p:nvPr/>
        </p:nvSpPr>
        <p:spPr>
          <a:xfrm>
            <a:off x="6248400" y="2876550"/>
            <a:ext cx="139700" cy="12700"/>
          </a:xfrm>
          <a:prstGeom prst="rect">
            <a:avLst/>
          </a:prstGeom>
          <a:solidFill>
            <a:srgbClr val="6EA52E"/>
          </a:solidFill>
          <a:ln>
            <a:noFill/>
          </a:ln>
        </p:spPr>
        <p:txBody>
          <a:bodyPr rtlCol="0" anchor="ctr"/>
          <a:lstStyle/>
          <a:p>
            <a:pPr algn="ctr"/>
          </a:p>
        </p:txBody>
      </p:sp>
      <p:sp>
        <p:nvSpPr>
          <p:cNvPr id="16" name="compare-item-r-1"/>
          <p:cNvSpPr txBox="1"/>
          <p:nvPr/>
        </p:nvSpPr>
        <p:spPr>
          <a:xfrm>
            <a:off x="6604000" y="2743200"/>
            <a:ext cx="4826000" cy="660400"/>
          </a:xfrm>
          <a:prstGeom prst="rect">
            <a:avLst/>
          </a:prstGeom>
          <a:noFill/>
        </p:spPr>
        <p:txBody>
          <a:bodyPr wrap="square" lIns="0" rIns="0" tIns="0" bIns="0" anchor="t">
            <a:noAutofit/>
          </a:bodyPr>
          <a:lstStyle/>
          <a:p>
            <a:pPr algn="l"/>
            <a:r>
              <a:rPr sz="1900" b="0" i="0" lang="de-DE">
                <a:solidFill>
                  <a:srgbClr val="043751"/>
                </a:solidFill>
                <a:latin typeface="IBM Plex Sans"/>
              </a:rPr>
              <a:t>Teams und Projektverantwortliche</a:t>
            </a:r>
          </a:p>
        </p:txBody>
      </p:sp>
      <p:sp>
        <p:nvSpPr>
          <p:cNvPr id="17" name="compare-line-r-1"/>
          <p:cNvSpPr/>
          <p:nvPr/>
        </p:nvSpPr>
        <p:spPr>
          <a:xfrm>
            <a:off x="6223000" y="3409950"/>
            <a:ext cx="5207000" cy="12700"/>
          </a:xfrm>
          <a:prstGeom prst="rect">
            <a:avLst/>
          </a:prstGeom>
          <a:solidFill>
            <a:srgbClr val="D9D9D9"/>
          </a:solidFill>
          <a:ln>
            <a:noFill/>
          </a:ln>
        </p:spPr>
        <p:txBody>
          <a:bodyPr rtlCol="0" anchor="ctr"/>
          <a:lstStyle/>
          <a:p>
            <a:pPr algn="ctr"/>
          </a:p>
        </p:txBody>
      </p:sp>
      <p:sp>
        <p:nvSpPr>
          <p:cNvPr id="18" name="icon-dash-r-2"/>
          <p:cNvSpPr/>
          <p:nvPr/>
        </p:nvSpPr>
        <p:spPr>
          <a:xfrm>
            <a:off x="6248400" y="3625850"/>
            <a:ext cx="139700" cy="12700"/>
          </a:xfrm>
          <a:prstGeom prst="rect">
            <a:avLst/>
          </a:prstGeom>
          <a:solidFill>
            <a:srgbClr val="6EA52E"/>
          </a:solidFill>
          <a:ln>
            <a:noFill/>
          </a:ln>
        </p:spPr>
        <p:txBody>
          <a:bodyPr rtlCol="0" anchor="ctr"/>
          <a:lstStyle/>
          <a:p>
            <a:pPr algn="ctr"/>
          </a:p>
        </p:txBody>
      </p:sp>
      <p:sp>
        <p:nvSpPr>
          <p:cNvPr id="19" name="compare-item-r-2"/>
          <p:cNvSpPr txBox="1"/>
          <p:nvPr/>
        </p:nvSpPr>
        <p:spPr>
          <a:xfrm>
            <a:off x="6604000" y="3492500"/>
            <a:ext cx="4826000" cy="660400"/>
          </a:xfrm>
          <a:prstGeom prst="rect">
            <a:avLst/>
          </a:prstGeom>
          <a:noFill/>
        </p:spPr>
        <p:txBody>
          <a:bodyPr wrap="square" lIns="0" rIns="0" tIns="0" bIns="0" anchor="t">
            <a:noAutofit/>
          </a:bodyPr>
          <a:lstStyle/>
          <a:p>
            <a:pPr algn="l"/>
            <a:r>
              <a:rPr sz="1900" b="0" i="0" lang="de-DE">
                <a:solidFill>
                  <a:srgbClr val="043751"/>
                </a:solidFill>
                <a:latin typeface="IBM Plex Sans"/>
              </a:rPr>
              <a:t>Laufende Mandate, Systemverträge und Mietverhältnisse</a:t>
            </a:r>
          </a:p>
        </p:txBody>
      </p:sp>
      <p:sp>
        <p:nvSpPr>
          <p:cNvPr id="20" name="compare-line-r-2"/>
          <p:cNvSpPr/>
          <p:nvPr/>
        </p:nvSpPr>
        <p:spPr>
          <a:xfrm>
            <a:off x="6223000" y="4159250"/>
            <a:ext cx="5207000" cy="12700"/>
          </a:xfrm>
          <a:prstGeom prst="rect">
            <a:avLst/>
          </a:prstGeom>
          <a:solidFill>
            <a:srgbClr val="D9D9D9"/>
          </a:solidFill>
          <a:ln>
            <a:noFill/>
          </a:ln>
        </p:spPr>
        <p:txBody>
          <a:bodyPr rtlCol="0" anchor="ctr"/>
          <a:lstStyle/>
          <a:p>
            <a:pPr algn="ctr"/>
          </a:p>
        </p:txBody>
      </p:sp>
      <p:sp>
        <p:nvSpPr>
          <p:cNvPr id="21" name="icon-dash-r-3"/>
          <p:cNvSpPr/>
          <p:nvPr/>
        </p:nvSpPr>
        <p:spPr>
          <a:xfrm>
            <a:off x="6248400" y="4375150"/>
            <a:ext cx="139700" cy="12700"/>
          </a:xfrm>
          <a:prstGeom prst="rect">
            <a:avLst/>
          </a:prstGeom>
          <a:solidFill>
            <a:srgbClr val="6EA52E"/>
          </a:solidFill>
          <a:ln>
            <a:noFill/>
          </a:ln>
        </p:spPr>
        <p:txBody>
          <a:bodyPr rtlCol="0" anchor="ctr"/>
          <a:lstStyle/>
          <a:p>
            <a:pPr algn="ctr"/>
          </a:p>
        </p:txBody>
      </p:sp>
      <p:sp>
        <p:nvSpPr>
          <p:cNvPr id="22" name="compare-item-r-3"/>
          <p:cNvSpPr txBox="1"/>
          <p:nvPr/>
        </p:nvSpPr>
        <p:spPr>
          <a:xfrm>
            <a:off x="6604000" y="4241800"/>
            <a:ext cx="4826000" cy="660400"/>
          </a:xfrm>
          <a:prstGeom prst="rect">
            <a:avLst/>
          </a:prstGeom>
          <a:noFill/>
        </p:spPr>
        <p:txBody>
          <a:bodyPr wrap="square" lIns="0" rIns="0" tIns="0" bIns="0" anchor="t">
            <a:noAutofit/>
          </a:bodyPr>
          <a:lstStyle/>
          <a:p>
            <a:pPr algn="l"/>
            <a:r>
              <a:rPr sz="1900" b="0" i="0" lang="de-DE">
                <a:solidFill>
                  <a:srgbClr val="043751"/>
                </a:solidFill>
                <a:latin typeface="IBM Plex Sans"/>
              </a:rPr>
              <a:t>Standorte Reichenberg, Röthlein und Singapur</a:t>
            </a:r>
          </a:p>
        </p:txBody>
      </p:sp>
      <p:sp>
        <p:nvSpPr>
          <p:cNvPr id="23" name="compare-line-r-3"/>
          <p:cNvSpPr/>
          <p:nvPr/>
        </p:nvSpPr>
        <p:spPr>
          <a:xfrm>
            <a:off x="6223000" y="4908550"/>
            <a:ext cx="5207000" cy="12700"/>
          </a:xfrm>
          <a:prstGeom prst="rect">
            <a:avLst/>
          </a:prstGeom>
          <a:solidFill>
            <a:srgbClr val="D9D9D9"/>
          </a:solidFill>
          <a:ln>
            <a:noFill/>
          </a:ln>
        </p:spPr>
        <p:txBody>
          <a:bodyPr rtlCol="0" anchor="ctr"/>
          <a:lstStyle/>
          <a:p>
            <a:pPr algn="ctr"/>
          </a:p>
        </p:txBody>
      </p:sp>
      <p:sp>
        <p:nvSpPr>
          <p:cNvPr id="24" name="nav-1-active"/>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F7A1E"/>
                </a:solidFill>
                <a:latin typeface="IBM Plex Mono"/>
              </a:rPr>
              <a:t>01</a:t>
            </a:r>
            <a:r>
              <a:rPr sz="1200" b="0" i="0" lang="de-DE">
                <a:solidFill>
                  <a:srgbClr val="043751"/>
                </a:solidFill>
                <a:latin typeface="IBM Plex Mono"/>
              </a:rPr>
              <a:t> </a:t>
            </a:r>
            <a:r>
              <a:rPr sz="1200" b="0" i="0" lang="de-DE" cap="all" spc="72">
                <a:solidFill>
                  <a:srgbClr val="043751"/>
                </a:solidFill>
                <a:latin typeface="IBM Plex Sans Medium"/>
              </a:rPr>
              <a:t>Die Gruppe</a:t>
            </a:r>
          </a:p>
        </p:txBody>
      </p:sp>
      <p:sp>
        <p:nvSpPr>
          <p:cNvPr id="25" name="nav-underline"/>
          <p:cNvSpPr/>
          <p:nvPr/>
        </p:nvSpPr>
        <p:spPr>
          <a:xfrm>
            <a:off x="2862715" y="685800"/>
            <a:ext cx="1250414" cy="25400"/>
          </a:xfrm>
          <a:prstGeom prst="rect">
            <a:avLst/>
          </a:prstGeom>
          <a:solidFill>
            <a:srgbClr val="6EA52E"/>
          </a:solidFill>
          <a:ln>
            <a:noFill/>
          </a:ln>
        </p:spPr>
        <p:txBody>
          <a:bodyPr rtlCol="0" anchor="ctr"/>
          <a:lstStyle/>
          <a:p>
            <a:pPr algn="ctr"/>
          </a:p>
        </p:txBody>
      </p:sp>
      <p:sp>
        <p:nvSpPr>
          <p:cNvPr id="26"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27"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8"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29"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30"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31"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Haltung</a:t>
            </a:r>
          </a:p>
        </p:txBody>
      </p:sp>
      <p:pic>
        <p:nvPicPr>
          <p:cNvPr id="3" name="Picture Placeholder 2" descr="florian-werthmann.jpg"/>
          <p:cNvPicPr>
            <a:picLocks noGrp="1" noChangeAspect="1"/>
          </p:cNvPicPr>
          <p:nvPr>
            <p:ph type="pic" idx="15"/>
          </p:nvPr>
        </p:nvPicPr>
        <p:blipFill>
          <a:blip r:embed="rId2"/>
          <a:srcRect/>
          <a:stretch>
            <a:fillRect/>
          </a:stretch>
        </p:blipFill>
        <p:spPr>
          <a:noFill/>
        </p:spPr>
      </p:pic>
      <p:sp>
        <p:nvSpPr>
          <p:cNvPr id="4" name="Text Placeholder 3"/>
          <p:cNvSpPr>
            <a:spLocks noGrp="1"/>
          </p:cNvSpPr>
          <p:nvPr>
            <p:ph type="body" idx="18"/>
          </p:nvPr>
        </p:nvSpPr>
        <p:spPr/>
        <p:txBody>
          <a:bodyPr/>
          <a:lstStyle/>
          <a:p>
            <a:r>
              <a:t>„Hinter jedem Paragrafen der Kreislaufwirtschaft steht im Kern eine Haltung gegenüber den Ressourcen unserer Erde.“</a:t>
            </a:r>
          </a:p>
        </p:txBody>
      </p:sp>
      <p:sp>
        <p:nvSpPr>
          <p:cNvPr id="5" name="Text Placeholder 4"/>
          <p:cNvSpPr>
            <a:spLocks noGrp="1"/>
          </p:cNvSpPr>
          <p:nvPr>
            <p:ph type="body" idx="38"/>
          </p:nvPr>
        </p:nvSpPr>
        <p:spPr/>
        <p:txBody>
          <a:bodyPr/>
          <a:lstStyle/>
          <a:p>
            <a:r>
              <a:t>Florian Werthmann</a:t>
            </a:r>
          </a:p>
        </p:txBody>
      </p:sp>
      <p:sp>
        <p:nvSpPr>
          <p:cNvPr id="6" name="Text Placeholder 5"/>
          <p:cNvSpPr>
            <a:spLocks noGrp="1"/>
          </p:cNvSpPr>
          <p:nvPr>
            <p:ph type="body" idx="39"/>
          </p:nvPr>
        </p:nvSpPr>
        <p:spPr/>
        <p:txBody>
          <a:bodyPr/>
          <a:lstStyle/>
          <a:p>
            <a:r>
              <a:t>Geschäftsführer, ecowerth GmbH</a:t>
            </a:r>
          </a:p>
        </p:txBody>
      </p:sp>
      <p:sp>
        <p:nvSpPr>
          <p:cNvPr id="7" name="nav-1-active"/>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8FC65A"/>
                </a:solidFill>
                <a:latin typeface="IBM Plex Mono"/>
              </a:rPr>
              <a:t>01</a:t>
            </a:r>
            <a:r>
              <a:rPr sz="1200" b="0" i="0" lang="de-DE">
                <a:solidFill>
                  <a:srgbClr val="FFFFFF"/>
                </a:solidFill>
                <a:latin typeface="IBM Plex Mono"/>
              </a:rPr>
              <a:t> </a:t>
            </a:r>
            <a:r>
              <a:rPr sz="1200" b="0" i="0" lang="de-DE" cap="all" spc="72">
                <a:solidFill>
                  <a:srgbClr val="FFFFFF"/>
                </a:solidFill>
                <a:latin typeface="IBM Plex Sans Medium"/>
              </a:rPr>
              <a:t>Die Gruppe</a:t>
            </a:r>
          </a:p>
        </p:txBody>
      </p:sp>
      <p:sp>
        <p:nvSpPr>
          <p:cNvPr id="8" name="nav-underline"/>
          <p:cNvSpPr/>
          <p:nvPr/>
        </p:nvSpPr>
        <p:spPr>
          <a:xfrm>
            <a:off x="2862715" y="685800"/>
            <a:ext cx="1250414" cy="25400"/>
          </a:xfrm>
          <a:prstGeom prst="rect">
            <a:avLst/>
          </a:prstGeom>
          <a:solidFill>
            <a:srgbClr val="8FC65A"/>
          </a:solidFill>
          <a:ln>
            <a:noFill/>
          </a:ln>
        </p:spPr>
        <p:txBody>
          <a:bodyPr rtlCol="0" anchor="ctr"/>
          <a:lstStyle/>
          <a:p>
            <a:pPr algn="ctr"/>
          </a:p>
        </p:txBody>
      </p:sp>
      <p:sp>
        <p:nvSpPr>
          <p:cNvPr id="9"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0"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1"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A3B6C9"/>
                </a:solidFill>
                <a:latin typeface="IBM Plex Mono"/>
              </a:rPr>
              <a:t>04</a:t>
            </a:r>
            <a:r>
              <a:rPr sz="1200" b="0" i="0" lang="de-DE">
                <a:solidFill>
                  <a:srgbClr val="A3B6C9"/>
                </a:solidFill>
                <a:latin typeface="IBM Plex Mono"/>
              </a:rPr>
              <a:t> </a:t>
            </a:r>
            <a:r>
              <a:rPr sz="1200" b="0" i="0" lang="de-DE" cap="all" spc="72">
                <a:solidFill>
                  <a:srgbClr val="A3B6C9"/>
                </a:solidFill>
                <a:latin typeface="IBM Plex Sans Medium"/>
              </a:rPr>
              <a:t>Rechtsrahmen</a:t>
            </a:r>
          </a:p>
        </p:txBody>
      </p:sp>
      <p:sp>
        <p:nvSpPr>
          <p:cNvPr id="12"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
        <p:nvSpPr>
          <p:cNvPr id="13"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A3B6C9"/>
                </a:solidFill>
                <a:latin typeface="IBM Plex Mono Medium"/>
              </a:rPr>
              <a:t>Zukunft im Kreislauf</a:t>
            </a:r>
          </a:p>
        </p:txBody>
      </p:sp>
      <p:sp>
        <p:nvSpPr>
          <p:cNvPr id="14"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A3B6C9"/>
                </a:solidFill>
                <a:latin typeface="IBM Plex Mono Medium"/>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01 · Die Gruppe</a:t>
            </a:r>
          </a:p>
        </p:txBody>
      </p:sp>
      <p:sp>
        <p:nvSpPr>
          <p:cNvPr id="3" name="Title 2"/>
          <p:cNvSpPr>
            <a:spLocks noGrp="1"/>
          </p:cNvSpPr>
          <p:nvPr>
            <p:ph type="title"/>
          </p:nvPr>
        </p:nvSpPr>
        <p:spPr/>
        <p:txBody>
          <a:bodyPr/>
          <a:lstStyle/>
          <a:p>
            <a:r>
              <a:t>ECOWERTH in Zahlen</a:t>
            </a:r>
          </a:p>
        </p:txBody>
      </p:sp>
      <p:sp>
        <p:nvSpPr>
          <p:cNvPr id="4" name="Text Placeholder 3"/>
          <p:cNvSpPr>
            <a:spLocks noGrp="1"/>
          </p:cNvSpPr>
          <p:nvPr>
            <p:ph type="body" idx="37"/>
          </p:nvPr>
        </p:nvSpPr>
        <p:spPr/>
        <p:txBody>
          <a:bodyPr/>
          <a:lstStyle/>
          <a:p>
            <a:r>
              <a:t>Was bisher auf vier Firmierungen verteilt war, arbeitet künftig unter einem Dach.</a:t>
            </a:r>
          </a:p>
        </p:txBody>
      </p:sp>
      <p:sp>
        <p:nvSpPr>
          <p:cNvPr id="5" name="fact-value-1"/>
          <p:cNvSpPr txBox="1"/>
          <p:nvPr/>
        </p:nvSpPr>
        <p:spPr>
          <a:xfrm>
            <a:off x="762000" y="3644900"/>
            <a:ext cx="2181969" cy="863600"/>
          </a:xfrm>
          <a:prstGeom prst="rect">
            <a:avLst/>
          </a:prstGeom>
          <a:noFill/>
        </p:spPr>
        <p:txBody>
          <a:bodyPr wrap="square" lIns="0" rIns="0" tIns="0" bIns="0" anchor="t">
            <a:noAutofit/>
          </a:bodyPr>
          <a:lstStyle/>
          <a:p>
            <a:pPr algn="l"/>
            <a:r>
              <a:rPr sz="6000" b="1" i="0" lang="de-DE">
                <a:solidFill>
                  <a:srgbClr val="FFFFFF"/>
                </a:solidFill>
                <a:latin typeface="Archivo"/>
              </a:rPr>
              <a:t>4</a:t>
            </a:r>
          </a:p>
        </p:txBody>
      </p:sp>
      <p:sp>
        <p:nvSpPr>
          <p:cNvPr id="6" name="fact-label-1"/>
          <p:cNvSpPr txBox="1"/>
          <p:nvPr/>
        </p:nvSpPr>
        <p:spPr>
          <a:xfrm>
            <a:off x="762000" y="4521200"/>
            <a:ext cx="2131169" cy="1143000"/>
          </a:xfrm>
          <a:prstGeom prst="rect">
            <a:avLst/>
          </a:prstGeom>
          <a:noFill/>
        </p:spPr>
        <p:txBody>
          <a:bodyPr wrap="square" lIns="0" rIns="0" tIns="0" bIns="0" anchor="t">
            <a:noAutofit/>
          </a:bodyPr>
          <a:lstStyle/>
          <a:p>
            <a:pPr algn="l"/>
            <a:r>
              <a:rPr sz="1700" b="0" i="0" lang="de-DE">
                <a:solidFill>
                  <a:srgbClr val="FFFFFF"/>
                </a:solidFill>
                <a:latin typeface="IBM Plex Sans"/>
              </a:rPr>
              <a:t>Unternehmen unter einem Dach</a:t>
            </a:r>
          </a:p>
        </p:txBody>
      </p:sp>
      <p:sp>
        <p:nvSpPr>
          <p:cNvPr id="7" name="fact-sep-2"/>
          <p:cNvSpPr/>
          <p:nvPr/>
        </p:nvSpPr>
        <p:spPr>
          <a:xfrm>
            <a:off x="3090019" y="3733800"/>
            <a:ext cx="12700" cy="1612900"/>
          </a:xfrm>
          <a:prstGeom prst="rect">
            <a:avLst/>
          </a:prstGeom>
          <a:solidFill>
            <a:srgbClr val="FFFFFF">
              <a:alpha val="40000"/>
            </a:srgbClr>
          </a:solidFill>
          <a:ln>
            <a:noFill/>
          </a:ln>
        </p:spPr>
        <p:txBody>
          <a:bodyPr rtlCol="0" anchor="ctr"/>
          <a:lstStyle/>
          <a:p>
            <a:pPr algn="ctr"/>
          </a:p>
        </p:txBody>
      </p:sp>
      <p:sp>
        <p:nvSpPr>
          <p:cNvPr id="8" name="fact-value-2"/>
          <p:cNvSpPr txBox="1"/>
          <p:nvPr/>
        </p:nvSpPr>
        <p:spPr>
          <a:xfrm>
            <a:off x="3350369" y="3644900"/>
            <a:ext cx="1927969" cy="863600"/>
          </a:xfrm>
          <a:prstGeom prst="rect">
            <a:avLst/>
          </a:prstGeom>
          <a:noFill/>
        </p:spPr>
        <p:txBody>
          <a:bodyPr wrap="square" lIns="0" rIns="0" tIns="0" bIns="0" anchor="t">
            <a:noAutofit/>
          </a:bodyPr>
          <a:lstStyle/>
          <a:p>
            <a:pPr algn="l"/>
            <a:r>
              <a:rPr sz="6000" b="1" i="0" lang="de-DE">
                <a:solidFill>
                  <a:srgbClr val="FFFFFF"/>
                </a:solidFill>
                <a:latin typeface="Archivo"/>
              </a:rPr>
              <a:t>3</a:t>
            </a:r>
          </a:p>
        </p:txBody>
      </p:sp>
      <p:sp>
        <p:nvSpPr>
          <p:cNvPr id="9" name="fact-label-2"/>
          <p:cNvSpPr txBox="1"/>
          <p:nvPr/>
        </p:nvSpPr>
        <p:spPr>
          <a:xfrm>
            <a:off x="3350369" y="4521200"/>
            <a:ext cx="1877169" cy="1143000"/>
          </a:xfrm>
          <a:prstGeom prst="rect">
            <a:avLst/>
          </a:prstGeom>
          <a:noFill/>
        </p:spPr>
        <p:txBody>
          <a:bodyPr wrap="square" lIns="0" rIns="0" tIns="0" bIns="0" anchor="t">
            <a:noAutofit/>
          </a:bodyPr>
          <a:lstStyle/>
          <a:p>
            <a:pPr algn="l"/>
            <a:r>
              <a:rPr sz="1700" b="0" i="0" lang="de-DE">
                <a:solidFill>
                  <a:srgbClr val="FFFFFF"/>
                </a:solidFill>
                <a:latin typeface="IBM Plex Sans"/>
              </a:rPr>
              <a:t>Marken: ECOLOGICON · ECORELOOP · ECOINVEST</a:t>
            </a:r>
          </a:p>
        </p:txBody>
      </p:sp>
      <p:sp>
        <p:nvSpPr>
          <p:cNvPr id="10" name="fact-sep-3"/>
          <p:cNvSpPr/>
          <p:nvPr/>
        </p:nvSpPr>
        <p:spPr>
          <a:xfrm>
            <a:off x="5424388" y="3733800"/>
            <a:ext cx="12700" cy="1612900"/>
          </a:xfrm>
          <a:prstGeom prst="rect">
            <a:avLst/>
          </a:prstGeom>
          <a:solidFill>
            <a:srgbClr val="FFFFFF">
              <a:alpha val="40000"/>
            </a:srgbClr>
          </a:solidFill>
          <a:ln>
            <a:noFill/>
          </a:ln>
        </p:spPr>
        <p:txBody>
          <a:bodyPr rtlCol="0" anchor="ctr"/>
          <a:lstStyle/>
          <a:p>
            <a:pPr algn="ctr"/>
          </a:p>
        </p:txBody>
      </p:sp>
      <p:sp>
        <p:nvSpPr>
          <p:cNvPr id="11" name="fact-value-3"/>
          <p:cNvSpPr txBox="1"/>
          <p:nvPr/>
        </p:nvSpPr>
        <p:spPr>
          <a:xfrm>
            <a:off x="5684738" y="3644900"/>
            <a:ext cx="1927969" cy="863600"/>
          </a:xfrm>
          <a:prstGeom prst="rect">
            <a:avLst/>
          </a:prstGeom>
          <a:noFill/>
        </p:spPr>
        <p:txBody>
          <a:bodyPr wrap="square" lIns="0" rIns="0" tIns="0" bIns="0" anchor="t">
            <a:noAutofit/>
          </a:bodyPr>
          <a:lstStyle/>
          <a:p>
            <a:pPr algn="l"/>
            <a:r>
              <a:rPr sz="6000" b="1" i="0" lang="de-DE">
                <a:solidFill>
                  <a:srgbClr val="FFFFFF"/>
                </a:solidFill>
                <a:latin typeface="Archivo"/>
              </a:rPr>
              <a:t>12</a:t>
            </a:r>
          </a:p>
        </p:txBody>
      </p:sp>
      <p:sp>
        <p:nvSpPr>
          <p:cNvPr id="12" name="fact-label-3"/>
          <p:cNvSpPr txBox="1"/>
          <p:nvPr/>
        </p:nvSpPr>
        <p:spPr>
          <a:xfrm>
            <a:off x="5684738" y="4521200"/>
            <a:ext cx="1877169" cy="1143000"/>
          </a:xfrm>
          <a:prstGeom prst="rect">
            <a:avLst/>
          </a:prstGeom>
          <a:noFill/>
        </p:spPr>
        <p:txBody>
          <a:bodyPr wrap="square" lIns="0" rIns="0" tIns="0" bIns="0" anchor="t">
            <a:noAutofit/>
          </a:bodyPr>
          <a:lstStyle/>
          <a:p>
            <a:pPr algn="l"/>
            <a:r>
              <a:rPr sz="1700" b="0" i="0" lang="de-DE">
                <a:solidFill>
                  <a:srgbClr val="FFFFFF"/>
                </a:solidFill>
                <a:latin typeface="IBM Plex Sans"/>
              </a:rPr>
              <a:t>abgedeckte Zielgruppen entlang der Pflichtenkette</a:t>
            </a:r>
          </a:p>
        </p:txBody>
      </p:sp>
      <p:sp>
        <p:nvSpPr>
          <p:cNvPr id="13" name="fact-sep-4"/>
          <p:cNvSpPr/>
          <p:nvPr/>
        </p:nvSpPr>
        <p:spPr>
          <a:xfrm>
            <a:off x="7758757" y="3733800"/>
            <a:ext cx="12700" cy="1612900"/>
          </a:xfrm>
          <a:prstGeom prst="rect">
            <a:avLst/>
          </a:prstGeom>
          <a:solidFill>
            <a:srgbClr val="FFFFFF">
              <a:alpha val="40000"/>
            </a:srgbClr>
          </a:solidFill>
          <a:ln>
            <a:noFill/>
          </a:ln>
        </p:spPr>
        <p:txBody>
          <a:bodyPr rtlCol="0" anchor="ctr"/>
          <a:lstStyle/>
          <a:p>
            <a:pPr algn="ctr"/>
          </a:p>
        </p:txBody>
      </p:sp>
      <p:sp>
        <p:nvSpPr>
          <p:cNvPr id="14" name="fact-value-4"/>
          <p:cNvSpPr txBox="1"/>
          <p:nvPr/>
        </p:nvSpPr>
        <p:spPr>
          <a:xfrm>
            <a:off x="8019107" y="3644900"/>
            <a:ext cx="3258493" cy="863600"/>
          </a:xfrm>
          <a:prstGeom prst="rect">
            <a:avLst/>
          </a:prstGeom>
          <a:noFill/>
        </p:spPr>
        <p:txBody>
          <a:bodyPr wrap="square" lIns="0" rIns="0" tIns="0" bIns="0" anchor="t">
            <a:noAutofit/>
          </a:bodyPr>
          <a:lstStyle/>
          <a:p>
            <a:pPr algn="l"/>
            <a:r>
              <a:rPr sz="6000" b="1" i="0" lang="de-DE">
                <a:solidFill>
                  <a:srgbClr val="FFFFFF"/>
                </a:solidFill>
                <a:latin typeface="Archivo"/>
              </a:rPr>
              <a:t>8.000 m²</a:t>
            </a:r>
          </a:p>
        </p:txBody>
      </p:sp>
      <p:sp>
        <p:nvSpPr>
          <p:cNvPr id="15" name="fact-label-4"/>
          <p:cNvSpPr txBox="1"/>
          <p:nvPr/>
        </p:nvSpPr>
        <p:spPr>
          <a:xfrm>
            <a:off x="8019107" y="4521200"/>
            <a:ext cx="3207693" cy="1143000"/>
          </a:xfrm>
          <a:prstGeom prst="rect">
            <a:avLst/>
          </a:prstGeom>
          <a:noFill/>
        </p:spPr>
        <p:txBody>
          <a:bodyPr wrap="square" lIns="0" rIns="0" tIns="0" bIns="0" anchor="t">
            <a:noAutofit/>
          </a:bodyPr>
          <a:lstStyle/>
          <a:p>
            <a:pPr algn="l"/>
            <a:r>
              <a:rPr sz="1700" b="0" i="0" lang="de-DE">
                <a:solidFill>
                  <a:srgbClr val="FFFFFF"/>
                </a:solidFill>
                <a:latin typeface="IBM Plex Sans"/>
              </a:rPr>
              <a:t>eigener Standort ECO Park Röthlein</a:t>
            </a:r>
          </a:p>
        </p:txBody>
      </p:sp>
      <p:sp>
        <p:nvSpPr>
          <p:cNvPr id="16" name="nav-1-active"/>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F7A1E"/>
                </a:solidFill>
                <a:latin typeface="IBM Plex Mono"/>
              </a:rPr>
              <a:t>01</a:t>
            </a:r>
            <a:r>
              <a:rPr sz="1200" b="0" i="0" lang="de-DE">
                <a:solidFill>
                  <a:srgbClr val="043751"/>
                </a:solidFill>
                <a:latin typeface="IBM Plex Mono"/>
              </a:rPr>
              <a:t> </a:t>
            </a:r>
            <a:r>
              <a:rPr sz="1200" b="0" i="0" lang="de-DE" cap="all" spc="72">
                <a:solidFill>
                  <a:srgbClr val="043751"/>
                </a:solidFill>
                <a:latin typeface="IBM Plex Sans Medium"/>
              </a:rPr>
              <a:t>Die Gruppe</a:t>
            </a:r>
          </a:p>
        </p:txBody>
      </p:sp>
      <p:sp>
        <p:nvSpPr>
          <p:cNvPr id="17" name="nav-underline"/>
          <p:cNvSpPr/>
          <p:nvPr/>
        </p:nvSpPr>
        <p:spPr>
          <a:xfrm>
            <a:off x="2862715" y="685800"/>
            <a:ext cx="1250414" cy="25400"/>
          </a:xfrm>
          <a:prstGeom prst="rect">
            <a:avLst/>
          </a:prstGeom>
          <a:solidFill>
            <a:srgbClr val="6EA52E"/>
          </a:solidFill>
          <a:ln>
            <a:noFill/>
          </a:ln>
        </p:spPr>
        <p:txBody>
          <a:bodyPr rtlCol="0" anchor="ctr"/>
          <a:lstStyle/>
          <a:p>
            <a:pPr algn="ctr"/>
          </a:p>
        </p:txBody>
      </p:sp>
      <p:sp>
        <p:nvSpPr>
          <p:cNvPr id="18"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19"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0"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21"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22"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23"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p:nvPr>
        </p:nvSpPr>
        <p:spPr/>
        <p:txBody>
          <a:bodyPr/>
          <a:lstStyle/>
          <a:p>
            <a:r>
              <a:t>02</a:t>
            </a:r>
          </a:p>
        </p:txBody>
      </p:sp>
      <p:sp>
        <p:nvSpPr>
          <p:cNvPr id="3" name="Text Placeholder 2"/>
          <p:cNvSpPr>
            <a:spLocks noGrp="1"/>
          </p:cNvSpPr>
          <p:nvPr>
            <p:ph type="body" idx="11"/>
          </p:nvPr>
        </p:nvSpPr>
        <p:spPr/>
        <p:txBody>
          <a:bodyPr/>
          <a:lstStyle/>
          <a:p>
            <a:r>
              <a:t>Kapitel 2 von 5</a:t>
            </a:r>
          </a:p>
        </p:txBody>
      </p:sp>
      <p:sp>
        <p:nvSpPr>
          <p:cNvPr id="4" name="Title 3"/>
          <p:cNvSpPr>
            <a:spLocks noGrp="1"/>
          </p:cNvSpPr>
          <p:nvPr>
            <p:ph type="title"/>
          </p:nvPr>
        </p:nvSpPr>
        <p:spPr/>
        <p:txBody>
          <a:bodyPr/>
          <a:lstStyle/>
          <a:p>
            <a:r>
              <a:t>Unsere Marken</a:t>
            </a:r>
          </a:p>
        </p:txBody>
      </p:sp>
      <p:sp>
        <p:nvSpPr>
          <p:cNvPr id="5" name="Text Placeholder 4"/>
          <p:cNvSpPr>
            <a:spLocks noGrp="1"/>
          </p:cNvSpPr>
          <p:nvPr>
            <p:ph type="body" idx="17"/>
          </p:nvPr>
        </p:nvSpPr>
        <p:spPr/>
        <p:txBody>
          <a:bodyPr/>
          <a:lstStyle/>
          <a:p>
            <a:r>
              <a:t>Ein Dach, drei Marken.</a:t>
            </a:r>
          </a:p>
        </p:txBody>
      </p:sp>
      <p:sp>
        <p:nvSpPr>
          <p:cNvPr id="6" name="ring-seg-1-done"/>
          <p:cNvSpPr/>
          <p:nvPr/>
        </p:nvSpPr>
        <p:spPr>
          <a:xfrm>
            <a:off x="1206500" y="2222500"/>
            <a:ext cx="3175000" cy="3175000"/>
          </a:xfrm>
          <a:prstGeom prst="arc">
            <a:avLst>
              <a:gd name="adj1" fmla="val 16612530"/>
              <a:gd name="adj2" fmla="val 20107470"/>
            </a:avLst>
          </a:prstGeom>
          <a:noFill/>
          <a:ln w="190500" cap="rnd">
            <a:solidFill>
              <a:srgbClr val="A3B6C9"/>
            </a:solidFill>
          </a:ln>
        </p:spPr>
        <p:txBody>
          <a:bodyPr rtlCol="0" anchor="ctr"/>
          <a:lstStyle/>
          <a:p>
            <a:pPr algn="ctr"/>
          </a:p>
        </p:txBody>
      </p:sp>
      <p:sp>
        <p:nvSpPr>
          <p:cNvPr id="7" name="ring-seg-2-active"/>
          <p:cNvSpPr/>
          <p:nvPr/>
        </p:nvSpPr>
        <p:spPr>
          <a:xfrm>
            <a:off x="1206500" y="2222500"/>
            <a:ext cx="3175000" cy="3175000"/>
          </a:xfrm>
          <a:prstGeom prst="arc">
            <a:avLst>
              <a:gd name="adj1" fmla="val 20932530"/>
              <a:gd name="adj2" fmla="val 2827470"/>
            </a:avLst>
          </a:prstGeom>
          <a:noFill/>
          <a:ln w="190500" cap="rnd">
            <a:solidFill>
              <a:srgbClr val="6EA52E"/>
            </a:solidFill>
          </a:ln>
        </p:spPr>
        <p:txBody>
          <a:bodyPr rtlCol="0" anchor="ctr"/>
          <a:lstStyle/>
          <a:p>
            <a:pPr algn="ctr"/>
          </a:p>
        </p:txBody>
      </p:sp>
      <p:sp>
        <p:nvSpPr>
          <p:cNvPr id="8" name="ring-seg-3-todo"/>
          <p:cNvSpPr/>
          <p:nvPr/>
        </p:nvSpPr>
        <p:spPr>
          <a:xfrm>
            <a:off x="1206500" y="2222500"/>
            <a:ext cx="3175000" cy="3175000"/>
          </a:xfrm>
          <a:prstGeom prst="arc">
            <a:avLst>
              <a:gd name="adj1" fmla="val 3652530"/>
              <a:gd name="adj2" fmla="val 7147470"/>
            </a:avLst>
          </a:prstGeom>
          <a:noFill/>
          <a:ln w="190500" cap="rnd">
            <a:solidFill>
              <a:srgbClr val="325C72"/>
            </a:solidFill>
          </a:ln>
        </p:spPr>
        <p:txBody>
          <a:bodyPr rtlCol="0" anchor="ctr"/>
          <a:lstStyle/>
          <a:p>
            <a:pPr algn="ctr"/>
          </a:p>
        </p:txBody>
      </p:sp>
      <p:sp>
        <p:nvSpPr>
          <p:cNvPr id="9" name="ring-seg-4-todo"/>
          <p:cNvSpPr/>
          <p:nvPr/>
        </p:nvSpPr>
        <p:spPr>
          <a:xfrm>
            <a:off x="1206500" y="2222500"/>
            <a:ext cx="3175000" cy="3175000"/>
          </a:xfrm>
          <a:prstGeom prst="arc">
            <a:avLst>
              <a:gd name="adj1" fmla="val 7972530"/>
              <a:gd name="adj2" fmla="val 11467470"/>
            </a:avLst>
          </a:prstGeom>
          <a:noFill/>
          <a:ln w="190500" cap="rnd">
            <a:solidFill>
              <a:srgbClr val="325C72"/>
            </a:solidFill>
          </a:ln>
        </p:spPr>
        <p:txBody>
          <a:bodyPr rtlCol="0" anchor="ctr"/>
          <a:lstStyle/>
          <a:p>
            <a:pPr algn="ctr"/>
          </a:p>
        </p:txBody>
      </p:sp>
      <p:sp>
        <p:nvSpPr>
          <p:cNvPr id="10" name="ring-seg-5-todo"/>
          <p:cNvSpPr/>
          <p:nvPr/>
        </p:nvSpPr>
        <p:spPr>
          <a:xfrm>
            <a:off x="1206500" y="2222500"/>
            <a:ext cx="3175000" cy="3175000"/>
          </a:xfrm>
          <a:prstGeom prst="arc">
            <a:avLst>
              <a:gd name="adj1" fmla="val 12292530"/>
              <a:gd name="adj2" fmla="val 15787470"/>
            </a:avLst>
          </a:prstGeom>
          <a:noFill/>
          <a:ln w="190500" cap="rnd">
            <a:solidFill>
              <a:srgbClr val="325C72"/>
            </a:solidFill>
          </a:ln>
        </p:spPr>
        <p:txBody>
          <a:bodyPr rtlCol="0" anchor="ctr"/>
          <a:lstStyle/>
          <a:p>
            <a:pPr algn="ctr"/>
          </a:p>
        </p:txBody>
      </p:sp>
      <p:sp>
        <p:nvSpPr>
          <p:cNvPr id="11"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12"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8FC65A"/>
                </a:solidFill>
                <a:latin typeface="IBM Plex Mono"/>
              </a:rPr>
              <a:t>02</a:t>
            </a:r>
            <a:r>
              <a:rPr sz="1200" b="0" i="0" lang="de-DE">
                <a:solidFill>
                  <a:srgbClr val="FFFFFF"/>
                </a:solidFill>
                <a:latin typeface="IBM Plex Mono"/>
              </a:rPr>
              <a:t> </a:t>
            </a:r>
            <a:r>
              <a:rPr sz="1200" b="0" i="0" lang="de-DE" cap="all" spc="72">
                <a:solidFill>
                  <a:srgbClr val="FFFFFF"/>
                </a:solidFill>
                <a:latin typeface="IBM Plex Sans Medium"/>
              </a:rPr>
              <a:t>Unsere Marken</a:t>
            </a:r>
          </a:p>
        </p:txBody>
      </p:sp>
      <p:sp>
        <p:nvSpPr>
          <p:cNvPr id="13" name="nav-underline"/>
          <p:cNvSpPr/>
          <p:nvPr/>
        </p:nvSpPr>
        <p:spPr>
          <a:xfrm>
            <a:off x="4367129" y="685800"/>
            <a:ext cx="1638804" cy="25400"/>
          </a:xfrm>
          <a:prstGeom prst="rect">
            <a:avLst/>
          </a:prstGeom>
          <a:solidFill>
            <a:srgbClr val="8FC65A"/>
          </a:solidFill>
          <a:ln>
            <a:noFill/>
          </a:ln>
        </p:spPr>
        <p:txBody>
          <a:bodyPr rtlCol="0" anchor="ctr"/>
          <a:lstStyle/>
          <a:p>
            <a:pPr algn="ctr"/>
          </a:p>
        </p:txBody>
      </p:sp>
      <p:sp>
        <p:nvSpPr>
          <p:cNvPr id="14"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5"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A3B6C9"/>
                </a:solidFill>
                <a:latin typeface="IBM Plex Mono"/>
              </a:rPr>
              <a:t>04</a:t>
            </a:r>
            <a:r>
              <a:rPr sz="1200" b="0" i="0" lang="de-DE">
                <a:solidFill>
                  <a:srgbClr val="A3B6C9"/>
                </a:solidFill>
                <a:latin typeface="IBM Plex Mono"/>
              </a:rPr>
              <a:t> </a:t>
            </a:r>
            <a:r>
              <a:rPr sz="1200" b="0" i="0" lang="de-DE" cap="all" spc="72">
                <a:solidFill>
                  <a:srgbClr val="A3B6C9"/>
                </a:solidFill>
                <a:latin typeface="IBM Plex Sans Medium"/>
              </a:rPr>
              <a:t>Rechtsrahmen</a:t>
            </a:r>
          </a:p>
        </p:txBody>
      </p:sp>
      <p:sp>
        <p:nvSpPr>
          <p:cNvPr id="16"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02 · Unsere Marken</a:t>
            </a:r>
          </a:p>
        </p:txBody>
      </p:sp>
      <p:sp>
        <p:nvSpPr>
          <p:cNvPr id="3" name="Title 2"/>
          <p:cNvSpPr>
            <a:spLocks noGrp="1"/>
          </p:cNvSpPr>
          <p:nvPr>
            <p:ph type="title"/>
          </p:nvPr>
        </p:nvSpPr>
        <p:spPr/>
        <p:txBody>
          <a:bodyPr/>
          <a:lstStyle/>
          <a:p>
            <a:r>
              <a:t>Ein Dach, drei Marken</a:t>
            </a:r>
          </a:p>
        </p:txBody>
      </p:sp>
      <p:sp>
        <p:nvSpPr>
          <p:cNvPr id="4" name="brands-rule"/>
          <p:cNvSpPr/>
          <p:nvPr/>
        </p:nvSpPr>
        <p:spPr>
          <a:xfrm>
            <a:off x="762000" y="2152650"/>
            <a:ext cx="10668000" cy="12700"/>
          </a:xfrm>
          <a:prstGeom prst="rect">
            <a:avLst/>
          </a:prstGeom>
          <a:solidFill>
            <a:srgbClr val="043751"/>
          </a:solidFill>
          <a:ln>
            <a:noFill/>
          </a:ln>
        </p:spPr>
        <p:txBody>
          <a:bodyPr rtlCol="0" anchor="ctr"/>
          <a:lstStyle/>
          <a:p>
            <a:pPr algn="ctr"/>
          </a:p>
        </p:txBody>
      </p:sp>
      <p:sp>
        <p:nvSpPr>
          <p:cNvPr id="5" name="brand-sep-1"/>
          <p:cNvSpPr/>
          <p:nvPr/>
        </p:nvSpPr>
        <p:spPr>
          <a:xfrm>
            <a:off x="4311650" y="2311400"/>
            <a:ext cx="12700" cy="3403600"/>
          </a:xfrm>
          <a:prstGeom prst="rect">
            <a:avLst/>
          </a:prstGeom>
          <a:solidFill>
            <a:srgbClr val="D9D9D9"/>
          </a:solidFill>
          <a:ln>
            <a:noFill/>
          </a:ln>
        </p:spPr>
        <p:txBody>
          <a:bodyPr rtlCol="0" anchor="ctr"/>
          <a:lstStyle/>
          <a:p>
            <a:pPr algn="ctr"/>
          </a:p>
        </p:txBody>
      </p:sp>
      <p:sp>
        <p:nvSpPr>
          <p:cNvPr id="6" name="brand-label-1"/>
          <p:cNvSpPr txBox="1"/>
          <p:nvPr/>
        </p:nvSpPr>
        <p:spPr>
          <a:xfrm>
            <a:off x="762000" y="2362200"/>
            <a:ext cx="3403600" cy="203200"/>
          </a:xfrm>
          <a:prstGeom prst="rect">
            <a:avLst/>
          </a:prstGeom>
          <a:noFill/>
        </p:spPr>
        <p:txBody>
          <a:bodyPr wrap="square" lIns="0" rIns="0" tIns="0" bIns="0" anchor="t">
            <a:noAutofit/>
          </a:bodyPr>
          <a:lstStyle/>
          <a:p>
            <a:pPr algn="l"/>
            <a:r>
              <a:rPr sz="1100" b="0" i="0" lang="de-DE" cap="all" spc="110">
                <a:solidFill>
                  <a:srgbClr val="4A6079"/>
                </a:solidFill>
                <a:latin typeface="IBM Plex Mono Medium"/>
              </a:rPr>
              <a:t>Beratung</a:t>
            </a:r>
          </a:p>
        </p:txBody>
      </p:sp>
      <p:pic>
        <p:nvPicPr>
          <p:cNvPr id="7" name="brand-logo-1" descr="ecologicon.png"/>
          <p:cNvPicPr>
            <a:picLocks noChangeAspect="1"/>
          </p:cNvPicPr>
          <p:nvPr/>
        </p:nvPicPr>
        <p:blipFill>
          <a:blip r:embed="rId2"/>
          <a:stretch>
            <a:fillRect/>
          </a:stretch>
        </p:blipFill>
        <p:spPr>
          <a:xfrm>
            <a:off x="762000" y="2641600"/>
            <a:ext cx="2225165" cy="203200"/>
          </a:xfrm>
          <a:prstGeom prst="rect">
            <a:avLst/>
          </a:prstGeom>
        </p:spPr>
      </p:pic>
      <p:sp>
        <p:nvSpPr>
          <p:cNvPr id="8" name="brand-from-1"/>
          <p:cNvSpPr txBox="1"/>
          <p:nvPr/>
        </p:nvSpPr>
        <p:spPr>
          <a:xfrm>
            <a:off x="762000" y="2959100"/>
            <a:ext cx="3403600" cy="223520"/>
          </a:xfrm>
          <a:prstGeom prst="rect">
            <a:avLst/>
          </a:prstGeom>
          <a:noFill/>
        </p:spPr>
        <p:txBody>
          <a:bodyPr wrap="square" lIns="0" rIns="0" tIns="0" bIns="0" anchor="t">
            <a:noAutofit/>
          </a:bodyPr>
          <a:lstStyle/>
          <a:p>
            <a:pPr algn="l"/>
            <a:r>
              <a:rPr sz="1200" b="0" i="0" lang="de-DE">
                <a:solidFill>
                  <a:srgbClr val="4A6079"/>
                </a:solidFill>
                <a:latin typeface="IBM Plex Mono"/>
              </a:rPr>
              <a:t>bisher: Ecologicon GmbH</a:t>
            </a:r>
          </a:p>
        </p:txBody>
      </p:sp>
      <p:sp>
        <p:nvSpPr>
          <p:cNvPr id="9" name="brand-text-1"/>
          <p:cNvSpPr txBox="1"/>
          <p:nvPr/>
        </p:nvSpPr>
        <p:spPr>
          <a:xfrm>
            <a:off x="762000" y="3284220"/>
            <a:ext cx="3403600" cy="817880"/>
          </a:xfrm>
          <a:prstGeom prst="rect">
            <a:avLst/>
          </a:prstGeom>
          <a:noFill/>
        </p:spPr>
        <p:txBody>
          <a:bodyPr wrap="square" lIns="0" rIns="0" tIns="0" bIns="0" anchor="t">
            <a:noAutofit/>
          </a:bodyPr>
          <a:lstStyle/>
          <a:p>
            <a:pPr algn="l"/>
            <a:r>
              <a:rPr sz="1600" b="0" i="0" lang="de-DE">
                <a:solidFill>
                  <a:srgbClr val="4A6079"/>
                </a:solidFill>
                <a:latin typeface="IBM Plex Sans"/>
              </a:rPr>
              <a:t>Die externe Umweltabteilung für Hersteller, Importeure und Entsorger.</a:t>
            </a:r>
          </a:p>
        </p:txBody>
      </p:sp>
      <p:sp>
        <p:nvSpPr>
          <p:cNvPr id="10" name="brand-dash-1-1"/>
          <p:cNvSpPr/>
          <p:nvPr/>
        </p:nvSpPr>
        <p:spPr>
          <a:xfrm>
            <a:off x="762000" y="4273550"/>
            <a:ext cx="88900" cy="12700"/>
          </a:xfrm>
          <a:prstGeom prst="rect">
            <a:avLst/>
          </a:prstGeom>
          <a:solidFill>
            <a:srgbClr val="117EC2"/>
          </a:solidFill>
          <a:ln>
            <a:noFill/>
          </a:ln>
        </p:spPr>
        <p:txBody>
          <a:bodyPr rtlCol="0" anchor="ctr"/>
          <a:lstStyle/>
          <a:p>
            <a:pPr algn="ctr"/>
          </a:p>
        </p:txBody>
      </p:sp>
      <p:sp>
        <p:nvSpPr>
          <p:cNvPr id="11" name="brand-item-1-1"/>
          <p:cNvSpPr txBox="1"/>
          <p:nvPr/>
        </p:nvSpPr>
        <p:spPr>
          <a:xfrm>
            <a:off x="927100" y="4178300"/>
            <a:ext cx="3238500" cy="553720"/>
          </a:xfrm>
          <a:prstGeom prst="rect">
            <a:avLst/>
          </a:prstGeom>
          <a:noFill/>
        </p:spPr>
        <p:txBody>
          <a:bodyPr wrap="square" lIns="0" rIns="0" tIns="0" bIns="0" anchor="t">
            <a:noAutofit/>
          </a:bodyPr>
          <a:lstStyle/>
          <a:p>
            <a:pPr algn="l"/>
            <a:r>
              <a:rPr sz="1600" b="0" i="0" lang="de-DE">
                <a:solidFill>
                  <a:srgbClr val="043751"/>
                </a:solidFill>
                <a:latin typeface="IBM Plex Sans"/>
              </a:rPr>
              <a:t>Beauftragtenwesen &amp; Betreiberpflichten</a:t>
            </a:r>
          </a:p>
        </p:txBody>
      </p:sp>
      <p:sp>
        <p:nvSpPr>
          <p:cNvPr id="12" name="brand-dash-1-2"/>
          <p:cNvSpPr/>
          <p:nvPr/>
        </p:nvSpPr>
        <p:spPr>
          <a:xfrm>
            <a:off x="762000" y="4839970"/>
            <a:ext cx="88900" cy="12700"/>
          </a:xfrm>
          <a:prstGeom prst="rect">
            <a:avLst/>
          </a:prstGeom>
          <a:solidFill>
            <a:srgbClr val="117EC2"/>
          </a:solidFill>
          <a:ln>
            <a:noFill/>
          </a:ln>
        </p:spPr>
        <p:txBody>
          <a:bodyPr rtlCol="0" anchor="ctr"/>
          <a:lstStyle/>
          <a:p>
            <a:pPr algn="ctr"/>
          </a:p>
        </p:txBody>
      </p:sp>
      <p:sp>
        <p:nvSpPr>
          <p:cNvPr id="13" name="brand-item-1-2"/>
          <p:cNvSpPr txBox="1"/>
          <p:nvPr/>
        </p:nvSpPr>
        <p:spPr>
          <a:xfrm>
            <a:off x="927100" y="4744720"/>
            <a:ext cx="3238500" cy="289560"/>
          </a:xfrm>
          <a:prstGeom prst="rect">
            <a:avLst/>
          </a:prstGeom>
          <a:noFill/>
        </p:spPr>
        <p:txBody>
          <a:bodyPr wrap="square" lIns="0" rIns="0" tIns="0" bIns="0" anchor="t">
            <a:noAutofit/>
          </a:bodyPr>
          <a:lstStyle/>
          <a:p>
            <a:pPr algn="l"/>
            <a:r>
              <a:rPr sz="1600" b="0" i="0" lang="de-DE">
                <a:solidFill>
                  <a:srgbClr val="043751"/>
                </a:solidFill>
                <a:latin typeface="IBM Plex Sans"/>
              </a:rPr>
              <a:t>EPR &amp; Herstellerverantwortung</a:t>
            </a:r>
          </a:p>
        </p:txBody>
      </p:sp>
      <p:sp>
        <p:nvSpPr>
          <p:cNvPr id="14" name="brand-dash-1-3"/>
          <p:cNvSpPr/>
          <p:nvPr/>
        </p:nvSpPr>
        <p:spPr>
          <a:xfrm>
            <a:off x="762000" y="5142230"/>
            <a:ext cx="88900" cy="12700"/>
          </a:xfrm>
          <a:prstGeom prst="rect">
            <a:avLst/>
          </a:prstGeom>
          <a:solidFill>
            <a:srgbClr val="117EC2"/>
          </a:solidFill>
          <a:ln>
            <a:noFill/>
          </a:ln>
        </p:spPr>
        <p:txBody>
          <a:bodyPr rtlCol="0" anchor="ctr"/>
          <a:lstStyle/>
          <a:p>
            <a:pPr algn="ctr"/>
          </a:p>
        </p:txBody>
      </p:sp>
      <p:sp>
        <p:nvSpPr>
          <p:cNvPr id="15" name="brand-item-1-3"/>
          <p:cNvSpPr txBox="1"/>
          <p:nvPr/>
        </p:nvSpPr>
        <p:spPr>
          <a:xfrm>
            <a:off x="927100" y="5046980"/>
            <a:ext cx="3238500" cy="289560"/>
          </a:xfrm>
          <a:prstGeom prst="rect">
            <a:avLst/>
          </a:prstGeom>
          <a:noFill/>
        </p:spPr>
        <p:txBody>
          <a:bodyPr wrap="square" lIns="0" rIns="0" tIns="0" bIns="0" anchor="t">
            <a:noAutofit/>
          </a:bodyPr>
          <a:lstStyle/>
          <a:p>
            <a:pPr algn="l"/>
            <a:r>
              <a:rPr sz="1600" b="0" i="0" lang="de-DE">
                <a:solidFill>
                  <a:srgbClr val="043751"/>
                </a:solidFill>
                <a:latin typeface="IBM Plex Sans"/>
              </a:rPr>
              <a:t>Abfallverbringung &amp; Cross-Border</a:t>
            </a:r>
          </a:p>
        </p:txBody>
      </p:sp>
      <p:sp>
        <p:nvSpPr>
          <p:cNvPr id="16" name="brand-dash-1-4"/>
          <p:cNvSpPr/>
          <p:nvPr/>
        </p:nvSpPr>
        <p:spPr>
          <a:xfrm>
            <a:off x="762000" y="5444490"/>
            <a:ext cx="88900" cy="12700"/>
          </a:xfrm>
          <a:prstGeom prst="rect">
            <a:avLst/>
          </a:prstGeom>
          <a:solidFill>
            <a:srgbClr val="117EC2"/>
          </a:solidFill>
          <a:ln>
            <a:noFill/>
          </a:ln>
        </p:spPr>
        <p:txBody>
          <a:bodyPr rtlCol="0" anchor="ctr"/>
          <a:lstStyle/>
          <a:p>
            <a:pPr algn="ctr"/>
          </a:p>
        </p:txBody>
      </p:sp>
      <p:sp>
        <p:nvSpPr>
          <p:cNvPr id="17" name="brand-item-1-4"/>
          <p:cNvSpPr txBox="1"/>
          <p:nvPr/>
        </p:nvSpPr>
        <p:spPr>
          <a:xfrm>
            <a:off x="927100" y="5349240"/>
            <a:ext cx="3238500" cy="553720"/>
          </a:xfrm>
          <a:prstGeom prst="rect">
            <a:avLst/>
          </a:prstGeom>
          <a:noFill/>
        </p:spPr>
        <p:txBody>
          <a:bodyPr wrap="square" lIns="0" rIns="0" tIns="0" bIns="0" anchor="t">
            <a:noAutofit/>
          </a:bodyPr>
          <a:lstStyle/>
          <a:p>
            <a:pPr algn="l"/>
            <a:r>
              <a:rPr sz="1600" b="0" i="0" lang="de-DE">
                <a:solidFill>
                  <a:srgbClr val="043751"/>
                </a:solidFill>
                <a:latin typeface="IBM Plex Sans"/>
              </a:rPr>
              <a:t>ESG-, CSRD- &amp; Mengenstromreporting</a:t>
            </a:r>
          </a:p>
        </p:txBody>
      </p:sp>
      <p:sp>
        <p:nvSpPr>
          <p:cNvPr id="18" name="brand-sep-2"/>
          <p:cNvSpPr/>
          <p:nvPr/>
        </p:nvSpPr>
        <p:spPr>
          <a:xfrm>
            <a:off x="7867650" y="2311400"/>
            <a:ext cx="12700" cy="3403600"/>
          </a:xfrm>
          <a:prstGeom prst="rect">
            <a:avLst/>
          </a:prstGeom>
          <a:solidFill>
            <a:srgbClr val="D9D9D9"/>
          </a:solidFill>
          <a:ln>
            <a:noFill/>
          </a:ln>
        </p:spPr>
        <p:txBody>
          <a:bodyPr rtlCol="0" anchor="ctr"/>
          <a:lstStyle/>
          <a:p>
            <a:pPr algn="ctr"/>
          </a:p>
        </p:txBody>
      </p:sp>
      <p:sp>
        <p:nvSpPr>
          <p:cNvPr id="19" name="brand-label-2"/>
          <p:cNvSpPr txBox="1"/>
          <p:nvPr/>
        </p:nvSpPr>
        <p:spPr>
          <a:xfrm>
            <a:off x="4470400" y="2362200"/>
            <a:ext cx="3251200" cy="203200"/>
          </a:xfrm>
          <a:prstGeom prst="rect">
            <a:avLst/>
          </a:prstGeom>
          <a:noFill/>
        </p:spPr>
        <p:txBody>
          <a:bodyPr wrap="square" lIns="0" rIns="0" tIns="0" bIns="0" anchor="t">
            <a:noAutofit/>
          </a:bodyPr>
          <a:lstStyle/>
          <a:p>
            <a:pPr algn="l"/>
            <a:r>
              <a:rPr sz="1100" b="0" i="0" lang="de-DE" cap="all" spc="110">
                <a:solidFill>
                  <a:srgbClr val="4A6079"/>
                </a:solidFill>
                <a:latin typeface="IBM Plex Mono Medium"/>
              </a:rPr>
              <a:t>Systembetrieb</a:t>
            </a:r>
          </a:p>
        </p:txBody>
      </p:sp>
      <p:pic>
        <p:nvPicPr>
          <p:cNvPr id="20" name="brand-logo-2" descr="ecoreloop.png"/>
          <p:cNvPicPr>
            <a:picLocks noChangeAspect="1"/>
          </p:cNvPicPr>
          <p:nvPr/>
        </p:nvPicPr>
        <p:blipFill>
          <a:blip r:embed="rId3"/>
          <a:stretch>
            <a:fillRect/>
          </a:stretch>
        </p:blipFill>
        <p:spPr>
          <a:xfrm>
            <a:off x="4470400" y="2641600"/>
            <a:ext cx="2102069" cy="203200"/>
          </a:xfrm>
          <a:prstGeom prst="rect">
            <a:avLst/>
          </a:prstGeom>
        </p:spPr>
      </p:pic>
      <p:sp>
        <p:nvSpPr>
          <p:cNvPr id="21" name="brand-from-2"/>
          <p:cNvSpPr txBox="1"/>
          <p:nvPr/>
        </p:nvSpPr>
        <p:spPr>
          <a:xfrm>
            <a:off x="4470400" y="2959100"/>
            <a:ext cx="3251200" cy="223520"/>
          </a:xfrm>
          <a:prstGeom prst="rect">
            <a:avLst/>
          </a:prstGeom>
          <a:noFill/>
        </p:spPr>
        <p:txBody>
          <a:bodyPr wrap="square" lIns="0" rIns="0" tIns="0" bIns="0" anchor="t">
            <a:noAutofit/>
          </a:bodyPr>
          <a:lstStyle/>
          <a:p>
            <a:pPr algn="l"/>
            <a:r>
              <a:rPr sz="1200" b="0" i="0" lang="de-DE">
                <a:solidFill>
                  <a:srgbClr val="4A6079"/>
                </a:solidFill>
                <a:latin typeface="IBM Plex Mono"/>
              </a:rPr>
              <a:t>bisher: ECO ReLoop GmbH</a:t>
            </a:r>
          </a:p>
        </p:txBody>
      </p:sp>
      <p:sp>
        <p:nvSpPr>
          <p:cNvPr id="22" name="brand-text-2"/>
          <p:cNvSpPr txBox="1"/>
          <p:nvPr/>
        </p:nvSpPr>
        <p:spPr>
          <a:xfrm>
            <a:off x="4470400" y="3284220"/>
            <a:ext cx="3251200" cy="817880"/>
          </a:xfrm>
          <a:prstGeom prst="rect">
            <a:avLst/>
          </a:prstGeom>
          <a:noFill/>
        </p:spPr>
        <p:txBody>
          <a:bodyPr wrap="square" lIns="0" rIns="0" tIns="0" bIns="0" anchor="t">
            <a:noAutofit/>
          </a:bodyPr>
          <a:lstStyle/>
          <a:p>
            <a:pPr algn="l"/>
            <a:r>
              <a:rPr sz="1600" b="0" i="0" lang="de-DE">
                <a:solidFill>
                  <a:srgbClr val="4A6079"/>
                </a:solidFill>
                <a:latin typeface="IBM Plex Sans"/>
              </a:rPr>
              <a:t>Der operative Arm für Elektroaltgeräte, Batterien und Textilien.</a:t>
            </a:r>
          </a:p>
        </p:txBody>
      </p:sp>
      <p:sp>
        <p:nvSpPr>
          <p:cNvPr id="23" name="brand-dash-2-1"/>
          <p:cNvSpPr/>
          <p:nvPr/>
        </p:nvSpPr>
        <p:spPr>
          <a:xfrm>
            <a:off x="4470400" y="4273550"/>
            <a:ext cx="88900" cy="12700"/>
          </a:xfrm>
          <a:prstGeom prst="rect">
            <a:avLst/>
          </a:prstGeom>
          <a:solidFill>
            <a:srgbClr val="6EA52E"/>
          </a:solidFill>
          <a:ln>
            <a:noFill/>
          </a:ln>
        </p:spPr>
        <p:txBody>
          <a:bodyPr rtlCol="0" anchor="ctr"/>
          <a:lstStyle/>
          <a:p>
            <a:pPr algn="ctr"/>
          </a:p>
        </p:txBody>
      </p:sp>
      <p:sp>
        <p:nvSpPr>
          <p:cNvPr id="24" name="brand-item-2-1"/>
          <p:cNvSpPr txBox="1"/>
          <p:nvPr/>
        </p:nvSpPr>
        <p:spPr>
          <a:xfrm>
            <a:off x="4635500" y="4178300"/>
            <a:ext cx="3086100" cy="289560"/>
          </a:xfrm>
          <a:prstGeom prst="rect">
            <a:avLst/>
          </a:prstGeom>
          <a:noFill/>
        </p:spPr>
        <p:txBody>
          <a:bodyPr wrap="square" lIns="0" rIns="0" tIns="0" bIns="0" anchor="t">
            <a:noAutofit/>
          </a:bodyPr>
          <a:lstStyle/>
          <a:p>
            <a:pPr algn="l"/>
            <a:r>
              <a:rPr sz="1600" b="0" i="0" lang="de-DE">
                <a:solidFill>
                  <a:srgbClr val="043751"/>
                </a:solidFill>
                <a:latin typeface="IBM Plex Sans"/>
              </a:rPr>
              <a:t>Rücknahme- &amp; Sammelsysteme</a:t>
            </a:r>
          </a:p>
        </p:txBody>
      </p:sp>
      <p:sp>
        <p:nvSpPr>
          <p:cNvPr id="25" name="brand-dash-2-2"/>
          <p:cNvSpPr/>
          <p:nvPr/>
        </p:nvSpPr>
        <p:spPr>
          <a:xfrm>
            <a:off x="4470400" y="4575810"/>
            <a:ext cx="88900" cy="12700"/>
          </a:xfrm>
          <a:prstGeom prst="rect">
            <a:avLst/>
          </a:prstGeom>
          <a:solidFill>
            <a:srgbClr val="6EA52E"/>
          </a:solidFill>
          <a:ln>
            <a:noFill/>
          </a:ln>
        </p:spPr>
        <p:txBody>
          <a:bodyPr rtlCol="0" anchor="ctr"/>
          <a:lstStyle/>
          <a:p>
            <a:pPr algn="ctr"/>
          </a:p>
        </p:txBody>
      </p:sp>
      <p:sp>
        <p:nvSpPr>
          <p:cNvPr id="26" name="brand-item-2-2"/>
          <p:cNvSpPr txBox="1"/>
          <p:nvPr/>
        </p:nvSpPr>
        <p:spPr>
          <a:xfrm>
            <a:off x="4635500" y="4480560"/>
            <a:ext cx="3086100" cy="553720"/>
          </a:xfrm>
          <a:prstGeom prst="rect">
            <a:avLst/>
          </a:prstGeom>
          <a:noFill/>
        </p:spPr>
        <p:txBody>
          <a:bodyPr wrap="square" lIns="0" rIns="0" tIns="0" bIns="0" anchor="t">
            <a:noAutofit/>
          </a:bodyPr>
          <a:lstStyle/>
          <a:p>
            <a:pPr algn="l"/>
            <a:r>
              <a:rPr sz="1600" b="0" i="0" lang="de-DE">
                <a:solidFill>
                  <a:srgbClr val="043751"/>
                </a:solidFill>
                <a:latin typeface="IBM Plex Sans"/>
              </a:rPr>
              <a:t>Zwischenlagerung Batterien &amp; Abfälle</a:t>
            </a:r>
          </a:p>
        </p:txBody>
      </p:sp>
      <p:sp>
        <p:nvSpPr>
          <p:cNvPr id="27" name="brand-dash-2-3"/>
          <p:cNvSpPr/>
          <p:nvPr/>
        </p:nvSpPr>
        <p:spPr>
          <a:xfrm>
            <a:off x="4470400" y="5142230"/>
            <a:ext cx="88900" cy="12700"/>
          </a:xfrm>
          <a:prstGeom prst="rect">
            <a:avLst/>
          </a:prstGeom>
          <a:solidFill>
            <a:srgbClr val="6EA52E"/>
          </a:solidFill>
          <a:ln>
            <a:noFill/>
          </a:ln>
        </p:spPr>
        <p:txBody>
          <a:bodyPr rtlCol="0" anchor="ctr"/>
          <a:lstStyle/>
          <a:p>
            <a:pPr algn="ctr"/>
          </a:p>
        </p:txBody>
      </p:sp>
      <p:sp>
        <p:nvSpPr>
          <p:cNvPr id="28" name="brand-item-2-3"/>
          <p:cNvSpPr txBox="1"/>
          <p:nvPr/>
        </p:nvSpPr>
        <p:spPr>
          <a:xfrm>
            <a:off x="4635500" y="5046980"/>
            <a:ext cx="3086100" cy="289560"/>
          </a:xfrm>
          <a:prstGeom prst="rect">
            <a:avLst/>
          </a:prstGeom>
          <a:noFill/>
        </p:spPr>
        <p:txBody>
          <a:bodyPr wrap="square" lIns="0" rIns="0" tIns="0" bIns="0" anchor="t">
            <a:noAutofit/>
          </a:bodyPr>
          <a:lstStyle/>
          <a:p>
            <a:pPr algn="l"/>
            <a:r>
              <a:rPr sz="1600" b="0" i="0" lang="de-DE">
                <a:solidFill>
                  <a:srgbClr val="043751"/>
                </a:solidFill>
                <a:latin typeface="IBM Plex Sans"/>
              </a:rPr>
              <a:t>Notifizierungsverfahren</a:t>
            </a:r>
          </a:p>
        </p:txBody>
      </p:sp>
      <p:sp>
        <p:nvSpPr>
          <p:cNvPr id="29" name="brand-dash-2-4"/>
          <p:cNvSpPr/>
          <p:nvPr/>
        </p:nvSpPr>
        <p:spPr>
          <a:xfrm>
            <a:off x="4470400" y="5444490"/>
            <a:ext cx="88900" cy="12700"/>
          </a:xfrm>
          <a:prstGeom prst="rect">
            <a:avLst/>
          </a:prstGeom>
          <a:solidFill>
            <a:srgbClr val="6EA52E"/>
          </a:solidFill>
          <a:ln>
            <a:noFill/>
          </a:ln>
        </p:spPr>
        <p:txBody>
          <a:bodyPr rtlCol="0" anchor="ctr"/>
          <a:lstStyle/>
          <a:p>
            <a:pPr algn="ctr"/>
          </a:p>
        </p:txBody>
      </p:sp>
      <p:sp>
        <p:nvSpPr>
          <p:cNvPr id="30" name="brand-item-2-4"/>
          <p:cNvSpPr txBox="1"/>
          <p:nvPr/>
        </p:nvSpPr>
        <p:spPr>
          <a:xfrm>
            <a:off x="4635500" y="5349240"/>
            <a:ext cx="3086100" cy="289560"/>
          </a:xfrm>
          <a:prstGeom prst="rect">
            <a:avLst/>
          </a:prstGeom>
          <a:noFill/>
        </p:spPr>
        <p:txBody>
          <a:bodyPr wrap="square" lIns="0" rIns="0" tIns="0" bIns="0" anchor="t">
            <a:noAutofit/>
          </a:bodyPr>
          <a:lstStyle/>
          <a:p>
            <a:pPr algn="l"/>
            <a:r>
              <a:rPr sz="1600" b="0" i="0" lang="de-DE">
                <a:solidFill>
                  <a:srgbClr val="043751"/>
                </a:solidFill>
                <a:latin typeface="IBM Plex Sans"/>
              </a:rPr>
              <a:t>Green Box &amp; Electro-Box</a:t>
            </a:r>
          </a:p>
        </p:txBody>
      </p:sp>
      <p:sp>
        <p:nvSpPr>
          <p:cNvPr id="31" name="brand-label-3"/>
          <p:cNvSpPr txBox="1"/>
          <p:nvPr/>
        </p:nvSpPr>
        <p:spPr>
          <a:xfrm>
            <a:off x="8026400" y="2362200"/>
            <a:ext cx="3251200" cy="203200"/>
          </a:xfrm>
          <a:prstGeom prst="rect">
            <a:avLst/>
          </a:prstGeom>
          <a:noFill/>
        </p:spPr>
        <p:txBody>
          <a:bodyPr wrap="square" lIns="0" rIns="0" tIns="0" bIns="0" anchor="t">
            <a:noAutofit/>
          </a:bodyPr>
          <a:lstStyle/>
          <a:p>
            <a:pPr algn="l"/>
            <a:r>
              <a:rPr sz="1100" b="0" i="0" lang="de-DE" cap="all" spc="110">
                <a:solidFill>
                  <a:srgbClr val="4A6079"/>
                </a:solidFill>
                <a:latin typeface="IBM Plex Mono Medium"/>
              </a:rPr>
              <a:t>Flächen &amp; Anlagen</a:t>
            </a:r>
          </a:p>
        </p:txBody>
      </p:sp>
      <p:pic>
        <p:nvPicPr>
          <p:cNvPr id="32" name="brand-logo-3" descr="ecoinvest.png"/>
          <p:cNvPicPr>
            <a:picLocks noChangeAspect="1"/>
          </p:cNvPicPr>
          <p:nvPr/>
        </p:nvPicPr>
        <p:blipFill>
          <a:blip r:embed="rId4"/>
          <a:stretch>
            <a:fillRect/>
          </a:stretch>
        </p:blipFill>
        <p:spPr>
          <a:xfrm>
            <a:off x="8026400" y="2641600"/>
            <a:ext cx="1905000" cy="203200"/>
          </a:xfrm>
          <a:prstGeom prst="rect">
            <a:avLst/>
          </a:prstGeom>
        </p:spPr>
      </p:pic>
      <p:sp>
        <p:nvSpPr>
          <p:cNvPr id="33" name="brand-from-3"/>
          <p:cNvSpPr txBox="1"/>
          <p:nvPr/>
        </p:nvSpPr>
        <p:spPr>
          <a:xfrm>
            <a:off x="8026400" y="2959100"/>
            <a:ext cx="3251200" cy="421640"/>
          </a:xfrm>
          <a:prstGeom prst="rect">
            <a:avLst/>
          </a:prstGeom>
          <a:noFill/>
        </p:spPr>
        <p:txBody>
          <a:bodyPr wrap="square" lIns="0" rIns="0" tIns="0" bIns="0" anchor="t">
            <a:noAutofit/>
          </a:bodyPr>
          <a:lstStyle/>
          <a:p>
            <a:pPr algn="l"/>
            <a:r>
              <a:rPr sz="1200" b="0" i="0" lang="de-DE">
                <a:solidFill>
                  <a:srgbClr val="4A6079"/>
                </a:solidFill>
                <a:latin typeface="IBM Plex Mono"/>
              </a:rPr>
              <a:t>bisher: Eco Park Röthlein GmbH &amp; Maintal Recycling UG</a:t>
            </a:r>
          </a:p>
        </p:txBody>
      </p:sp>
      <p:sp>
        <p:nvSpPr>
          <p:cNvPr id="34" name="brand-text-3"/>
          <p:cNvSpPr txBox="1"/>
          <p:nvPr/>
        </p:nvSpPr>
        <p:spPr>
          <a:xfrm>
            <a:off x="8026400" y="3482340"/>
            <a:ext cx="3251200" cy="817880"/>
          </a:xfrm>
          <a:prstGeom prst="rect">
            <a:avLst/>
          </a:prstGeom>
          <a:noFill/>
        </p:spPr>
        <p:txBody>
          <a:bodyPr wrap="square" lIns="0" rIns="0" tIns="0" bIns="0" anchor="t">
            <a:noAutofit/>
          </a:bodyPr>
          <a:lstStyle/>
          <a:p>
            <a:pPr algn="l"/>
            <a:r>
              <a:rPr sz="1600" b="0" i="0" lang="de-DE">
                <a:solidFill>
                  <a:srgbClr val="4A6079"/>
                </a:solidFill>
                <a:latin typeface="IBM Plex Sans"/>
              </a:rPr>
              <a:t>Genehmigungsfähige Flächen und Betreiberkonzepte für die Kreislaufwirtschaft.</a:t>
            </a:r>
          </a:p>
        </p:txBody>
      </p:sp>
      <p:sp>
        <p:nvSpPr>
          <p:cNvPr id="35" name="brand-dash-3-1"/>
          <p:cNvSpPr/>
          <p:nvPr/>
        </p:nvSpPr>
        <p:spPr>
          <a:xfrm>
            <a:off x="8026400" y="4471670"/>
            <a:ext cx="88900" cy="12700"/>
          </a:xfrm>
          <a:prstGeom prst="rect">
            <a:avLst/>
          </a:prstGeom>
          <a:solidFill>
            <a:srgbClr val="AC1920"/>
          </a:solidFill>
          <a:ln>
            <a:noFill/>
          </a:ln>
        </p:spPr>
        <p:txBody>
          <a:bodyPr rtlCol="0" anchor="ctr"/>
          <a:lstStyle/>
          <a:p>
            <a:pPr algn="ctr"/>
          </a:p>
        </p:txBody>
      </p:sp>
      <p:sp>
        <p:nvSpPr>
          <p:cNvPr id="36" name="brand-item-3-1"/>
          <p:cNvSpPr txBox="1"/>
          <p:nvPr/>
        </p:nvSpPr>
        <p:spPr>
          <a:xfrm>
            <a:off x="8191500" y="4376420"/>
            <a:ext cx="3086100" cy="553720"/>
          </a:xfrm>
          <a:prstGeom prst="rect">
            <a:avLst/>
          </a:prstGeom>
          <a:noFill/>
        </p:spPr>
        <p:txBody>
          <a:bodyPr wrap="square" lIns="0" rIns="0" tIns="0" bIns="0" anchor="t">
            <a:noAutofit/>
          </a:bodyPr>
          <a:lstStyle/>
          <a:p>
            <a:pPr algn="l"/>
            <a:r>
              <a:rPr sz="1600" b="0" i="0" lang="de-DE">
                <a:solidFill>
                  <a:srgbClr val="043751"/>
                </a:solidFill>
                <a:latin typeface="IBM Plex Sans"/>
              </a:rPr>
              <a:t>Gewerbeimmobilien Kreislaufwirtschaft</a:t>
            </a:r>
          </a:p>
        </p:txBody>
      </p:sp>
      <p:sp>
        <p:nvSpPr>
          <p:cNvPr id="37" name="brand-dash-3-2"/>
          <p:cNvSpPr/>
          <p:nvPr/>
        </p:nvSpPr>
        <p:spPr>
          <a:xfrm>
            <a:off x="8026400" y="5038090"/>
            <a:ext cx="88900" cy="12700"/>
          </a:xfrm>
          <a:prstGeom prst="rect">
            <a:avLst/>
          </a:prstGeom>
          <a:solidFill>
            <a:srgbClr val="AC1920"/>
          </a:solidFill>
          <a:ln>
            <a:noFill/>
          </a:ln>
        </p:spPr>
        <p:txBody>
          <a:bodyPr rtlCol="0" anchor="ctr"/>
          <a:lstStyle/>
          <a:p>
            <a:pPr algn="ctr"/>
          </a:p>
        </p:txBody>
      </p:sp>
      <p:sp>
        <p:nvSpPr>
          <p:cNvPr id="38" name="brand-item-3-2"/>
          <p:cNvSpPr txBox="1"/>
          <p:nvPr/>
        </p:nvSpPr>
        <p:spPr>
          <a:xfrm>
            <a:off x="8191500" y="4942840"/>
            <a:ext cx="3086100" cy="289560"/>
          </a:xfrm>
          <a:prstGeom prst="rect">
            <a:avLst/>
          </a:prstGeom>
          <a:noFill/>
        </p:spPr>
        <p:txBody>
          <a:bodyPr wrap="square" lIns="0" rIns="0" tIns="0" bIns="0" anchor="t">
            <a:noAutofit/>
          </a:bodyPr>
          <a:lstStyle/>
          <a:p>
            <a:pPr algn="l"/>
            <a:r>
              <a:rPr sz="1600" b="0" i="0" lang="de-DE">
                <a:solidFill>
                  <a:srgbClr val="043751"/>
                </a:solidFill>
                <a:latin typeface="IBM Plex Sans"/>
              </a:rPr>
              <a:t>ECO Park Röthlein · 8.000 m²</a:t>
            </a:r>
          </a:p>
        </p:txBody>
      </p:sp>
      <p:sp>
        <p:nvSpPr>
          <p:cNvPr id="39" name="brand-dash-3-3"/>
          <p:cNvSpPr/>
          <p:nvPr/>
        </p:nvSpPr>
        <p:spPr>
          <a:xfrm>
            <a:off x="8026400" y="5340350"/>
            <a:ext cx="88900" cy="12700"/>
          </a:xfrm>
          <a:prstGeom prst="rect">
            <a:avLst/>
          </a:prstGeom>
          <a:solidFill>
            <a:srgbClr val="AC1920"/>
          </a:solidFill>
          <a:ln>
            <a:noFill/>
          </a:ln>
        </p:spPr>
        <p:txBody>
          <a:bodyPr rtlCol="0" anchor="ctr"/>
          <a:lstStyle/>
          <a:p>
            <a:pPr algn="ctr"/>
          </a:p>
        </p:txBody>
      </p:sp>
      <p:sp>
        <p:nvSpPr>
          <p:cNvPr id="40" name="brand-item-3-3"/>
          <p:cNvSpPr txBox="1"/>
          <p:nvPr/>
        </p:nvSpPr>
        <p:spPr>
          <a:xfrm>
            <a:off x="8191500" y="5245100"/>
            <a:ext cx="3086100" cy="553720"/>
          </a:xfrm>
          <a:prstGeom prst="rect">
            <a:avLst/>
          </a:prstGeom>
          <a:noFill/>
        </p:spPr>
        <p:txBody>
          <a:bodyPr wrap="square" lIns="0" rIns="0" tIns="0" bIns="0" anchor="t">
            <a:noAutofit/>
          </a:bodyPr>
          <a:lstStyle/>
          <a:p>
            <a:pPr algn="l"/>
            <a:r>
              <a:rPr sz="1600" b="0" i="0" lang="de-DE">
                <a:solidFill>
                  <a:srgbClr val="043751"/>
                </a:solidFill>
                <a:latin typeface="IBM Plex Sans"/>
              </a:rPr>
              <a:t>Genehmigungs- &amp; Betreiberkonzepte</a:t>
            </a:r>
          </a:p>
        </p:txBody>
      </p:sp>
      <p:sp>
        <p:nvSpPr>
          <p:cNvPr id="41" name="brand-dash-3-4"/>
          <p:cNvSpPr/>
          <p:nvPr/>
        </p:nvSpPr>
        <p:spPr>
          <a:xfrm>
            <a:off x="8026400" y="5906770"/>
            <a:ext cx="88900" cy="12700"/>
          </a:xfrm>
          <a:prstGeom prst="rect">
            <a:avLst/>
          </a:prstGeom>
          <a:solidFill>
            <a:srgbClr val="AC1920"/>
          </a:solidFill>
          <a:ln>
            <a:noFill/>
          </a:ln>
        </p:spPr>
        <p:txBody>
          <a:bodyPr rtlCol="0" anchor="ctr"/>
          <a:lstStyle/>
          <a:p>
            <a:pPr algn="ctr"/>
          </a:p>
        </p:txBody>
      </p:sp>
      <p:sp>
        <p:nvSpPr>
          <p:cNvPr id="42" name="brand-item-3-4"/>
          <p:cNvSpPr txBox="1"/>
          <p:nvPr/>
        </p:nvSpPr>
        <p:spPr>
          <a:xfrm>
            <a:off x="8191500" y="5811520"/>
            <a:ext cx="3086100" cy="289560"/>
          </a:xfrm>
          <a:prstGeom prst="rect">
            <a:avLst/>
          </a:prstGeom>
          <a:noFill/>
        </p:spPr>
        <p:txBody>
          <a:bodyPr wrap="square" lIns="0" rIns="0" tIns="0" bIns="0" anchor="t">
            <a:noAutofit/>
          </a:bodyPr>
          <a:lstStyle/>
          <a:p>
            <a:pPr algn="l"/>
            <a:r>
              <a:rPr sz="1600" b="0" i="0" lang="de-DE">
                <a:solidFill>
                  <a:srgbClr val="043751"/>
                </a:solidFill>
                <a:latin typeface="IBM Plex Sans"/>
              </a:rPr>
              <a:t>Operative Recyclingkapazität</a:t>
            </a:r>
          </a:p>
        </p:txBody>
      </p:sp>
      <p:sp>
        <p:nvSpPr>
          <p:cNvPr id="43"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44"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F7A1E"/>
                </a:solidFill>
                <a:latin typeface="IBM Plex Mono"/>
              </a:rPr>
              <a:t>02</a:t>
            </a:r>
            <a:r>
              <a:rPr sz="1200" b="0" i="0" lang="de-DE">
                <a:solidFill>
                  <a:srgbClr val="043751"/>
                </a:solidFill>
                <a:latin typeface="IBM Plex Mono"/>
              </a:rPr>
              <a:t> </a:t>
            </a:r>
            <a:r>
              <a:rPr sz="1200" b="0" i="0" lang="de-DE" cap="all" spc="72">
                <a:solidFill>
                  <a:srgbClr val="043751"/>
                </a:solidFill>
                <a:latin typeface="IBM Plex Sans Medium"/>
              </a:rPr>
              <a:t>Unsere Marken</a:t>
            </a:r>
          </a:p>
        </p:txBody>
      </p:sp>
      <p:sp>
        <p:nvSpPr>
          <p:cNvPr id="45" name="nav-underline"/>
          <p:cNvSpPr/>
          <p:nvPr/>
        </p:nvSpPr>
        <p:spPr>
          <a:xfrm>
            <a:off x="4367129" y="685800"/>
            <a:ext cx="1638804" cy="25400"/>
          </a:xfrm>
          <a:prstGeom prst="rect">
            <a:avLst/>
          </a:prstGeom>
          <a:solidFill>
            <a:srgbClr val="6EA52E"/>
          </a:solidFill>
          <a:ln>
            <a:noFill/>
          </a:ln>
        </p:spPr>
        <p:txBody>
          <a:bodyPr rtlCol="0" anchor="ctr"/>
          <a:lstStyle/>
          <a:p>
            <a:pPr algn="ctr"/>
          </a:p>
        </p:txBody>
      </p:sp>
      <p:sp>
        <p:nvSpPr>
          <p:cNvPr id="46"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47"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48"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49"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50"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ECOLOGICON</a:t>
            </a:r>
          </a:p>
        </p:txBody>
      </p:sp>
      <p:sp>
        <p:nvSpPr>
          <p:cNvPr id="3" name="Title 2"/>
          <p:cNvSpPr>
            <a:spLocks noGrp="1"/>
          </p:cNvSpPr>
          <p:nvPr>
            <p:ph type="title"/>
          </p:nvPr>
        </p:nvSpPr>
        <p:spPr/>
        <p:txBody>
          <a:bodyPr/>
          <a:lstStyle/>
          <a:p>
            <a:r>
              <a:t>Ihre externe Umweltabteilung</a:t>
            </a:r>
          </a:p>
        </p:txBody>
      </p:sp>
      <p:sp>
        <p:nvSpPr>
          <p:cNvPr id="4" name="Text Placeholder 3"/>
          <p:cNvSpPr>
            <a:spLocks noGrp="1"/>
          </p:cNvSpPr>
          <p:nvPr>
            <p:ph type="body" idx="26"/>
          </p:nvPr>
        </p:nvSpPr>
        <p:spPr/>
        <p:txBody>
          <a:bodyPr/>
          <a:lstStyle/>
          <a:p>
            <a:pPr>
              <a:spcBef>
                <a:spcPts val="0"/>
              </a:spcBef>
            </a:pPr>
            <a:r>
              <a:rPr sz="1600" b="0" i="0" lang="de-DE">
                <a:solidFill>
                  <a:srgbClr val="4F7A1E"/>
                </a:solidFill>
                <a:latin typeface="IBM Plex Mono Medium"/>
              </a:rPr>
              <a:t>01</a:t>
            </a:r>
            <a:r>
              <a:t>	Pflichtenanalyse</a:t>
            </a:r>
          </a:p>
          <a:p>
            <a:pPr lvl="1"/>
            <a:r>
              <a:t>Welche Regelwerke für Ihre Rolle gelten – und was daraus folgt.</a:t>
            </a:r>
          </a:p>
          <a:p>
            <a:pPr/>
            <a:r>
              <a:rPr sz="1600" b="0" i="0" lang="de-DE">
                <a:solidFill>
                  <a:srgbClr val="4F7A1E"/>
                </a:solidFill>
                <a:latin typeface="IBM Plex Mono Medium"/>
              </a:rPr>
              <a:t>02</a:t>
            </a:r>
            <a:r>
              <a:t>	Umsetzung</a:t>
            </a:r>
          </a:p>
          <a:p>
            <a:pPr lvl="1"/>
            <a:r>
              <a:t>Beauftragtenwesen, Dokumentation und Behördenkommunikation.</a:t>
            </a:r>
          </a:p>
          <a:p>
            <a:pPr/>
            <a:r>
              <a:rPr sz="1600" b="0" i="0" lang="de-DE">
                <a:solidFill>
                  <a:srgbClr val="4F7A1E"/>
                </a:solidFill>
                <a:latin typeface="IBM Plex Mono Medium"/>
              </a:rPr>
              <a:t>03</a:t>
            </a:r>
            <a:r>
              <a:t>	Arbeitsweise</a:t>
            </a:r>
          </a:p>
          <a:p>
            <a:pPr lvl="1"/>
            <a:r>
              <a:t>Als Mandat, Projekt oder Interim – national wie international.</a:t>
            </a:r>
          </a:p>
        </p:txBody>
      </p:sp>
      <p:pic>
        <p:nvPicPr>
          <p:cNvPr id="5" name="Picture Placeholder 4" descr="sammelbehaelter-tablet.jpg"/>
          <p:cNvPicPr>
            <a:picLocks noGrp="1" noChangeAspect="1"/>
          </p:cNvPicPr>
          <p:nvPr>
            <p:ph type="pic" idx="15"/>
          </p:nvPr>
        </p:nvPicPr>
        <p:blipFill>
          <a:blip r:embed="rId2"/>
          <a:srcRect t="231" b="231"/>
          <a:stretch>
            <a:fillRect/>
          </a:stretch>
        </p:blipFill>
        <p:spPr>
          <a:noFill/>
        </p:spPr>
      </p:pic>
      <p:sp>
        <p:nvSpPr>
          <p:cNvPr id="6" name="Text Placeholder 5"/>
          <p:cNvSpPr>
            <a:spLocks noGrp="1"/>
          </p:cNvSpPr>
          <p:nvPr>
            <p:ph type="body" idx="27"/>
          </p:nvPr>
        </p:nvSpPr>
        <p:spPr/>
        <p:txBody>
          <a:bodyPr/>
          <a:lstStyle/>
          <a:p>
            <a:r>
              <a:t>Standorte Reichenberg und Singapur</a:t>
            </a:r>
          </a:p>
        </p:txBody>
      </p:sp>
      <p:sp>
        <p:nvSpPr>
          <p:cNvPr id="7"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8"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F7A1E"/>
                </a:solidFill>
                <a:latin typeface="IBM Plex Mono"/>
              </a:rPr>
              <a:t>02</a:t>
            </a:r>
            <a:r>
              <a:rPr sz="1200" b="0" i="0" lang="de-DE">
                <a:solidFill>
                  <a:srgbClr val="043751"/>
                </a:solidFill>
                <a:latin typeface="IBM Plex Mono"/>
              </a:rPr>
              <a:t> </a:t>
            </a:r>
            <a:r>
              <a:rPr sz="1200" b="0" i="0" lang="de-DE" cap="all" spc="72">
                <a:solidFill>
                  <a:srgbClr val="043751"/>
                </a:solidFill>
                <a:latin typeface="IBM Plex Sans Medium"/>
              </a:rPr>
              <a:t>Unsere Marken</a:t>
            </a:r>
          </a:p>
        </p:txBody>
      </p:sp>
      <p:sp>
        <p:nvSpPr>
          <p:cNvPr id="9" name="nav-underline"/>
          <p:cNvSpPr/>
          <p:nvPr/>
        </p:nvSpPr>
        <p:spPr>
          <a:xfrm>
            <a:off x="4367129" y="685800"/>
            <a:ext cx="1638804" cy="25400"/>
          </a:xfrm>
          <a:prstGeom prst="rect">
            <a:avLst/>
          </a:prstGeom>
          <a:solidFill>
            <a:srgbClr val="6EA52E"/>
          </a:solidFill>
          <a:ln>
            <a:noFill/>
          </a:ln>
        </p:spPr>
        <p:txBody>
          <a:bodyPr rtlCol="0" anchor="ctr"/>
          <a:lstStyle/>
          <a:p>
            <a:pPr algn="ctr"/>
          </a:p>
        </p:txBody>
      </p:sp>
      <p:sp>
        <p:nvSpPr>
          <p:cNvPr id="10"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11"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12"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13"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14"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ECORELOOP</a:t>
            </a:r>
          </a:p>
        </p:txBody>
      </p:sp>
      <p:sp>
        <p:nvSpPr>
          <p:cNvPr id="3" name="Title 2"/>
          <p:cNvSpPr>
            <a:spLocks noGrp="1"/>
          </p:cNvSpPr>
          <p:nvPr>
            <p:ph type="title"/>
          </p:nvPr>
        </p:nvSpPr>
        <p:spPr/>
        <p:txBody>
          <a:bodyPr/>
          <a:lstStyle/>
          <a:p>
            <a:r>
              <a:t>Vom Konzept bis zum Tagesbetrieb</a:t>
            </a:r>
          </a:p>
        </p:txBody>
      </p:sp>
      <p:sp>
        <p:nvSpPr>
          <p:cNvPr id="4" name="Text Placeholder 3"/>
          <p:cNvSpPr>
            <a:spLocks noGrp="1"/>
          </p:cNvSpPr>
          <p:nvPr>
            <p:ph type="body" idx="26"/>
          </p:nvPr>
        </p:nvSpPr>
        <p:spPr/>
        <p:txBody>
          <a:bodyPr/>
          <a:lstStyle/>
          <a:p>
            <a:pPr>
              <a:spcBef>
                <a:spcPts val="0"/>
              </a:spcBef>
            </a:pPr>
            <a:r>
              <a:rPr sz="1600" b="0" i="0" lang="de-DE">
                <a:solidFill>
                  <a:srgbClr val="4F7A1E"/>
                </a:solidFill>
                <a:latin typeface="IBM Plex Mono Medium"/>
              </a:rPr>
              <a:t>01</a:t>
            </a:r>
            <a:r>
              <a:t>	Rücknahme- &amp; Recyclinglösungen</a:t>
            </a:r>
          </a:p>
          <a:p>
            <a:pPr lvl="1"/>
            <a:r>
              <a:t>Für Elektroaltgeräte und Batterien – von der Sammelstelle bis zum Verwerter.</a:t>
            </a:r>
          </a:p>
          <a:p>
            <a:pPr/>
            <a:r>
              <a:rPr sz="1600" b="0" i="0" lang="de-DE">
                <a:solidFill>
                  <a:srgbClr val="4F7A1E"/>
                </a:solidFill>
                <a:latin typeface="IBM Plex Mono Medium"/>
              </a:rPr>
              <a:t>02</a:t>
            </a:r>
            <a:r>
              <a:t>	Zwischenlagerung</a:t>
            </a:r>
          </a:p>
          <a:p>
            <a:pPr lvl="1"/>
            <a:r>
              <a:t>Batterien und Abfälle nach höchsten Sicherheits- und Brandschutzstandards.</a:t>
            </a:r>
          </a:p>
          <a:p>
            <a:pPr/>
            <a:r>
              <a:rPr sz="1600" b="0" i="0" lang="de-DE">
                <a:solidFill>
                  <a:srgbClr val="4F7A1E"/>
                </a:solidFill>
                <a:latin typeface="IBM Plex Mono Medium"/>
              </a:rPr>
              <a:t>03</a:t>
            </a:r>
            <a:r>
              <a:t>	Abfalllogistik &amp; Verbringung</a:t>
            </a:r>
          </a:p>
          <a:p>
            <a:pPr lvl="1"/>
            <a:r>
              <a:t>Komplette Logistikketten, national und grenzüberschreitend.</a:t>
            </a:r>
          </a:p>
          <a:p>
            <a:pPr/>
            <a:r>
              <a:rPr sz="1600" b="0" i="0" lang="de-DE">
                <a:solidFill>
                  <a:srgbClr val="4F7A1E"/>
                </a:solidFill>
                <a:latin typeface="IBM Plex Mono Medium"/>
              </a:rPr>
              <a:t>04</a:t>
            </a:r>
            <a:r>
              <a:t>	Notifizierungsverfahren</a:t>
            </a:r>
          </a:p>
          <a:p>
            <a:pPr lvl="1"/>
            <a:r>
              <a:t>Behördenmanagement für grenzüberschreitende Genehmigungen.</a:t>
            </a:r>
          </a:p>
        </p:txBody>
      </p:sp>
      <p:sp>
        <p:nvSpPr>
          <p:cNvPr id="5"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6"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F7A1E"/>
                </a:solidFill>
                <a:latin typeface="IBM Plex Mono"/>
              </a:rPr>
              <a:t>02</a:t>
            </a:r>
            <a:r>
              <a:rPr sz="1200" b="0" i="0" lang="de-DE">
                <a:solidFill>
                  <a:srgbClr val="043751"/>
                </a:solidFill>
                <a:latin typeface="IBM Plex Mono"/>
              </a:rPr>
              <a:t> </a:t>
            </a:r>
            <a:r>
              <a:rPr sz="1200" b="0" i="0" lang="de-DE" cap="all" spc="72">
                <a:solidFill>
                  <a:srgbClr val="043751"/>
                </a:solidFill>
                <a:latin typeface="IBM Plex Sans Medium"/>
              </a:rPr>
              <a:t>Unsere Marken</a:t>
            </a:r>
          </a:p>
        </p:txBody>
      </p:sp>
      <p:sp>
        <p:nvSpPr>
          <p:cNvPr id="7" name="nav-underline"/>
          <p:cNvSpPr/>
          <p:nvPr/>
        </p:nvSpPr>
        <p:spPr>
          <a:xfrm>
            <a:off x="4367129" y="685800"/>
            <a:ext cx="1638804" cy="25400"/>
          </a:xfrm>
          <a:prstGeom prst="rect">
            <a:avLst/>
          </a:prstGeom>
          <a:solidFill>
            <a:srgbClr val="6EA52E"/>
          </a:solidFill>
          <a:ln>
            <a:noFill/>
          </a:ln>
        </p:spPr>
        <p:txBody>
          <a:bodyPr rtlCol="0" anchor="ctr"/>
          <a:lstStyle/>
          <a:p>
            <a:pPr algn="ctr"/>
          </a:p>
        </p:txBody>
      </p:sp>
      <p:sp>
        <p:nvSpPr>
          <p:cNvPr id="8"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9"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10"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11" name="legal-label"/>
          <p:cNvSpPr txBox="1"/>
          <p:nvPr/>
        </p:nvSpPr>
        <p:spPr>
          <a:xfrm>
            <a:off x="762000" y="5842000"/>
            <a:ext cx="1619548" cy="215900"/>
          </a:xfrm>
          <a:prstGeom prst="rect">
            <a:avLst/>
          </a:prstGeom>
          <a:noFill/>
        </p:spPr>
        <p:txBody>
          <a:bodyPr wrap="square" lIns="0" rIns="0" tIns="0" bIns="0" anchor="ctr">
            <a:noAutofit/>
          </a:bodyPr>
          <a:lstStyle/>
          <a:p>
            <a:pPr algn="l"/>
            <a:r>
              <a:rPr sz="1100" b="0" i="0" lang="de-DE" cap="all" spc="110">
                <a:solidFill>
                  <a:srgbClr val="4F7A1E"/>
                </a:solidFill>
                <a:latin typeface="IBM Plex Mono Medium"/>
              </a:rPr>
              <a:t>Rechtsgrundlage</a:t>
            </a:r>
          </a:p>
        </p:txBody>
      </p:sp>
      <p:sp>
        <p:nvSpPr>
          <p:cNvPr id="12" name="legal-chip-1"/>
          <p:cNvSpPr/>
          <p:nvPr/>
        </p:nvSpPr>
        <p:spPr>
          <a:xfrm>
            <a:off x="2356148" y="5842000"/>
            <a:ext cx="1524595" cy="215900"/>
          </a:xfrm>
          <a:prstGeom prst="roundRect">
            <a:avLst>
              <a:gd name="adj" fmla="val 11764"/>
            </a:avLst>
          </a:prstGeom>
          <a:solidFill>
            <a:srgbClr val="E3F0F8"/>
          </a:solidFill>
          <a:ln>
            <a:noFill/>
          </a:ln>
        </p:spPr>
        <p:txBody>
          <a:bodyPr rtlCol="0" anchor="ctr" wrap="square" lIns="0" rIns="0" tIns="0" bIns="0">
            <a:noAutofit/>
          </a:bodyPr>
          <a:lstStyle/>
          <a:p>
            <a:pPr algn="ctr"/>
            <a:r>
              <a:rPr sz="1200" b="0" i="0" lang="de-DE">
                <a:solidFill>
                  <a:srgbClr val="0F6AA6"/>
                </a:solidFill>
                <a:latin typeface="IBM Plex Mono"/>
              </a:rPr>
              <a:t>EU-VO 2024/1157</a:t>
            </a:r>
          </a:p>
        </p:txBody>
      </p:sp>
      <p:sp>
        <p:nvSpPr>
          <p:cNvPr id="13"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14"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ECORELOOP · Vorkonfigurierte Lösungen</a:t>
            </a:r>
          </a:p>
        </p:txBody>
      </p:sp>
      <p:sp>
        <p:nvSpPr>
          <p:cNvPr id="3" name="Title 2"/>
          <p:cNvSpPr>
            <a:spLocks noGrp="1"/>
          </p:cNvSpPr>
          <p:nvPr>
            <p:ph type="title"/>
          </p:nvPr>
        </p:nvSpPr>
        <p:spPr/>
        <p:txBody>
          <a:bodyPr/>
          <a:lstStyle/>
          <a:p>
            <a:r>
              <a:t>Zwei Boxen, zwei Stoffströme</a:t>
            </a:r>
          </a:p>
        </p:txBody>
      </p:sp>
      <p:pic>
        <p:nvPicPr>
          <p:cNvPr id="4" name="Picture Placeholder 3" descr="green-box.jpg"/>
          <p:cNvPicPr>
            <a:picLocks noGrp="1" noChangeAspect="1"/>
          </p:cNvPicPr>
          <p:nvPr>
            <p:ph type="pic" idx="31"/>
          </p:nvPr>
        </p:nvPicPr>
        <p:blipFill>
          <a:blip r:embed="rId2"/>
          <a:srcRect/>
          <a:stretch>
            <a:fillRect/>
          </a:stretch>
        </p:blipFill>
        <p:spPr>
          <a:xfrm>
            <a:off x="1901825" y="2159000"/>
            <a:ext cx="2927350" cy="2927350"/>
          </a:xfrm>
          <a:noFill/>
        </p:spPr>
      </p:pic>
      <p:pic>
        <p:nvPicPr>
          <p:cNvPr id="5" name="Picture Placeholder 4" descr="electro-box.jpg"/>
          <p:cNvPicPr>
            <a:picLocks noGrp="1" noChangeAspect="1"/>
          </p:cNvPicPr>
          <p:nvPr>
            <p:ph type="pic" idx="32"/>
          </p:nvPr>
        </p:nvPicPr>
        <p:blipFill>
          <a:blip r:embed="rId3"/>
          <a:srcRect/>
          <a:stretch>
            <a:fillRect/>
          </a:stretch>
        </p:blipFill>
        <p:spPr>
          <a:xfrm>
            <a:off x="6644624" y="2159000"/>
            <a:ext cx="4363752" cy="2927350"/>
          </a:xfrm>
          <a:noFill/>
        </p:spPr>
      </p:pic>
      <p:sp>
        <p:nvSpPr>
          <p:cNvPr id="6" name="Text Placeholder 5"/>
          <p:cNvSpPr>
            <a:spLocks noGrp="1"/>
          </p:cNvSpPr>
          <p:nvPr>
            <p:ph type="body" idx="33"/>
          </p:nvPr>
        </p:nvSpPr>
        <p:spPr/>
        <p:txBody>
          <a:bodyPr/>
          <a:lstStyle/>
          <a:p>
            <a:r>
              <a:t>Green Box · Textilien</a:t>
            </a:r>
          </a:p>
        </p:txBody>
      </p:sp>
      <p:sp>
        <p:nvSpPr>
          <p:cNvPr id="7" name="Text Placeholder 6"/>
          <p:cNvSpPr>
            <a:spLocks noGrp="1"/>
          </p:cNvSpPr>
          <p:nvPr>
            <p:ph type="body" idx="34"/>
          </p:nvPr>
        </p:nvSpPr>
        <p:spPr/>
        <p:txBody>
          <a:bodyPr/>
          <a:lstStyle/>
          <a:p>
            <a:r>
              <a:t>Electro-Box · WEEE &amp; Batterien</a:t>
            </a:r>
          </a:p>
        </p:txBody>
      </p:sp>
      <p:sp>
        <p:nvSpPr>
          <p:cNvPr id="8"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9"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F7A1E"/>
                </a:solidFill>
                <a:latin typeface="IBM Plex Mono"/>
              </a:rPr>
              <a:t>02</a:t>
            </a:r>
            <a:r>
              <a:rPr sz="1200" b="0" i="0" lang="de-DE">
                <a:solidFill>
                  <a:srgbClr val="043751"/>
                </a:solidFill>
                <a:latin typeface="IBM Plex Mono"/>
              </a:rPr>
              <a:t> </a:t>
            </a:r>
            <a:r>
              <a:rPr sz="1200" b="0" i="0" lang="de-DE" cap="all" spc="72">
                <a:solidFill>
                  <a:srgbClr val="043751"/>
                </a:solidFill>
                <a:latin typeface="IBM Plex Sans Medium"/>
              </a:rPr>
              <a:t>Unsere Marken</a:t>
            </a:r>
          </a:p>
        </p:txBody>
      </p:sp>
      <p:sp>
        <p:nvSpPr>
          <p:cNvPr id="10" name="nav-underline"/>
          <p:cNvSpPr/>
          <p:nvPr/>
        </p:nvSpPr>
        <p:spPr>
          <a:xfrm>
            <a:off x="4367129" y="685800"/>
            <a:ext cx="1638804" cy="25400"/>
          </a:xfrm>
          <a:prstGeom prst="rect">
            <a:avLst/>
          </a:prstGeom>
          <a:solidFill>
            <a:srgbClr val="6EA52E"/>
          </a:solidFill>
          <a:ln>
            <a:noFill/>
          </a:ln>
        </p:spPr>
        <p:txBody>
          <a:bodyPr rtlCol="0" anchor="ctr"/>
          <a:lstStyle/>
          <a:p>
            <a:pPr algn="ctr"/>
          </a:p>
        </p:txBody>
      </p:sp>
      <p:sp>
        <p:nvSpPr>
          <p:cNvPr id="11"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12"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13"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14"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15"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ECORELOOP · Electro-Box</a:t>
            </a:r>
          </a:p>
        </p:txBody>
      </p:sp>
      <p:sp>
        <p:nvSpPr>
          <p:cNvPr id="3" name="Title 2"/>
          <p:cNvSpPr>
            <a:spLocks noGrp="1"/>
          </p:cNvSpPr>
          <p:nvPr>
            <p:ph type="title"/>
          </p:nvPr>
        </p:nvSpPr>
        <p:spPr/>
        <p:txBody>
          <a:bodyPr/>
          <a:lstStyle/>
          <a:p>
            <a:r>
              <a:t>Gebrauchsfertige Versandeinheit</a:t>
            </a:r>
          </a:p>
        </p:txBody>
      </p:sp>
      <p:pic>
        <p:nvPicPr>
          <p:cNvPr id="4" name="Picture Placeholder 3" descr="electro-box.jpg"/>
          <p:cNvPicPr>
            <a:picLocks noGrp="1" noChangeAspect="1"/>
          </p:cNvPicPr>
          <p:nvPr>
            <p:ph type="pic" idx="15"/>
          </p:nvPr>
        </p:nvPicPr>
        <p:blipFill>
          <a:blip r:embed="rId2"/>
          <a:srcRect/>
          <a:stretch>
            <a:fillRect/>
          </a:stretch>
        </p:blipFill>
        <p:spPr>
          <a:xfrm>
            <a:off x="1272366" y="2095500"/>
            <a:ext cx="5329267" cy="3575050"/>
          </a:xfrm>
          <a:noFill/>
        </p:spPr>
      </p:pic>
      <p:sp>
        <p:nvSpPr>
          <p:cNvPr id="5" name="marker-1"/>
          <p:cNvSpPr/>
          <p:nvPr/>
        </p:nvSpPr>
        <p:spPr>
          <a:xfrm>
            <a:off x="4025900" y="2895664"/>
            <a:ext cx="330200" cy="330200"/>
          </a:xfrm>
          <a:prstGeom prst="ellipse">
            <a:avLst/>
          </a:prstGeom>
          <a:solidFill>
            <a:srgbClr val="043751"/>
          </a:solidFill>
          <a:ln w="25400">
            <a:solidFill>
              <a:srgbClr val="FFFFFF"/>
            </a:solidFill>
          </a:ln>
        </p:spPr>
        <p:txBody>
          <a:bodyPr rtlCol="0" anchor="ctr" wrap="square" lIns="0" rIns="0" tIns="0" bIns="0">
            <a:noAutofit/>
          </a:bodyPr>
          <a:lstStyle/>
          <a:p>
            <a:pPr algn="ctr"/>
            <a:r>
              <a:rPr sz="1700" b="0" i="0" lang="de-DE">
                <a:solidFill>
                  <a:srgbClr val="FFFFFF"/>
                </a:solidFill>
                <a:latin typeface="IBM Plex Mono Medium"/>
              </a:rPr>
              <a:t>1</a:t>
            </a:r>
          </a:p>
        </p:txBody>
      </p:sp>
      <p:sp>
        <p:nvSpPr>
          <p:cNvPr id="6" name="marker-2"/>
          <p:cNvSpPr/>
          <p:nvPr/>
        </p:nvSpPr>
        <p:spPr>
          <a:xfrm>
            <a:off x="2882900" y="3467672"/>
            <a:ext cx="330200" cy="330200"/>
          </a:xfrm>
          <a:prstGeom prst="ellipse">
            <a:avLst/>
          </a:prstGeom>
          <a:solidFill>
            <a:srgbClr val="043751"/>
          </a:solidFill>
          <a:ln w="25400">
            <a:solidFill>
              <a:srgbClr val="FFFFFF"/>
            </a:solidFill>
          </a:ln>
        </p:spPr>
        <p:txBody>
          <a:bodyPr rtlCol="0" anchor="ctr" wrap="square" lIns="0" rIns="0" tIns="0" bIns="0">
            <a:noAutofit/>
          </a:bodyPr>
          <a:lstStyle/>
          <a:p>
            <a:pPr algn="ctr"/>
            <a:r>
              <a:rPr sz="1700" b="0" i="0" lang="de-DE">
                <a:solidFill>
                  <a:srgbClr val="FFFFFF"/>
                </a:solidFill>
                <a:latin typeface="IBM Plex Mono Medium"/>
              </a:rPr>
              <a:t>2</a:t>
            </a:r>
          </a:p>
        </p:txBody>
      </p:sp>
      <p:sp>
        <p:nvSpPr>
          <p:cNvPr id="7" name="marker-3"/>
          <p:cNvSpPr/>
          <p:nvPr/>
        </p:nvSpPr>
        <p:spPr>
          <a:xfrm>
            <a:off x="2692400" y="4647438"/>
            <a:ext cx="330200" cy="330200"/>
          </a:xfrm>
          <a:prstGeom prst="ellipse">
            <a:avLst/>
          </a:prstGeom>
          <a:solidFill>
            <a:srgbClr val="043751"/>
          </a:solidFill>
          <a:ln w="25400">
            <a:solidFill>
              <a:srgbClr val="FFFFFF"/>
            </a:solidFill>
          </a:ln>
        </p:spPr>
        <p:txBody>
          <a:bodyPr rtlCol="0" anchor="ctr" wrap="square" lIns="0" rIns="0" tIns="0" bIns="0">
            <a:noAutofit/>
          </a:bodyPr>
          <a:lstStyle/>
          <a:p>
            <a:pPr algn="ctr"/>
            <a:r>
              <a:rPr sz="1700" b="0" i="0" lang="de-DE">
                <a:solidFill>
                  <a:srgbClr val="FFFFFF"/>
                </a:solidFill>
                <a:latin typeface="IBM Plex Mono Medium"/>
              </a:rPr>
              <a:t>3</a:t>
            </a:r>
          </a:p>
        </p:txBody>
      </p:sp>
      <p:sp>
        <p:nvSpPr>
          <p:cNvPr id="8" name="marker-4"/>
          <p:cNvSpPr/>
          <p:nvPr/>
        </p:nvSpPr>
        <p:spPr>
          <a:xfrm>
            <a:off x="4851400" y="4003929"/>
            <a:ext cx="330200" cy="330200"/>
          </a:xfrm>
          <a:prstGeom prst="ellipse">
            <a:avLst/>
          </a:prstGeom>
          <a:solidFill>
            <a:srgbClr val="043751"/>
          </a:solidFill>
          <a:ln w="25400">
            <a:solidFill>
              <a:srgbClr val="FFFFFF"/>
            </a:solidFill>
          </a:ln>
        </p:spPr>
        <p:txBody>
          <a:bodyPr rtlCol="0" anchor="ctr" wrap="square" lIns="0" rIns="0" tIns="0" bIns="0">
            <a:noAutofit/>
          </a:bodyPr>
          <a:lstStyle/>
          <a:p>
            <a:pPr algn="ctr"/>
            <a:r>
              <a:rPr sz="1700" b="0" i="0" lang="de-DE">
                <a:solidFill>
                  <a:srgbClr val="FFFFFF"/>
                </a:solidFill>
                <a:latin typeface="IBM Plex Mono Medium"/>
              </a:rPr>
              <a:t>4</a:t>
            </a:r>
          </a:p>
        </p:txBody>
      </p:sp>
      <p:sp>
        <p:nvSpPr>
          <p:cNvPr id="9" name="legend-rule"/>
          <p:cNvSpPr/>
          <p:nvPr/>
        </p:nvSpPr>
        <p:spPr>
          <a:xfrm>
            <a:off x="7493000" y="2152650"/>
            <a:ext cx="3937000" cy="12700"/>
          </a:xfrm>
          <a:prstGeom prst="rect">
            <a:avLst/>
          </a:prstGeom>
          <a:solidFill>
            <a:srgbClr val="043751"/>
          </a:solidFill>
          <a:ln>
            <a:noFill/>
          </a:ln>
        </p:spPr>
        <p:txBody>
          <a:bodyPr rtlCol="0" anchor="ctr"/>
          <a:lstStyle/>
          <a:p>
            <a:pPr algn="ctr"/>
          </a:p>
        </p:txBody>
      </p:sp>
      <p:sp>
        <p:nvSpPr>
          <p:cNvPr id="10" name="legend-num-1"/>
          <p:cNvSpPr/>
          <p:nvPr/>
        </p:nvSpPr>
        <p:spPr>
          <a:xfrm>
            <a:off x="7493000" y="2275840"/>
            <a:ext cx="254000" cy="254000"/>
          </a:xfrm>
          <a:prstGeom prst="ellipse">
            <a:avLst/>
          </a:prstGeom>
          <a:solidFill>
            <a:srgbClr val="043751"/>
          </a:solidFill>
          <a:ln>
            <a:noFill/>
          </a:ln>
        </p:spPr>
        <p:txBody>
          <a:bodyPr rtlCol="0" anchor="ctr" wrap="square" lIns="0" rIns="0" tIns="0" bIns="0">
            <a:noAutofit/>
          </a:bodyPr>
          <a:lstStyle/>
          <a:p>
            <a:pPr algn="ctr"/>
            <a:r>
              <a:rPr sz="1400" b="0" i="0" lang="de-DE">
                <a:solidFill>
                  <a:srgbClr val="FFFFFF"/>
                </a:solidFill>
                <a:latin typeface="IBM Plex Mono Medium"/>
              </a:rPr>
              <a:t>1</a:t>
            </a:r>
          </a:p>
        </p:txBody>
      </p:sp>
      <p:sp>
        <p:nvSpPr>
          <p:cNvPr id="11" name="legend-1"/>
          <p:cNvSpPr txBox="1"/>
          <p:nvPr/>
        </p:nvSpPr>
        <p:spPr>
          <a:xfrm>
            <a:off x="7899400" y="2159000"/>
            <a:ext cx="3530600" cy="487680"/>
          </a:xfrm>
          <a:prstGeom prst="rect">
            <a:avLst/>
          </a:prstGeom>
          <a:noFill/>
        </p:spPr>
        <p:txBody>
          <a:bodyPr wrap="square" lIns="0" rIns="0" tIns="0" bIns="0" anchor="ctr">
            <a:noAutofit/>
          </a:bodyPr>
          <a:lstStyle/>
          <a:p>
            <a:pPr algn="l"/>
            <a:r>
              <a:rPr sz="1800" b="0" i="0" lang="de-DE">
                <a:solidFill>
                  <a:srgbClr val="043751"/>
                </a:solidFill>
                <a:latin typeface="IBM Plex Sans"/>
              </a:rPr>
              <a:t>Geprüfter Innenbehälter 4H2</a:t>
            </a:r>
          </a:p>
        </p:txBody>
      </p:sp>
      <p:sp>
        <p:nvSpPr>
          <p:cNvPr id="12" name="legend-line-1"/>
          <p:cNvSpPr/>
          <p:nvPr/>
        </p:nvSpPr>
        <p:spPr>
          <a:xfrm>
            <a:off x="7493000" y="2640330"/>
            <a:ext cx="3937000" cy="12700"/>
          </a:xfrm>
          <a:prstGeom prst="rect">
            <a:avLst/>
          </a:prstGeom>
          <a:solidFill>
            <a:srgbClr val="D9D9D9"/>
          </a:solidFill>
          <a:ln>
            <a:noFill/>
          </a:ln>
        </p:spPr>
        <p:txBody>
          <a:bodyPr rtlCol="0" anchor="ctr"/>
          <a:lstStyle/>
          <a:p>
            <a:pPr algn="ctr"/>
          </a:p>
        </p:txBody>
      </p:sp>
      <p:sp>
        <p:nvSpPr>
          <p:cNvPr id="13" name="legend-num-2"/>
          <p:cNvSpPr/>
          <p:nvPr/>
        </p:nvSpPr>
        <p:spPr>
          <a:xfrm>
            <a:off x="7493000" y="2763520"/>
            <a:ext cx="254000" cy="254000"/>
          </a:xfrm>
          <a:prstGeom prst="ellipse">
            <a:avLst/>
          </a:prstGeom>
          <a:solidFill>
            <a:srgbClr val="043751"/>
          </a:solidFill>
          <a:ln>
            <a:noFill/>
          </a:ln>
        </p:spPr>
        <p:txBody>
          <a:bodyPr rtlCol="0" anchor="ctr" wrap="square" lIns="0" rIns="0" tIns="0" bIns="0">
            <a:noAutofit/>
          </a:bodyPr>
          <a:lstStyle/>
          <a:p>
            <a:pPr algn="ctr"/>
            <a:r>
              <a:rPr sz="1400" b="0" i="0" lang="de-DE">
                <a:solidFill>
                  <a:srgbClr val="FFFFFF"/>
                </a:solidFill>
                <a:latin typeface="IBM Plex Mono Medium"/>
              </a:rPr>
              <a:t>2</a:t>
            </a:r>
          </a:p>
        </p:txBody>
      </p:sp>
      <p:sp>
        <p:nvSpPr>
          <p:cNvPr id="14" name="legend-2"/>
          <p:cNvSpPr txBox="1"/>
          <p:nvPr/>
        </p:nvSpPr>
        <p:spPr>
          <a:xfrm>
            <a:off x="7899400" y="2646680"/>
            <a:ext cx="3530600" cy="487680"/>
          </a:xfrm>
          <a:prstGeom prst="rect">
            <a:avLst/>
          </a:prstGeom>
          <a:noFill/>
        </p:spPr>
        <p:txBody>
          <a:bodyPr wrap="square" lIns="0" rIns="0" tIns="0" bIns="0" anchor="ctr">
            <a:noAutofit/>
          </a:bodyPr>
          <a:lstStyle/>
          <a:p>
            <a:pPr algn="l"/>
            <a:r>
              <a:rPr sz="1800" b="0" i="0" lang="de-DE">
                <a:solidFill>
                  <a:srgbClr val="043751"/>
                </a:solidFill>
                <a:latin typeface="IBM Plex Sans"/>
              </a:rPr>
              <a:t>Isolierender Einsatz</a:t>
            </a:r>
          </a:p>
        </p:txBody>
      </p:sp>
      <p:sp>
        <p:nvSpPr>
          <p:cNvPr id="15" name="legend-line-2"/>
          <p:cNvSpPr/>
          <p:nvPr/>
        </p:nvSpPr>
        <p:spPr>
          <a:xfrm>
            <a:off x="7493000" y="3128010"/>
            <a:ext cx="3937000" cy="12700"/>
          </a:xfrm>
          <a:prstGeom prst="rect">
            <a:avLst/>
          </a:prstGeom>
          <a:solidFill>
            <a:srgbClr val="D9D9D9"/>
          </a:solidFill>
          <a:ln>
            <a:noFill/>
          </a:ln>
        </p:spPr>
        <p:txBody>
          <a:bodyPr rtlCol="0" anchor="ctr"/>
          <a:lstStyle/>
          <a:p>
            <a:pPr algn="ctr"/>
          </a:p>
        </p:txBody>
      </p:sp>
      <p:sp>
        <p:nvSpPr>
          <p:cNvPr id="16" name="legend-num-3"/>
          <p:cNvSpPr/>
          <p:nvPr/>
        </p:nvSpPr>
        <p:spPr>
          <a:xfrm>
            <a:off x="7493000" y="3251200"/>
            <a:ext cx="254000" cy="254000"/>
          </a:xfrm>
          <a:prstGeom prst="ellipse">
            <a:avLst/>
          </a:prstGeom>
          <a:solidFill>
            <a:srgbClr val="043751"/>
          </a:solidFill>
          <a:ln>
            <a:noFill/>
          </a:ln>
        </p:spPr>
        <p:txBody>
          <a:bodyPr rtlCol="0" anchor="ctr" wrap="square" lIns="0" rIns="0" tIns="0" bIns="0">
            <a:noAutofit/>
          </a:bodyPr>
          <a:lstStyle/>
          <a:p>
            <a:pPr algn="ctr"/>
            <a:r>
              <a:rPr sz="1400" b="0" i="0" lang="de-DE">
                <a:solidFill>
                  <a:srgbClr val="FFFFFF"/>
                </a:solidFill>
                <a:latin typeface="IBM Plex Mono Medium"/>
              </a:rPr>
              <a:t>3</a:t>
            </a:r>
          </a:p>
        </p:txBody>
      </p:sp>
      <p:sp>
        <p:nvSpPr>
          <p:cNvPr id="17" name="legend-3"/>
          <p:cNvSpPr txBox="1"/>
          <p:nvPr/>
        </p:nvSpPr>
        <p:spPr>
          <a:xfrm>
            <a:off x="7899400" y="3134360"/>
            <a:ext cx="3530600" cy="487680"/>
          </a:xfrm>
          <a:prstGeom prst="rect">
            <a:avLst/>
          </a:prstGeom>
          <a:noFill/>
        </p:spPr>
        <p:txBody>
          <a:bodyPr wrap="square" lIns="0" rIns="0" tIns="0" bIns="0" anchor="ctr">
            <a:noAutofit/>
          </a:bodyPr>
          <a:lstStyle/>
          <a:p>
            <a:pPr algn="l"/>
            <a:r>
              <a:rPr sz="1800" b="0" i="0" lang="de-DE">
                <a:solidFill>
                  <a:srgbClr val="043751"/>
                </a:solidFill>
                <a:latin typeface="IBM Plex Sans"/>
              </a:rPr>
              <a:t>Außenkarton</a:t>
            </a:r>
          </a:p>
        </p:txBody>
      </p:sp>
      <p:sp>
        <p:nvSpPr>
          <p:cNvPr id="18" name="legend-line-3"/>
          <p:cNvSpPr/>
          <p:nvPr/>
        </p:nvSpPr>
        <p:spPr>
          <a:xfrm>
            <a:off x="7493000" y="3615690"/>
            <a:ext cx="3937000" cy="12700"/>
          </a:xfrm>
          <a:prstGeom prst="rect">
            <a:avLst/>
          </a:prstGeom>
          <a:solidFill>
            <a:srgbClr val="D9D9D9"/>
          </a:solidFill>
          <a:ln>
            <a:noFill/>
          </a:ln>
        </p:spPr>
        <p:txBody>
          <a:bodyPr rtlCol="0" anchor="ctr"/>
          <a:lstStyle/>
          <a:p>
            <a:pPr algn="ctr"/>
          </a:p>
        </p:txBody>
      </p:sp>
      <p:sp>
        <p:nvSpPr>
          <p:cNvPr id="19" name="legend-num-4"/>
          <p:cNvSpPr/>
          <p:nvPr/>
        </p:nvSpPr>
        <p:spPr>
          <a:xfrm>
            <a:off x="7493000" y="3887470"/>
            <a:ext cx="254000" cy="254000"/>
          </a:xfrm>
          <a:prstGeom prst="ellipse">
            <a:avLst/>
          </a:prstGeom>
          <a:solidFill>
            <a:srgbClr val="043751"/>
          </a:solidFill>
          <a:ln>
            <a:noFill/>
          </a:ln>
        </p:spPr>
        <p:txBody>
          <a:bodyPr rtlCol="0" anchor="ctr" wrap="square" lIns="0" rIns="0" tIns="0" bIns="0">
            <a:noAutofit/>
          </a:bodyPr>
          <a:lstStyle/>
          <a:p>
            <a:pPr algn="ctr"/>
            <a:r>
              <a:rPr sz="1400" b="0" i="0" lang="de-DE">
                <a:solidFill>
                  <a:srgbClr val="FFFFFF"/>
                </a:solidFill>
                <a:latin typeface="IBM Plex Mono Medium"/>
              </a:rPr>
              <a:t>4</a:t>
            </a:r>
          </a:p>
        </p:txBody>
      </p:sp>
      <p:sp>
        <p:nvSpPr>
          <p:cNvPr id="20" name="legend-4"/>
          <p:cNvSpPr txBox="1"/>
          <p:nvPr/>
        </p:nvSpPr>
        <p:spPr>
          <a:xfrm>
            <a:off x="7899400" y="3622040"/>
            <a:ext cx="3530600" cy="784860"/>
          </a:xfrm>
          <a:prstGeom prst="rect">
            <a:avLst/>
          </a:prstGeom>
          <a:noFill/>
        </p:spPr>
        <p:txBody>
          <a:bodyPr wrap="square" lIns="0" rIns="0" tIns="0" bIns="0" anchor="ctr">
            <a:noAutofit/>
          </a:bodyPr>
          <a:lstStyle/>
          <a:p>
            <a:pPr algn="l"/>
            <a:r>
              <a:rPr sz="1800" b="0" i="0" lang="de-DE">
                <a:solidFill>
                  <a:srgbClr val="043751"/>
                </a:solidFill>
                <a:latin typeface="IBM Plex Sans"/>
              </a:rPr>
              <a:t>Gefahrgut-Kennzeichnung UN 3481</a:t>
            </a:r>
          </a:p>
        </p:txBody>
      </p:sp>
      <p:sp>
        <p:nvSpPr>
          <p:cNvPr id="21" name="legend-line-4"/>
          <p:cNvSpPr/>
          <p:nvPr/>
        </p:nvSpPr>
        <p:spPr>
          <a:xfrm>
            <a:off x="7493000" y="4400550"/>
            <a:ext cx="3937000" cy="12700"/>
          </a:xfrm>
          <a:prstGeom prst="rect">
            <a:avLst/>
          </a:prstGeom>
          <a:solidFill>
            <a:srgbClr val="D9D9D9"/>
          </a:solidFill>
          <a:ln>
            <a:noFill/>
          </a:ln>
        </p:spPr>
        <p:txBody>
          <a:bodyPr rtlCol="0" anchor="ctr"/>
          <a:lstStyle/>
          <a:p>
            <a:pPr algn="ctr"/>
          </a:p>
        </p:txBody>
      </p:sp>
      <p:sp>
        <p:nvSpPr>
          <p:cNvPr id="22"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23"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F7A1E"/>
                </a:solidFill>
                <a:latin typeface="IBM Plex Mono"/>
              </a:rPr>
              <a:t>02</a:t>
            </a:r>
            <a:r>
              <a:rPr sz="1200" b="0" i="0" lang="de-DE">
                <a:solidFill>
                  <a:srgbClr val="043751"/>
                </a:solidFill>
                <a:latin typeface="IBM Plex Mono"/>
              </a:rPr>
              <a:t> </a:t>
            </a:r>
            <a:r>
              <a:rPr sz="1200" b="0" i="0" lang="de-DE" cap="all" spc="72">
                <a:solidFill>
                  <a:srgbClr val="043751"/>
                </a:solidFill>
                <a:latin typeface="IBM Plex Sans Medium"/>
              </a:rPr>
              <a:t>Unsere Marken</a:t>
            </a:r>
          </a:p>
        </p:txBody>
      </p:sp>
      <p:sp>
        <p:nvSpPr>
          <p:cNvPr id="24" name="nav-underline"/>
          <p:cNvSpPr/>
          <p:nvPr/>
        </p:nvSpPr>
        <p:spPr>
          <a:xfrm>
            <a:off x="4367129" y="685800"/>
            <a:ext cx="1638804" cy="25400"/>
          </a:xfrm>
          <a:prstGeom prst="rect">
            <a:avLst/>
          </a:prstGeom>
          <a:solidFill>
            <a:srgbClr val="6EA52E"/>
          </a:solidFill>
          <a:ln>
            <a:noFill/>
          </a:ln>
        </p:spPr>
        <p:txBody>
          <a:bodyPr rtlCol="0" anchor="ctr"/>
          <a:lstStyle/>
          <a:p>
            <a:pPr algn="ctr"/>
          </a:p>
        </p:txBody>
      </p:sp>
      <p:sp>
        <p:nvSpPr>
          <p:cNvPr id="25"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6"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27"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28"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29"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ECOINVEST</a:t>
            </a:r>
          </a:p>
        </p:txBody>
      </p:sp>
      <p:sp>
        <p:nvSpPr>
          <p:cNvPr id="3" name="Title 2"/>
          <p:cNvSpPr>
            <a:spLocks noGrp="1"/>
          </p:cNvSpPr>
          <p:nvPr>
            <p:ph type="title"/>
          </p:nvPr>
        </p:nvSpPr>
        <p:spPr/>
        <p:txBody>
          <a:bodyPr/>
          <a:lstStyle/>
          <a:p>
            <a:r>
              <a:t>ECO Park Röthlein</a:t>
            </a:r>
          </a:p>
        </p:txBody>
      </p:sp>
      <p:sp>
        <p:nvSpPr>
          <p:cNvPr id="4" name="Text Placeholder 3"/>
          <p:cNvSpPr>
            <a:spLocks noGrp="1"/>
          </p:cNvSpPr>
          <p:nvPr>
            <p:ph type="body" idx="26"/>
          </p:nvPr>
        </p:nvSpPr>
        <p:spPr/>
        <p:txBody>
          <a:bodyPr/>
          <a:lstStyle/>
          <a:p>
            <a:pPr>
              <a:spcBef>
                <a:spcPts val="0"/>
              </a:spcBef>
            </a:pPr>
            <a:r>
              <a:rPr sz="1600" b="0" i="0" lang="de-DE">
                <a:solidFill>
                  <a:srgbClr val="4F7A1E"/>
                </a:solidFill>
                <a:latin typeface="IBM Plex Mono Medium"/>
              </a:rPr>
              <a:t>01</a:t>
            </a:r>
            <a:r>
              <a:t>	Lage</a:t>
            </a:r>
          </a:p>
          <a:p>
            <a:pPr lvl="1"/>
            <a:r>
              <a:t>Industriegebiet Röthlein, direkt an der A70 bei Schweinfurt.</a:t>
            </a:r>
          </a:p>
          <a:p>
            <a:pPr/>
            <a:r>
              <a:rPr sz="1600" b="0" i="0" lang="de-DE">
                <a:solidFill>
                  <a:srgbClr val="4F7A1E"/>
                </a:solidFill>
                <a:latin typeface="IBM Plex Mono Medium"/>
              </a:rPr>
              <a:t>02</a:t>
            </a:r>
            <a:r>
              <a:t>	Infrastruktur</a:t>
            </a:r>
          </a:p>
          <a:p>
            <a:pPr lvl="1"/>
            <a:r>
              <a:t>Eigene Lkw-Waage, Trafostation und installierte Brandmeldeanlage.</a:t>
            </a:r>
          </a:p>
          <a:p>
            <a:pPr/>
            <a:r>
              <a:rPr sz="1600" b="0" i="0" lang="de-DE">
                <a:solidFill>
                  <a:srgbClr val="4F7A1E"/>
                </a:solidFill>
                <a:latin typeface="IBM Plex Mono Medium"/>
              </a:rPr>
              <a:t>03</a:t>
            </a:r>
            <a:r>
              <a:t>	Perspektive</a:t>
            </a:r>
          </a:p>
          <a:p>
            <a:pPr lvl="1"/>
            <a:r>
              <a:t>Hallenerweiterung bis 1.000 m², PV-Potenzial auf den Dachflächen.</a:t>
            </a:r>
          </a:p>
        </p:txBody>
      </p:sp>
      <p:sp>
        <p:nvSpPr>
          <p:cNvPr id="5" name="chart-card"/>
          <p:cNvSpPr/>
          <p:nvPr/>
        </p:nvSpPr>
        <p:spPr>
          <a:xfrm>
            <a:off x="6096000" y="2095500"/>
            <a:ext cx="5334000" cy="3568700"/>
          </a:xfrm>
          <a:prstGeom prst="rect">
            <a:avLst/>
          </a:prstGeom>
          <a:solidFill>
            <a:srgbClr val="F4F6F8"/>
          </a:solidFill>
          <a:ln>
            <a:noFill/>
          </a:ln>
        </p:spPr>
        <p:txBody>
          <a:bodyPr rtlCol="0" anchor="ctr"/>
          <a:lstStyle/>
          <a:p>
            <a:pPr algn="ctr"/>
          </a:p>
        </p:txBody>
      </p:sp>
      <p:sp>
        <p:nvSpPr>
          <p:cNvPr id="6" name="chart-title"/>
          <p:cNvSpPr txBox="1"/>
          <p:nvPr/>
        </p:nvSpPr>
        <p:spPr>
          <a:xfrm>
            <a:off x="6400800" y="2349500"/>
            <a:ext cx="4724400" cy="190500"/>
          </a:xfrm>
          <a:prstGeom prst="rect">
            <a:avLst/>
          </a:prstGeom>
          <a:noFill/>
        </p:spPr>
        <p:txBody>
          <a:bodyPr wrap="square" lIns="0" rIns="0" tIns="0" bIns="0" anchor="t">
            <a:noAutofit/>
          </a:bodyPr>
          <a:lstStyle/>
          <a:p>
            <a:pPr algn="l"/>
            <a:r>
              <a:rPr sz="1100" b="0" i="0" lang="de-DE" cap="all" spc="110">
                <a:solidFill>
                  <a:srgbClr val="4A6079"/>
                </a:solidFill>
                <a:latin typeface="IBM Plex Mono Medium"/>
              </a:rPr>
              <a:t>Flächen am Standort</a:t>
            </a:r>
          </a:p>
        </p:txBody>
      </p:sp>
      <p:sp>
        <p:nvSpPr>
          <p:cNvPr id="7" name="bar-track-1"/>
          <p:cNvSpPr/>
          <p:nvPr/>
        </p:nvSpPr>
        <p:spPr>
          <a:xfrm>
            <a:off x="6400800" y="2971800"/>
            <a:ext cx="3390900" cy="152400"/>
          </a:xfrm>
          <a:prstGeom prst="rect">
            <a:avLst/>
          </a:prstGeom>
          <a:solidFill>
            <a:srgbClr val="FFFFFF"/>
          </a:solidFill>
          <a:ln>
            <a:noFill/>
          </a:ln>
        </p:spPr>
        <p:txBody>
          <a:bodyPr rtlCol="0" anchor="ctr"/>
          <a:lstStyle/>
          <a:p>
            <a:pPr algn="ctr"/>
          </a:p>
        </p:txBody>
      </p:sp>
      <p:sp>
        <p:nvSpPr>
          <p:cNvPr id="8" name="bar-fill-1"/>
          <p:cNvSpPr/>
          <p:nvPr/>
        </p:nvSpPr>
        <p:spPr>
          <a:xfrm>
            <a:off x="6400800" y="2971800"/>
            <a:ext cx="3390900" cy="152400"/>
          </a:xfrm>
          <a:prstGeom prst="rect">
            <a:avLst/>
          </a:prstGeom>
          <a:solidFill>
            <a:srgbClr val="6EA52E"/>
          </a:solidFill>
          <a:ln>
            <a:noFill/>
          </a:ln>
        </p:spPr>
        <p:txBody>
          <a:bodyPr rtlCol="0" anchor="ctr"/>
          <a:lstStyle/>
          <a:p>
            <a:pPr algn="ctr"/>
          </a:p>
        </p:txBody>
      </p:sp>
      <p:sp>
        <p:nvSpPr>
          <p:cNvPr id="9" name="bar-value-1"/>
          <p:cNvSpPr txBox="1"/>
          <p:nvPr/>
        </p:nvSpPr>
        <p:spPr>
          <a:xfrm>
            <a:off x="9918700" y="2908300"/>
            <a:ext cx="1206500" cy="279400"/>
          </a:xfrm>
          <a:prstGeom prst="rect">
            <a:avLst/>
          </a:prstGeom>
          <a:noFill/>
        </p:spPr>
        <p:txBody>
          <a:bodyPr wrap="square" lIns="0" rIns="0" tIns="0" bIns="0" anchor="ctr">
            <a:noAutofit/>
          </a:bodyPr>
          <a:lstStyle/>
          <a:p>
            <a:pPr algn="r"/>
            <a:r>
              <a:rPr sz="1700" b="0" i="0" lang="de-DE">
                <a:solidFill>
                  <a:srgbClr val="043751"/>
                </a:solidFill>
                <a:latin typeface="IBM Plex Mono Medium"/>
              </a:rPr>
              <a:t>8.000 m²</a:t>
            </a:r>
          </a:p>
        </p:txBody>
      </p:sp>
      <p:sp>
        <p:nvSpPr>
          <p:cNvPr id="10" name="bar-label-1"/>
          <p:cNvSpPr txBox="1"/>
          <p:nvPr/>
        </p:nvSpPr>
        <p:spPr>
          <a:xfrm>
            <a:off x="6400800" y="2667000"/>
            <a:ext cx="4724400" cy="292100"/>
          </a:xfrm>
          <a:prstGeom prst="rect">
            <a:avLst/>
          </a:prstGeom>
          <a:noFill/>
        </p:spPr>
        <p:txBody>
          <a:bodyPr wrap="square" lIns="0" rIns="0" tIns="0" bIns="0" anchor="t">
            <a:noAutofit/>
          </a:bodyPr>
          <a:lstStyle/>
          <a:p>
            <a:pPr algn="l"/>
            <a:r>
              <a:rPr sz="1700" b="0" i="0" lang="de-DE">
                <a:solidFill>
                  <a:srgbClr val="043751"/>
                </a:solidFill>
                <a:latin typeface="IBM Plex Sans"/>
              </a:rPr>
              <a:t>Grundstück</a:t>
            </a:r>
          </a:p>
        </p:txBody>
      </p:sp>
      <p:sp>
        <p:nvSpPr>
          <p:cNvPr id="11" name="bar-track-2"/>
          <p:cNvSpPr/>
          <p:nvPr/>
        </p:nvSpPr>
        <p:spPr>
          <a:xfrm>
            <a:off x="6400800" y="3606800"/>
            <a:ext cx="3390900" cy="152400"/>
          </a:xfrm>
          <a:prstGeom prst="rect">
            <a:avLst/>
          </a:prstGeom>
          <a:solidFill>
            <a:srgbClr val="FFFFFF"/>
          </a:solidFill>
          <a:ln>
            <a:noFill/>
          </a:ln>
        </p:spPr>
        <p:txBody>
          <a:bodyPr rtlCol="0" anchor="ctr"/>
          <a:lstStyle/>
          <a:p>
            <a:pPr algn="ctr"/>
          </a:p>
        </p:txBody>
      </p:sp>
      <p:sp>
        <p:nvSpPr>
          <p:cNvPr id="12" name="bar-fill-2"/>
          <p:cNvSpPr/>
          <p:nvPr/>
        </p:nvSpPr>
        <p:spPr>
          <a:xfrm>
            <a:off x="6400800" y="3606800"/>
            <a:ext cx="762952" cy="152400"/>
          </a:xfrm>
          <a:prstGeom prst="rect">
            <a:avLst/>
          </a:prstGeom>
          <a:solidFill>
            <a:srgbClr val="A3B6C9"/>
          </a:solidFill>
          <a:ln>
            <a:noFill/>
          </a:ln>
        </p:spPr>
        <p:txBody>
          <a:bodyPr rtlCol="0" anchor="ctr"/>
          <a:lstStyle/>
          <a:p>
            <a:pPr algn="ctr"/>
          </a:p>
        </p:txBody>
      </p:sp>
      <p:sp>
        <p:nvSpPr>
          <p:cNvPr id="13" name="bar-value-2"/>
          <p:cNvSpPr txBox="1"/>
          <p:nvPr/>
        </p:nvSpPr>
        <p:spPr>
          <a:xfrm>
            <a:off x="9918700" y="3543300"/>
            <a:ext cx="1206500" cy="279400"/>
          </a:xfrm>
          <a:prstGeom prst="rect">
            <a:avLst/>
          </a:prstGeom>
          <a:noFill/>
        </p:spPr>
        <p:txBody>
          <a:bodyPr wrap="square" lIns="0" rIns="0" tIns="0" bIns="0" anchor="ctr">
            <a:noAutofit/>
          </a:bodyPr>
          <a:lstStyle/>
          <a:p>
            <a:pPr algn="r"/>
            <a:r>
              <a:rPr sz="1700" b="0" i="0" lang="de-DE">
                <a:solidFill>
                  <a:srgbClr val="043751"/>
                </a:solidFill>
                <a:latin typeface="IBM Plex Mono Medium"/>
              </a:rPr>
              <a:t>1.800 m²</a:t>
            </a:r>
          </a:p>
        </p:txBody>
      </p:sp>
      <p:sp>
        <p:nvSpPr>
          <p:cNvPr id="14" name="bar-label-2"/>
          <p:cNvSpPr txBox="1"/>
          <p:nvPr/>
        </p:nvSpPr>
        <p:spPr>
          <a:xfrm>
            <a:off x="6400800" y="3302000"/>
            <a:ext cx="4724400" cy="292100"/>
          </a:xfrm>
          <a:prstGeom prst="rect">
            <a:avLst/>
          </a:prstGeom>
          <a:noFill/>
        </p:spPr>
        <p:txBody>
          <a:bodyPr wrap="square" lIns="0" rIns="0" tIns="0" bIns="0" anchor="t">
            <a:noAutofit/>
          </a:bodyPr>
          <a:lstStyle/>
          <a:p>
            <a:pPr algn="l"/>
            <a:r>
              <a:rPr sz="1700" b="0" i="0" lang="de-DE">
                <a:solidFill>
                  <a:srgbClr val="043751"/>
                </a:solidFill>
                <a:latin typeface="IBM Plex Sans"/>
              </a:rPr>
              <a:t>Lager- und Produktionsfläche</a:t>
            </a:r>
          </a:p>
        </p:txBody>
      </p:sp>
      <p:sp>
        <p:nvSpPr>
          <p:cNvPr id="15" name="bar-track-3"/>
          <p:cNvSpPr/>
          <p:nvPr/>
        </p:nvSpPr>
        <p:spPr>
          <a:xfrm>
            <a:off x="6400800" y="4241800"/>
            <a:ext cx="3390900" cy="152400"/>
          </a:xfrm>
          <a:prstGeom prst="rect">
            <a:avLst/>
          </a:prstGeom>
          <a:solidFill>
            <a:srgbClr val="FFFFFF"/>
          </a:solidFill>
          <a:ln>
            <a:noFill/>
          </a:ln>
        </p:spPr>
        <p:txBody>
          <a:bodyPr rtlCol="0" anchor="ctr"/>
          <a:lstStyle/>
          <a:p>
            <a:pPr algn="ctr"/>
          </a:p>
        </p:txBody>
      </p:sp>
      <p:sp>
        <p:nvSpPr>
          <p:cNvPr id="16" name="bar-fill-3"/>
          <p:cNvSpPr/>
          <p:nvPr/>
        </p:nvSpPr>
        <p:spPr>
          <a:xfrm>
            <a:off x="6400800" y="4241800"/>
            <a:ext cx="169545" cy="152400"/>
          </a:xfrm>
          <a:prstGeom prst="rect">
            <a:avLst/>
          </a:prstGeom>
          <a:solidFill>
            <a:srgbClr val="A3B6C9"/>
          </a:solidFill>
          <a:ln>
            <a:noFill/>
          </a:ln>
        </p:spPr>
        <p:txBody>
          <a:bodyPr rtlCol="0" anchor="ctr"/>
          <a:lstStyle/>
          <a:p>
            <a:pPr algn="ctr"/>
          </a:p>
        </p:txBody>
      </p:sp>
      <p:sp>
        <p:nvSpPr>
          <p:cNvPr id="17" name="bar-value-3"/>
          <p:cNvSpPr txBox="1"/>
          <p:nvPr/>
        </p:nvSpPr>
        <p:spPr>
          <a:xfrm>
            <a:off x="9918700" y="4178300"/>
            <a:ext cx="1206500" cy="279400"/>
          </a:xfrm>
          <a:prstGeom prst="rect">
            <a:avLst/>
          </a:prstGeom>
          <a:noFill/>
        </p:spPr>
        <p:txBody>
          <a:bodyPr wrap="square" lIns="0" rIns="0" tIns="0" bIns="0" anchor="ctr">
            <a:noAutofit/>
          </a:bodyPr>
          <a:lstStyle/>
          <a:p>
            <a:pPr algn="r"/>
            <a:r>
              <a:rPr sz="1700" b="0" i="0" lang="de-DE">
                <a:solidFill>
                  <a:srgbClr val="043751"/>
                </a:solidFill>
                <a:latin typeface="IBM Plex Mono Medium"/>
              </a:rPr>
              <a:t>400 m²</a:t>
            </a:r>
          </a:p>
        </p:txBody>
      </p:sp>
      <p:sp>
        <p:nvSpPr>
          <p:cNvPr id="18" name="bar-label-3"/>
          <p:cNvSpPr txBox="1"/>
          <p:nvPr/>
        </p:nvSpPr>
        <p:spPr>
          <a:xfrm>
            <a:off x="6400800" y="3937000"/>
            <a:ext cx="4724400" cy="292100"/>
          </a:xfrm>
          <a:prstGeom prst="rect">
            <a:avLst/>
          </a:prstGeom>
          <a:noFill/>
        </p:spPr>
        <p:txBody>
          <a:bodyPr wrap="square" lIns="0" rIns="0" tIns="0" bIns="0" anchor="t">
            <a:noAutofit/>
          </a:bodyPr>
          <a:lstStyle/>
          <a:p>
            <a:pPr algn="l"/>
            <a:r>
              <a:rPr sz="1700" b="0" i="0" lang="de-DE">
                <a:solidFill>
                  <a:srgbClr val="043751"/>
                </a:solidFill>
                <a:latin typeface="IBM Plex Sans"/>
              </a:rPr>
              <a:t>Kalthalle</a:t>
            </a:r>
          </a:p>
        </p:txBody>
      </p:sp>
      <p:sp>
        <p:nvSpPr>
          <p:cNvPr id="19" name="bar-track-4"/>
          <p:cNvSpPr/>
          <p:nvPr/>
        </p:nvSpPr>
        <p:spPr>
          <a:xfrm>
            <a:off x="6400800" y="4876800"/>
            <a:ext cx="3390900" cy="152400"/>
          </a:xfrm>
          <a:prstGeom prst="rect">
            <a:avLst/>
          </a:prstGeom>
          <a:solidFill>
            <a:srgbClr val="FFFFFF"/>
          </a:solidFill>
          <a:ln>
            <a:noFill/>
          </a:ln>
        </p:spPr>
        <p:txBody>
          <a:bodyPr rtlCol="0" anchor="ctr"/>
          <a:lstStyle/>
          <a:p>
            <a:pPr algn="ctr"/>
          </a:p>
        </p:txBody>
      </p:sp>
      <p:sp>
        <p:nvSpPr>
          <p:cNvPr id="20" name="bar-fill-4"/>
          <p:cNvSpPr/>
          <p:nvPr/>
        </p:nvSpPr>
        <p:spPr>
          <a:xfrm>
            <a:off x="6400800" y="4876800"/>
            <a:ext cx="84772" cy="152400"/>
          </a:xfrm>
          <a:prstGeom prst="rect">
            <a:avLst/>
          </a:prstGeom>
          <a:solidFill>
            <a:srgbClr val="A3B6C9"/>
          </a:solidFill>
          <a:ln>
            <a:noFill/>
          </a:ln>
        </p:spPr>
        <p:txBody>
          <a:bodyPr rtlCol="0" anchor="ctr"/>
          <a:lstStyle/>
          <a:p>
            <a:pPr algn="ctr"/>
          </a:p>
        </p:txBody>
      </p:sp>
      <p:sp>
        <p:nvSpPr>
          <p:cNvPr id="21" name="bar-value-4"/>
          <p:cNvSpPr txBox="1"/>
          <p:nvPr/>
        </p:nvSpPr>
        <p:spPr>
          <a:xfrm>
            <a:off x="9918700" y="4813300"/>
            <a:ext cx="1206500" cy="279400"/>
          </a:xfrm>
          <a:prstGeom prst="rect">
            <a:avLst/>
          </a:prstGeom>
          <a:noFill/>
        </p:spPr>
        <p:txBody>
          <a:bodyPr wrap="square" lIns="0" rIns="0" tIns="0" bIns="0" anchor="ctr">
            <a:noAutofit/>
          </a:bodyPr>
          <a:lstStyle/>
          <a:p>
            <a:pPr algn="r"/>
            <a:r>
              <a:rPr sz="1700" b="0" i="0" lang="de-DE">
                <a:solidFill>
                  <a:srgbClr val="043751"/>
                </a:solidFill>
                <a:latin typeface="IBM Plex Mono Medium"/>
              </a:rPr>
              <a:t>200 m²</a:t>
            </a:r>
          </a:p>
        </p:txBody>
      </p:sp>
      <p:sp>
        <p:nvSpPr>
          <p:cNvPr id="22" name="bar-label-4"/>
          <p:cNvSpPr txBox="1"/>
          <p:nvPr/>
        </p:nvSpPr>
        <p:spPr>
          <a:xfrm>
            <a:off x="6400800" y="4572000"/>
            <a:ext cx="4724400" cy="292100"/>
          </a:xfrm>
          <a:prstGeom prst="rect">
            <a:avLst/>
          </a:prstGeom>
          <a:noFill/>
        </p:spPr>
        <p:txBody>
          <a:bodyPr wrap="square" lIns="0" rIns="0" tIns="0" bIns="0" anchor="t">
            <a:noAutofit/>
          </a:bodyPr>
          <a:lstStyle/>
          <a:p>
            <a:pPr algn="l"/>
            <a:r>
              <a:rPr sz="1700" b="0" i="0" lang="de-DE">
                <a:solidFill>
                  <a:srgbClr val="043751"/>
                </a:solidFill>
                <a:latin typeface="IBM Plex Sans"/>
              </a:rPr>
              <a:t>Büroflächen, klimatisiert</a:t>
            </a:r>
          </a:p>
        </p:txBody>
      </p:sp>
      <p:sp>
        <p:nvSpPr>
          <p:cNvPr id="23" name="chart-note"/>
          <p:cNvSpPr txBox="1"/>
          <p:nvPr/>
        </p:nvSpPr>
        <p:spPr>
          <a:xfrm>
            <a:off x="6400800" y="5257800"/>
            <a:ext cx="4724400" cy="254000"/>
          </a:xfrm>
          <a:prstGeom prst="rect">
            <a:avLst/>
          </a:prstGeom>
          <a:noFill/>
        </p:spPr>
        <p:txBody>
          <a:bodyPr wrap="square" lIns="0" rIns="0" tIns="0" bIns="0" anchor="t">
            <a:noAutofit/>
          </a:bodyPr>
          <a:lstStyle/>
          <a:p>
            <a:pPr algn="l"/>
            <a:r>
              <a:rPr sz="1300" b="0" i="0" lang="de-DE">
                <a:solidFill>
                  <a:srgbClr val="4A6079"/>
                </a:solidFill>
                <a:latin typeface="IBM Plex Sans"/>
              </a:rPr>
              <a:t>Alle Angaben ca.; der Standort ist derzeit vollständig vermietet.</a:t>
            </a:r>
          </a:p>
        </p:txBody>
      </p:sp>
      <p:sp>
        <p:nvSpPr>
          <p:cNvPr id="24"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25"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F7A1E"/>
                </a:solidFill>
                <a:latin typeface="IBM Plex Mono"/>
              </a:rPr>
              <a:t>02</a:t>
            </a:r>
            <a:r>
              <a:rPr sz="1200" b="0" i="0" lang="de-DE">
                <a:solidFill>
                  <a:srgbClr val="043751"/>
                </a:solidFill>
                <a:latin typeface="IBM Plex Mono"/>
              </a:rPr>
              <a:t> </a:t>
            </a:r>
            <a:r>
              <a:rPr sz="1200" b="0" i="0" lang="de-DE" cap="all" spc="72">
                <a:solidFill>
                  <a:srgbClr val="043751"/>
                </a:solidFill>
                <a:latin typeface="IBM Plex Sans Medium"/>
              </a:rPr>
              <a:t>Unsere Marken</a:t>
            </a:r>
          </a:p>
        </p:txBody>
      </p:sp>
      <p:sp>
        <p:nvSpPr>
          <p:cNvPr id="26" name="nav-underline"/>
          <p:cNvSpPr/>
          <p:nvPr/>
        </p:nvSpPr>
        <p:spPr>
          <a:xfrm>
            <a:off x="4367129" y="685800"/>
            <a:ext cx="1638804" cy="25400"/>
          </a:xfrm>
          <a:prstGeom prst="rect">
            <a:avLst/>
          </a:prstGeom>
          <a:solidFill>
            <a:srgbClr val="6EA52E"/>
          </a:solidFill>
          <a:ln>
            <a:noFill/>
          </a:ln>
        </p:spPr>
        <p:txBody>
          <a:bodyPr rtlCol="0" anchor="ctr"/>
          <a:lstStyle/>
          <a:p>
            <a:pPr algn="ctr"/>
          </a:p>
        </p:txBody>
      </p:sp>
      <p:sp>
        <p:nvSpPr>
          <p:cNvPr id="27"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8"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29"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30"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31"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ECOINVEST · Standort</a:t>
            </a:r>
          </a:p>
        </p:txBody>
      </p:sp>
      <p:sp>
        <p:nvSpPr>
          <p:cNvPr id="3" name="Title 2"/>
          <p:cNvSpPr>
            <a:spLocks noGrp="1"/>
          </p:cNvSpPr>
          <p:nvPr>
            <p:ph type="title"/>
          </p:nvPr>
        </p:nvSpPr>
        <p:spPr/>
        <p:txBody>
          <a:bodyPr/>
          <a:lstStyle/>
          <a:p>
            <a:r>
              <a:t>ECO Park Röthlein in Bildern</a:t>
            </a:r>
          </a:p>
        </p:txBody>
      </p:sp>
      <p:sp>
        <p:nvSpPr>
          <p:cNvPr id="4" name="brief-card"/>
          <p:cNvSpPr/>
          <p:nvPr/>
        </p:nvSpPr>
        <p:spPr>
          <a:xfrm>
            <a:off x="762000" y="2095500"/>
            <a:ext cx="3420533" cy="1924050"/>
          </a:xfrm>
          <a:prstGeom prst="rect">
            <a:avLst/>
          </a:prstGeom>
          <a:gradFill rotWithShape="1">
            <a:gsLst>
              <a:gs pos="0">
                <a:srgbClr val="043751"/>
              </a:gs>
              <a:gs pos="90000">
                <a:srgbClr val="117EC2"/>
              </a:gs>
            </a:gsLst>
            <a:lin ang="2400000" scaled="0"/>
          </a:gradFill>
          <a:ln>
            <a:noFill/>
          </a:ln>
        </p:spPr>
        <p:txBody>
          <a:bodyPr rtlCol="0" anchor="ctr"/>
          <a:lstStyle/>
          <a:p>
            <a:pPr algn="ctr"/>
          </a:p>
        </p:txBody>
      </p:sp>
      <p:sp>
        <p:nvSpPr>
          <p:cNvPr id="5" name="brief-text"/>
          <p:cNvSpPr txBox="1"/>
          <p:nvPr/>
        </p:nvSpPr>
        <p:spPr>
          <a:xfrm>
            <a:off x="939800" y="2889250"/>
            <a:ext cx="3064933" cy="952500"/>
          </a:xfrm>
          <a:prstGeom prst="rect">
            <a:avLst/>
          </a:prstGeom>
          <a:noFill/>
        </p:spPr>
        <p:txBody>
          <a:bodyPr wrap="square" lIns="0" rIns="0" tIns="0" bIns="0" anchor="b">
            <a:noAutofit/>
          </a:bodyPr>
          <a:lstStyle/>
          <a:p>
            <a:pPr algn="l"/>
            <a:r>
              <a:rPr sz="1100" b="0" i="0" lang="de-DE" cap="all" spc="110">
                <a:solidFill>
                  <a:srgbClr val="8FC65A"/>
                </a:solidFill>
                <a:latin typeface="IBM Plex Mono Medium"/>
              </a:rPr>
              <a:t>Platzhalter</a:t>
            </a:r>
          </a:p>
          <a:p>
            <a:pPr algn="l">
              <a:spcBef>
                <a:spcPts val="400"/>
              </a:spcBef>
            </a:pPr>
            <a:r>
              <a:rPr sz="1300" b="0" i="0" lang="de-DE">
                <a:solidFill>
                  <a:srgbClr val="FFFFFF"/>
                </a:solidFill>
                <a:latin typeface="IBM Plex Mono"/>
              </a:rPr>
              <a:t>Foto: Luftbild ECO Park Röthlein</a:t>
            </a:r>
          </a:p>
        </p:txBody>
      </p:sp>
      <p:sp>
        <p:nvSpPr>
          <p:cNvPr id="6" name="step-tag-1"/>
          <p:cNvSpPr/>
          <p:nvPr/>
        </p:nvSpPr>
        <p:spPr>
          <a:xfrm>
            <a:off x="762000" y="2222500"/>
            <a:ext cx="406400" cy="254000"/>
          </a:xfrm>
          <a:prstGeom prst="rect">
            <a:avLst/>
          </a:prstGeom>
          <a:solidFill>
            <a:srgbClr val="043751"/>
          </a:solidFill>
          <a:ln>
            <a:noFill/>
          </a:ln>
        </p:spPr>
        <p:txBody>
          <a:bodyPr rtlCol="0" anchor="ctr" wrap="square" lIns="0" rIns="0" tIns="0" bIns="0">
            <a:noAutofit/>
          </a:bodyPr>
          <a:lstStyle/>
          <a:p>
            <a:pPr algn="ctr"/>
            <a:r>
              <a:rPr sz="1500" b="0" i="0" lang="de-DE">
                <a:solidFill>
                  <a:srgbClr val="FFFFFF"/>
                </a:solidFill>
                <a:latin typeface="IBM Plex Mono Medium"/>
              </a:rPr>
              <a:t>01</a:t>
            </a:r>
          </a:p>
        </p:txBody>
      </p:sp>
      <p:sp>
        <p:nvSpPr>
          <p:cNvPr id="7" name="step-title-1"/>
          <p:cNvSpPr txBox="1"/>
          <p:nvPr/>
        </p:nvSpPr>
        <p:spPr>
          <a:xfrm>
            <a:off x="762000" y="4146550"/>
            <a:ext cx="3420533" cy="635000"/>
          </a:xfrm>
          <a:prstGeom prst="rect">
            <a:avLst/>
          </a:prstGeom>
          <a:noFill/>
        </p:spPr>
        <p:txBody>
          <a:bodyPr wrap="square" lIns="0" rIns="0" tIns="0" bIns="0" anchor="t">
            <a:noAutofit/>
          </a:bodyPr>
          <a:lstStyle/>
          <a:p>
            <a:pPr algn="l"/>
            <a:r>
              <a:rPr sz="2200" b="0" i="0" lang="de-DE">
                <a:solidFill>
                  <a:srgbClr val="043751"/>
                </a:solidFill>
                <a:latin typeface="Archivo SemiBold"/>
              </a:rPr>
              <a:t>Luftbild Standort</a:t>
            </a:r>
          </a:p>
        </p:txBody>
      </p:sp>
      <p:sp>
        <p:nvSpPr>
          <p:cNvPr id="8" name="brief-card"/>
          <p:cNvSpPr/>
          <p:nvPr/>
        </p:nvSpPr>
        <p:spPr>
          <a:xfrm>
            <a:off x="4385733" y="2095500"/>
            <a:ext cx="3420533" cy="1924050"/>
          </a:xfrm>
          <a:prstGeom prst="rect">
            <a:avLst/>
          </a:prstGeom>
          <a:gradFill rotWithShape="1">
            <a:gsLst>
              <a:gs pos="0">
                <a:srgbClr val="043751"/>
              </a:gs>
              <a:gs pos="90000">
                <a:srgbClr val="117EC2"/>
              </a:gs>
            </a:gsLst>
            <a:lin ang="2400000" scaled="0"/>
          </a:gradFill>
          <a:ln>
            <a:noFill/>
          </a:ln>
        </p:spPr>
        <p:txBody>
          <a:bodyPr rtlCol="0" anchor="ctr"/>
          <a:lstStyle/>
          <a:p>
            <a:pPr algn="ctr"/>
          </a:p>
        </p:txBody>
      </p:sp>
      <p:sp>
        <p:nvSpPr>
          <p:cNvPr id="9" name="brief-text"/>
          <p:cNvSpPr txBox="1"/>
          <p:nvPr/>
        </p:nvSpPr>
        <p:spPr>
          <a:xfrm>
            <a:off x="4563533" y="2889250"/>
            <a:ext cx="3064933" cy="952500"/>
          </a:xfrm>
          <a:prstGeom prst="rect">
            <a:avLst/>
          </a:prstGeom>
          <a:noFill/>
        </p:spPr>
        <p:txBody>
          <a:bodyPr wrap="square" lIns="0" rIns="0" tIns="0" bIns="0" anchor="b">
            <a:noAutofit/>
          </a:bodyPr>
          <a:lstStyle/>
          <a:p>
            <a:pPr algn="l"/>
            <a:r>
              <a:rPr sz="1100" b="0" i="0" lang="de-DE" cap="all" spc="110">
                <a:solidFill>
                  <a:srgbClr val="8FC65A"/>
                </a:solidFill>
                <a:latin typeface="IBM Plex Mono Medium"/>
              </a:rPr>
              <a:t>Platzhalter</a:t>
            </a:r>
          </a:p>
          <a:p>
            <a:pPr algn="l">
              <a:spcBef>
                <a:spcPts val="400"/>
              </a:spcBef>
            </a:pPr>
            <a:r>
              <a:rPr sz="1300" b="0" i="0" lang="de-DE">
                <a:solidFill>
                  <a:srgbClr val="FFFFFF"/>
                </a:solidFill>
                <a:latin typeface="IBM Plex Mono"/>
              </a:rPr>
              <a:t>Foto: Lager- und Produktionsfläche</a:t>
            </a:r>
          </a:p>
        </p:txBody>
      </p:sp>
      <p:sp>
        <p:nvSpPr>
          <p:cNvPr id="10" name="step-tag-2"/>
          <p:cNvSpPr/>
          <p:nvPr/>
        </p:nvSpPr>
        <p:spPr>
          <a:xfrm>
            <a:off x="4385733" y="2222500"/>
            <a:ext cx="406400" cy="254000"/>
          </a:xfrm>
          <a:prstGeom prst="rect">
            <a:avLst/>
          </a:prstGeom>
          <a:solidFill>
            <a:srgbClr val="043751"/>
          </a:solidFill>
          <a:ln>
            <a:noFill/>
          </a:ln>
        </p:spPr>
        <p:txBody>
          <a:bodyPr rtlCol="0" anchor="ctr" wrap="square" lIns="0" rIns="0" tIns="0" bIns="0">
            <a:noAutofit/>
          </a:bodyPr>
          <a:lstStyle/>
          <a:p>
            <a:pPr algn="ctr"/>
            <a:r>
              <a:rPr sz="1500" b="0" i="0" lang="de-DE">
                <a:solidFill>
                  <a:srgbClr val="FFFFFF"/>
                </a:solidFill>
                <a:latin typeface="IBM Plex Mono Medium"/>
              </a:rPr>
              <a:t>02</a:t>
            </a:r>
          </a:p>
        </p:txBody>
      </p:sp>
      <p:sp>
        <p:nvSpPr>
          <p:cNvPr id="11" name="step-title-2"/>
          <p:cNvSpPr txBox="1"/>
          <p:nvPr/>
        </p:nvSpPr>
        <p:spPr>
          <a:xfrm>
            <a:off x="4385733" y="4146550"/>
            <a:ext cx="3420533" cy="635000"/>
          </a:xfrm>
          <a:prstGeom prst="rect">
            <a:avLst/>
          </a:prstGeom>
          <a:noFill/>
        </p:spPr>
        <p:txBody>
          <a:bodyPr wrap="square" lIns="0" rIns="0" tIns="0" bIns="0" anchor="t">
            <a:noAutofit/>
          </a:bodyPr>
          <a:lstStyle/>
          <a:p>
            <a:pPr algn="l"/>
            <a:r>
              <a:rPr sz="2200" b="0" i="0" lang="de-DE">
                <a:solidFill>
                  <a:srgbClr val="043751"/>
                </a:solidFill>
                <a:latin typeface="Archivo SemiBold"/>
              </a:rPr>
              <a:t>Halle innen</a:t>
            </a:r>
          </a:p>
        </p:txBody>
      </p:sp>
      <p:sp>
        <p:nvSpPr>
          <p:cNvPr id="12" name="brief-card"/>
          <p:cNvSpPr/>
          <p:nvPr/>
        </p:nvSpPr>
        <p:spPr>
          <a:xfrm>
            <a:off x="8009467" y="2095500"/>
            <a:ext cx="3420533" cy="1924050"/>
          </a:xfrm>
          <a:prstGeom prst="rect">
            <a:avLst/>
          </a:prstGeom>
          <a:gradFill rotWithShape="1">
            <a:gsLst>
              <a:gs pos="0">
                <a:srgbClr val="043751"/>
              </a:gs>
              <a:gs pos="90000">
                <a:srgbClr val="117EC2"/>
              </a:gs>
            </a:gsLst>
            <a:lin ang="2400000" scaled="0"/>
          </a:gradFill>
          <a:ln>
            <a:noFill/>
          </a:ln>
        </p:spPr>
        <p:txBody>
          <a:bodyPr rtlCol="0" anchor="ctr"/>
          <a:lstStyle/>
          <a:p>
            <a:pPr algn="ctr"/>
          </a:p>
        </p:txBody>
      </p:sp>
      <p:sp>
        <p:nvSpPr>
          <p:cNvPr id="13" name="brief-text"/>
          <p:cNvSpPr txBox="1"/>
          <p:nvPr/>
        </p:nvSpPr>
        <p:spPr>
          <a:xfrm>
            <a:off x="8187267" y="2889250"/>
            <a:ext cx="3064933" cy="952500"/>
          </a:xfrm>
          <a:prstGeom prst="rect">
            <a:avLst/>
          </a:prstGeom>
          <a:noFill/>
        </p:spPr>
        <p:txBody>
          <a:bodyPr wrap="square" lIns="0" rIns="0" tIns="0" bIns="0" anchor="b">
            <a:noAutofit/>
          </a:bodyPr>
          <a:lstStyle/>
          <a:p>
            <a:pPr algn="l"/>
            <a:r>
              <a:rPr sz="1100" b="0" i="0" lang="de-DE" cap="all" spc="110">
                <a:solidFill>
                  <a:srgbClr val="8FC65A"/>
                </a:solidFill>
                <a:latin typeface="IBM Plex Mono Medium"/>
              </a:rPr>
              <a:t>Platzhalter</a:t>
            </a:r>
          </a:p>
          <a:p>
            <a:pPr algn="l">
              <a:spcBef>
                <a:spcPts val="400"/>
              </a:spcBef>
            </a:pPr>
            <a:r>
              <a:rPr sz="1300" b="0" i="0" lang="de-DE">
                <a:solidFill>
                  <a:srgbClr val="FFFFFF"/>
                </a:solidFill>
                <a:latin typeface="IBM Plex Mono"/>
              </a:rPr>
              <a:t>Foto: Lkw-Waage und Anlieferung</a:t>
            </a:r>
          </a:p>
        </p:txBody>
      </p:sp>
      <p:sp>
        <p:nvSpPr>
          <p:cNvPr id="14" name="step-tag-3"/>
          <p:cNvSpPr/>
          <p:nvPr/>
        </p:nvSpPr>
        <p:spPr>
          <a:xfrm>
            <a:off x="8009467" y="2222500"/>
            <a:ext cx="406400" cy="254000"/>
          </a:xfrm>
          <a:prstGeom prst="rect">
            <a:avLst/>
          </a:prstGeom>
          <a:solidFill>
            <a:srgbClr val="043751"/>
          </a:solidFill>
          <a:ln>
            <a:noFill/>
          </a:ln>
        </p:spPr>
        <p:txBody>
          <a:bodyPr rtlCol="0" anchor="ctr" wrap="square" lIns="0" rIns="0" tIns="0" bIns="0">
            <a:noAutofit/>
          </a:bodyPr>
          <a:lstStyle/>
          <a:p>
            <a:pPr algn="ctr"/>
            <a:r>
              <a:rPr sz="1500" b="0" i="0" lang="de-DE">
                <a:solidFill>
                  <a:srgbClr val="FFFFFF"/>
                </a:solidFill>
                <a:latin typeface="IBM Plex Mono Medium"/>
              </a:rPr>
              <a:t>03</a:t>
            </a:r>
          </a:p>
        </p:txBody>
      </p:sp>
      <p:sp>
        <p:nvSpPr>
          <p:cNvPr id="15" name="step-title-3"/>
          <p:cNvSpPr txBox="1"/>
          <p:nvPr/>
        </p:nvSpPr>
        <p:spPr>
          <a:xfrm>
            <a:off x="8009467" y="4146550"/>
            <a:ext cx="3420533" cy="635000"/>
          </a:xfrm>
          <a:prstGeom prst="rect">
            <a:avLst/>
          </a:prstGeom>
          <a:noFill/>
        </p:spPr>
        <p:txBody>
          <a:bodyPr wrap="square" lIns="0" rIns="0" tIns="0" bIns="0" anchor="t">
            <a:noAutofit/>
          </a:bodyPr>
          <a:lstStyle/>
          <a:p>
            <a:pPr algn="l"/>
            <a:r>
              <a:rPr sz="2200" b="0" i="0" lang="de-DE">
                <a:solidFill>
                  <a:srgbClr val="043751"/>
                </a:solidFill>
                <a:latin typeface="Archivo SemiBold"/>
              </a:rPr>
              <a:t>Anlieferung</a:t>
            </a:r>
          </a:p>
        </p:txBody>
      </p:sp>
      <p:sp>
        <p:nvSpPr>
          <p:cNvPr id="16" name="steps-caption"/>
          <p:cNvSpPr txBox="1"/>
          <p:nvPr/>
        </p:nvSpPr>
        <p:spPr>
          <a:xfrm>
            <a:off x="762000" y="4972050"/>
            <a:ext cx="8890000" cy="508000"/>
          </a:xfrm>
          <a:prstGeom prst="rect">
            <a:avLst/>
          </a:prstGeom>
          <a:noFill/>
        </p:spPr>
        <p:txBody>
          <a:bodyPr wrap="square" lIns="0" rIns="0" tIns="0" bIns="0" anchor="t">
            <a:noAutofit/>
          </a:bodyPr>
          <a:lstStyle/>
          <a:p>
            <a:pPr algn="l"/>
            <a:r>
              <a:rPr sz="1700" b="0" i="0" lang="de-DE">
                <a:solidFill>
                  <a:srgbClr val="4A6079"/>
                </a:solidFill>
                <a:latin typeface="IBM Plex Sans"/>
              </a:rPr>
              <a:t>Echte Standortfotos folgen – bis dahin Platzhalter mit Bildbriefing.</a:t>
            </a:r>
          </a:p>
        </p:txBody>
      </p:sp>
      <p:sp>
        <p:nvSpPr>
          <p:cNvPr id="17"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18" name="nav-2-active"/>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F7A1E"/>
                </a:solidFill>
                <a:latin typeface="IBM Plex Mono"/>
              </a:rPr>
              <a:t>02</a:t>
            </a:r>
            <a:r>
              <a:rPr sz="1200" b="0" i="0" lang="de-DE">
                <a:solidFill>
                  <a:srgbClr val="043751"/>
                </a:solidFill>
                <a:latin typeface="IBM Plex Mono"/>
              </a:rPr>
              <a:t> </a:t>
            </a:r>
            <a:r>
              <a:rPr sz="1200" b="0" i="0" lang="de-DE" cap="all" spc="72">
                <a:solidFill>
                  <a:srgbClr val="043751"/>
                </a:solidFill>
                <a:latin typeface="IBM Plex Sans Medium"/>
              </a:rPr>
              <a:t>Unsere Marken</a:t>
            </a:r>
          </a:p>
        </p:txBody>
      </p:sp>
      <p:sp>
        <p:nvSpPr>
          <p:cNvPr id="19" name="nav-underline"/>
          <p:cNvSpPr/>
          <p:nvPr/>
        </p:nvSpPr>
        <p:spPr>
          <a:xfrm>
            <a:off x="4367129" y="685800"/>
            <a:ext cx="1638804" cy="25400"/>
          </a:xfrm>
          <a:prstGeom prst="rect">
            <a:avLst/>
          </a:prstGeom>
          <a:solidFill>
            <a:srgbClr val="6EA52E"/>
          </a:solidFill>
          <a:ln>
            <a:noFill/>
          </a:ln>
        </p:spPr>
        <p:txBody>
          <a:bodyPr rtlCol="0" anchor="ctr"/>
          <a:lstStyle/>
          <a:p>
            <a:pPr algn="ctr"/>
          </a:p>
        </p:txBody>
      </p:sp>
      <p:sp>
        <p:nvSpPr>
          <p:cNvPr id="20"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1"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22"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23"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24"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p:nvPr>
        </p:nvSpPr>
        <p:spPr/>
        <p:txBody>
          <a:bodyPr/>
          <a:lstStyle/>
          <a:p>
            <a:r>
              <a:t>03</a:t>
            </a:r>
          </a:p>
        </p:txBody>
      </p:sp>
      <p:sp>
        <p:nvSpPr>
          <p:cNvPr id="3" name="Text Placeholder 2"/>
          <p:cNvSpPr>
            <a:spLocks noGrp="1"/>
          </p:cNvSpPr>
          <p:nvPr>
            <p:ph type="body" idx="11"/>
          </p:nvPr>
        </p:nvSpPr>
        <p:spPr/>
        <p:txBody>
          <a:bodyPr/>
          <a:lstStyle/>
          <a:p>
            <a:r>
              <a:t>Kapitel 3 von 5</a:t>
            </a:r>
          </a:p>
        </p:txBody>
      </p:sp>
      <p:sp>
        <p:nvSpPr>
          <p:cNvPr id="4" name="Title 3"/>
          <p:cNvSpPr>
            <a:spLocks noGrp="1"/>
          </p:cNvSpPr>
          <p:nvPr>
            <p:ph type="title"/>
          </p:nvPr>
        </p:nvSpPr>
        <p:spPr/>
        <p:txBody>
          <a:bodyPr/>
          <a:lstStyle/>
          <a:p>
            <a:r>
              <a:t>Leistungen</a:t>
            </a:r>
          </a:p>
        </p:txBody>
      </p:sp>
      <p:sp>
        <p:nvSpPr>
          <p:cNvPr id="5" name="Text Placeholder 4"/>
          <p:cNvSpPr>
            <a:spLocks noGrp="1"/>
          </p:cNvSpPr>
          <p:nvPr>
            <p:ph type="body" idx="17"/>
          </p:nvPr>
        </p:nvSpPr>
        <p:spPr/>
        <p:txBody>
          <a:bodyPr/>
          <a:lstStyle/>
          <a:p>
            <a:r>
              <a:t>Acht Leistungsfelder entlang der Pflichtenkette.</a:t>
            </a:r>
          </a:p>
        </p:txBody>
      </p:sp>
      <p:sp>
        <p:nvSpPr>
          <p:cNvPr id="6" name="ring-seg-1-done"/>
          <p:cNvSpPr/>
          <p:nvPr/>
        </p:nvSpPr>
        <p:spPr>
          <a:xfrm>
            <a:off x="1206500" y="2222500"/>
            <a:ext cx="3175000" cy="3175000"/>
          </a:xfrm>
          <a:prstGeom prst="arc">
            <a:avLst>
              <a:gd name="adj1" fmla="val 16612530"/>
              <a:gd name="adj2" fmla="val 20107470"/>
            </a:avLst>
          </a:prstGeom>
          <a:noFill/>
          <a:ln w="190500" cap="rnd">
            <a:solidFill>
              <a:srgbClr val="A3B6C9"/>
            </a:solidFill>
          </a:ln>
        </p:spPr>
        <p:txBody>
          <a:bodyPr rtlCol="0" anchor="ctr"/>
          <a:lstStyle/>
          <a:p>
            <a:pPr algn="ctr"/>
          </a:p>
        </p:txBody>
      </p:sp>
      <p:sp>
        <p:nvSpPr>
          <p:cNvPr id="7" name="ring-seg-2-done"/>
          <p:cNvSpPr/>
          <p:nvPr/>
        </p:nvSpPr>
        <p:spPr>
          <a:xfrm>
            <a:off x="1206500" y="2222500"/>
            <a:ext cx="3175000" cy="3175000"/>
          </a:xfrm>
          <a:prstGeom prst="arc">
            <a:avLst>
              <a:gd name="adj1" fmla="val 20932530"/>
              <a:gd name="adj2" fmla="val 2827470"/>
            </a:avLst>
          </a:prstGeom>
          <a:noFill/>
          <a:ln w="190500" cap="rnd">
            <a:solidFill>
              <a:srgbClr val="A3B6C9"/>
            </a:solidFill>
          </a:ln>
        </p:spPr>
        <p:txBody>
          <a:bodyPr rtlCol="0" anchor="ctr"/>
          <a:lstStyle/>
          <a:p>
            <a:pPr algn="ctr"/>
          </a:p>
        </p:txBody>
      </p:sp>
      <p:sp>
        <p:nvSpPr>
          <p:cNvPr id="8" name="ring-seg-3-active"/>
          <p:cNvSpPr/>
          <p:nvPr/>
        </p:nvSpPr>
        <p:spPr>
          <a:xfrm>
            <a:off x="1206500" y="2222500"/>
            <a:ext cx="3175000" cy="3175000"/>
          </a:xfrm>
          <a:prstGeom prst="arc">
            <a:avLst>
              <a:gd name="adj1" fmla="val 3652530"/>
              <a:gd name="adj2" fmla="val 7147470"/>
            </a:avLst>
          </a:prstGeom>
          <a:noFill/>
          <a:ln w="190500" cap="rnd">
            <a:solidFill>
              <a:srgbClr val="6EA52E"/>
            </a:solidFill>
          </a:ln>
        </p:spPr>
        <p:txBody>
          <a:bodyPr rtlCol="0" anchor="ctr"/>
          <a:lstStyle/>
          <a:p>
            <a:pPr algn="ctr"/>
          </a:p>
        </p:txBody>
      </p:sp>
      <p:sp>
        <p:nvSpPr>
          <p:cNvPr id="9" name="ring-seg-4-todo"/>
          <p:cNvSpPr/>
          <p:nvPr/>
        </p:nvSpPr>
        <p:spPr>
          <a:xfrm>
            <a:off x="1206500" y="2222500"/>
            <a:ext cx="3175000" cy="3175000"/>
          </a:xfrm>
          <a:prstGeom prst="arc">
            <a:avLst>
              <a:gd name="adj1" fmla="val 7972530"/>
              <a:gd name="adj2" fmla="val 11467470"/>
            </a:avLst>
          </a:prstGeom>
          <a:noFill/>
          <a:ln w="190500" cap="rnd">
            <a:solidFill>
              <a:srgbClr val="325C72"/>
            </a:solidFill>
          </a:ln>
        </p:spPr>
        <p:txBody>
          <a:bodyPr rtlCol="0" anchor="ctr"/>
          <a:lstStyle/>
          <a:p>
            <a:pPr algn="ctr"/>
          </a:p>
        </p:txBody>
      </p:sp>
      <p:sp>
        <p:nvSpPr>
          <p:cNvPr id="10" name="ring-seg-5-todo"/>
          <p:cNvSpPr/>
          <p:nvPr/>
        </p:nvSpPr>
        <p:spPr>
          <a:xfrm>
            <a:off x="1206500" y="2222500"/>
            <a:ext cx="3175000" cy="3175000"/>
          </a:xfrm>
          <a:prstGeom prst="arc">
            <a:avLst>
              <a:gd name="adj1" fmla="val 12292530"/>
              <a:gd name="adj2" fmla="val 15787470"/>
            </a:avLst>
          </a:prstGeom>
          <a:noFill/>
          <a:ln w="190500" cap="rnd">
            <a:solidFill>
              <a:srgbClr val="325C72"/>
            </a:solidFill>
          </a:ln>
        </p:spPr>
        <p:txBody>
          <a:bodyPr rtlCol="0" anchor="ctr"/>
          <a:lstStyle/>
          <a:p>
            <a:pPr algn="ctr"/>
          </a:p>
        </p:txBody>
      </p:sp>
      <p:sp>
        <p:nvSpPr>
          <p:cNvPr id="11"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12"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3" name="nav-3-active"/>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8FC65A"/>
                </a:solidFill>
                <a:latin typeface="IBM Plex Mono"/>
              </a:rPr>
              <a:t>03</a:t>
            </a:r>
            <a:r>
              <a:rPr sz="1200" b="0" i="0" lang="de-DE">
                <a:solidFill>
                  <a:srgbClr val="FFFFFF"/>
                </a:solidFill>
                <a:latin typeface="IBM Plex Mono"/>
              </a:rPr>
              <a:t> </a:t>
            </a:r>
            <a:r>
              <a:rPr sz="1200" b="0" i="0" lang="de-DE" cap="all" spc="72">
                <a:solidFill>
                  <a:srgbClr val="FFFFFF"/>
                </a:solidFill>
                <a:latin typeface="IBM Plex Sans Medium"/>
              </a:rPr>
              <a:t>Leistungen</a:t>
            </a:r>
          </a:p>
        </p:txBody>
      </p:sp>
      <p:sp>
        <p:nvSpPr>
          <p:cNvPr id="14" name="nav-underline"/>
          <p:cNvSpPr/>
          <p:nvPr/>
        </p:nvSpPr>
        <p:spPr>
          <a:xfrm>
            <a:off x="6259933" y="685800"/>
            <a:ext cx="1294070" cy="25400"/>
          </a:xfrm>
          <a:prstGeom prst="rect">
            <a:avLst/>
          </a:prstGeom>
          <a:solidFill>
            <a:srgbClr val="8FC65A"/>
          </a:solidFill>
          <a:ln>
            <a:noFill/>
          </a:ln>
        </p:spPr>
        <p:txBody>
          <a:bodyPr rtlCol="0" anchor="ctr"/>
          <a:lstStyle/>
          <a:p>
            <a:pPr algn="ctr"/>
          </a:p>
        </p:txBody>
      </p:sp>
      <p:sp>
        <p:nvSpPr>
          <p:cNvPr id="15"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A3B6C9"/>
                </a:solidFill>
                <a:latin typeface="IBM Plex Mono"/>
              </a:rPr>
              <a:t>04</a:t>
            </a:r>
            <a:r>
              <a:rPr sz="1200" b="0" i="0" lang="de-DE">
                <a:solidFill>
                  <a:srgbClr val="A3B6C9"/>
                </a:solidFill>
                <a:latin typeface="IBM Plex Mono"/>
              </a:rPr>
              <a:t> </a:t>
            </a:r>
            <a:r>
              <a:rPr sz="1200" b="0" i="0" lang="de-DE" cap="all" spc="72">
                <a:solidFill>
                  <a:srgbClr val="A3B6C9"/>
                </a:solidFill>
                <a:latin typeface="IBM Plex Sans Medium"/>
              </a:rPr>
              <a:t>Rechtsrahmen</a:t>
            </a:r>
          </a:p>
        </p:txBody>
      </p:sp>
      <p:sp>
        <p:nvSpPr>
          <p:cNvPr id="16"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03 · Leistungen</a:t>
            </a:r>
          </a:p>
        </p:txBody>
      </p:sp>
      <p:sp>
        <p:nvSpPr>
          <p:cNvPr id="3" name="Title 2"/>
          <p:cNvSpPr>
            <a:spLocks noGrp="1"/>
          </p:cNvSpPr>
          <p:nvPr>
            <p:ph type="title"/>
          </p:nvPr>
        </p:nvSpPr>
        <p:spPr/>
        <p:txBody>
          <a:bodyPr/>
          <a:lstStyle/>
          <a:p>
            <a:r>
              <a:t>Portfolio 2026: acht Leistungsfelder</a:t>
            </a:r>
          </a:p>
        </p:txBody>
      </p:sp>
      <p:sp>
        <p:nvSpPr>
          <p:cNvPr id="4" name="check-rule-1"/>
          <p:cNvSpPr/>
          <p:nvPr/>
        </p:nvSpPr>
        <p:spPr>
          <a:xfrm>
            <a:off x="762000" y="2152650"/>
            <a:ext cx="5080000" cy="12700"/>
          </a:xfrm>
          <a:prstGeom prst="rect">
            <a:avLst/>
          </a:prstGeom>
          <a:solidFill>
            <a:srgbClr val="043751"/>
          </a:solidFill>
          <a:ln>
            <a:noFill/>
          </a:ln>
        </p:spPr>
        <p:txBody>
          <a:bodyPr rtlCol="0" anchor="ctr"/>
          <a:lstStyle/>
          <a:p>
            <a:pPr algn="ctr"/>
          </a:p>
        </p:txBody>
      </p:sp>
      <p:sp>
        <p:nvSpPr>
          <p:cNvPr id="5" name="check-num-1"/>
          <p:cNvSpPr txBox="1"/>
          <p:nvPr/>
        </p:nvSpPr>
        <p:spPr>
          <a:xfrm>
            <a:off x="762000" y="2159000"/>
            <a:ext cx="406400" cy="797560"/>
          </a:xfrm>
          <a:prstGeom prst="rect">
            <a:avLst/>
          </a:prstGeom>
          <a:noFill/>
        </p:spPr>
        <p:txBody>
          <a:bodyPr wrap="square" lIns="0" rIns="0" tIns="0" bIns="0" anchor="ctr">
            <a:noAutofit/>
          </a:bodyPr>
          <a:lstStyle/>
          <a:p>
            <a:pPr algn="l"/>
            <a:r>
              <a:rPr sz="1600" b="0" i="0" lang="de-DE">
                <a:solidFill>
                  <a:srgbClr val="4F7A1E"/>
                </a:solidFill>
                <a:latin typeface="IBM Plex Mono Medium"/>
              </a:rPr>
              <a:t>01</a:t>
            </a:r>
          </a:p>
        </p:txBody>
      </p:sp>
      <p:sp>
        <p:nvSpPr>
          <p:cNvPr id="6" name="check-text-1"/>
          <p:cNvSpPr txBox="1"/>
          <p:nvPr/>
        </p:nvSpPr>
        <p:spPr>
          <a:xfrm>
            <a:off x="1244600" y="2159000"/>
            <a:ext cx="4597400" cy="797560"/>
          </a:xfrm>
          <a:prstGeom prst="rect">
            <a:avLst/>
          </a:prstGeom>
          <a:noFill/>
        </p:spPr>
        <p:txBody>
          <a:bodyPr wrap="square" lIns="0" rIns="0" tIns="0" bIns="0" anchor="ctr">
            <a:noAutofit/>
          </a:bodyPr>
          <a:lstStyle/>
          <a:p>
            <a:pPr algn="l"/>
            <a:r>
              <a:rPr sz="1800" b="0" i="0" lang="de-DE">
                <a:solidFill>
                  <a:srgbClr val="043751"/>
                </a:solidFill>
                <a:latin typeface="IBM Plex Sans"/>
              </a:rPr>
              <a:t>Beauftragtenwesen, Betreiberpflichten &amp; Verpflichtungsumsetzung</a:t>
            </a:r>
          </a:p>
        </p:txBody>
      </p:sp>
      <p:sp>
        <p:nvSpPr>
          <p:cNvPr id="7" name="check-line-1"/>
          <p:cNvSpPr/>
          <p:nvPr/>
        </p:nvSpPr>
        <p:spPr>
          <a:xfrm>
            <a:off x="762000" y="2950210"/>
            <a:ext cx="5080000" cy="12700"/>
          </a:xfrm>
          <a:prstGeom prst="rect">
            <a:avLst/>
          </a:prstGeom>
          <a:solidFill>
            <a:srgbClr val="D9D9D9"/>
          </a:solidFill>
          <a:ln>
            <a:noFill/>
          </a:ln>
        </p:spPr>
        <p:txBody>
          <a:bodyPr rtlCol="0" anchor="ctr"/>
          <a:lstStyle/>
          <a:p>
            <a:pPr algn="ctr"/>
          </a:p>
        </p:txBody>
      </p:sp>
      <p:sp>
        <p:nvSpPr>
          <p:cNvPr id="8" name="check-num-2"/>
          <p:cNvSpPr txBox="1"/>
          <p:nvPr/>
        </p:nvSpPr>
        <p:spPr>
          <a:xfrm>
            <a:off x="762000" y="2956560"/>
            <a:ext cx="406400" cy="797560"/>
          </a:xfrm>
          <a:prstGeom prst="rect">
            <a:avLst/>
          </a:prstGeom>
          <a:noFill/>
        </p:spPr>
        <p:txBody>
          <a:bodyPr wrap="square" lIns="0" rIns="0" tIns="0" bIns="0" anchor="ctr">
            <a:noAutofit/>
          </a:bodyPr>
          <a:lstStyle/>
          <a:p>
            <a:pPr algn="l"/>
            <a:r>
              <a:rPr sz="1600" b="0" i="0" lang="de-DE">
                <a:solidFill>
                  <a:srgbClr val="4F7A1E"/>
                </a:solidFill>
                <a:latin typeface="IBM Plex Mono Medium"/>
              </a:rPr>
              <a:t>02</a:t>
            </a:r>
          </a:p>
        </p:txBody>
      </p:sp>
      <p:sp>
        <p:nvSpPr>
          <p:cNvPr id="9" name="check-text-2"/>
          <p:cNvSpPr txBox="1"/>
          <p:nvPr/>
        </p:nvSpPr>
        <p:spPr>
          <a:xfrm>
            <a:off x="1244600" y="2956560"/>
            <a:ext cx="4597400" cy="797560"/>
          </a:xfrm>
          <a:prstGeom prst="rect">
            <a:avLst/>
          </a:prstGeom>
          <a:noFill/>
        </p:spPr>
        <p:txBody>
          <a:bodyPr wrap="square" lIns="0" rIns="0" tIns="0" bIns="0" anchor="ctr">
            <a:noAutofit/>
          </a:bodyPr>
          <a:lstStyle/>
          <a:p>
            <a:pPr algn="l"/>
            <a:r>
              <a:rPr sz="1800" b="0" i="0" lang="de-DE">
                <a:solidFill>
                  <a:srgbClr val="043751"/>
                </a:solidFill>
                <a:latin typeface="IBM Plex Sans"/>
              </a:rPr>
              <a:t>Abfallverbringung, BASEL &amp; internationale Entsorgungsprozesse</a:t>
            </a:r>
          </a:p>
        </p:txBody>
      </p:sp>
      <p:sp>
        <p:nvSpPr>
          <p:cNvPr id="10" name="check-line-2"/>
          <p:cNvSpPr/>
          <p:nvPr/>
        </p:nvSpPr>
        <p:spPr>
          <a:xfrm>
            <a:off x="762000" y="3747770"/>
            <a:ext cx="5080000" cy="12700"/>
          </a:xfrm>
          <a:prstGeom prst="rect">
            <a:avLst/>
          </a:prstGeom>
          <a:solidFill>
            <a:srgbClr val="D9D9D9"/>
          </a:solidFill>
          <a:ln>
            <a:noFill/>
          </a:ln>
        </p:spPr>
        <p:txBody>
          <a:bodyPr rtlCol="0" anchor="ctr"/>
          <a:lstStyle/>
          <a:p>
            <a:pPr algn="ctr"/>
          </a:p>
        </p:txBody>
      </p:sp>
      <p:sp>
        <p:nvSpPr>
          <p:cNvPr id="11" name="check-num-3"/>
          <p:cNvSpPr txBox="1"/>
          <p:nvPr/>
        </p:nvSpPr>
        <p:spPr>
          <a:xfrm>
            <a:off x="762000" y="3754120"/>
            <a:ext cx="406400" cy="797560"/>
          </a:xfrm>
          <a:prstGeom prst="rect">
            <a:avLst/>
          </a:prstGeom>
          <a:noFill/>
        </p:spPr>
        <p:txBody>
          <a:bodyPr wrap="square" lIns="0" rIns="0" tIns="0" bIns="0" anchor="ctr">
            <a:noAutofit/>
          </a:bodyPr>
          <a:lstStyle/>
          <a:p>
            <a:pPr algn="l"/>
            <a:r>
              <a:rPr sz="1600" b="0" i="0" lang="de-DE">
                <a:solidFill>
                  <a:srgbClr val="4F7A1E"/>
                </a:solidFill>
                <a:latin typeface="IBM Plex Mono Medium"/>
              </a:rPr>
              <a:t>03</a:t>
            </a:r>
          </a:p>
        </p:txBody>
      </p:sp>
      <p:sp>
        <p:nvSpPr>
          <p:cNvPr id="12" name="check-text-3"/>
          <p:cNvSpPr txBox="1"/>
          <p:nvPr/>
        </p:nvSpPr>
        <p:spPr>
          <a:xfrm>
            <a:off x="1244600" y="3754120"/>
            <a:ext cx="4597400" cy="797560"/>
          </a:xfrm>
          <a:prstGeom prst="rect">
            <a:avLst/>
          </a:prstGeom>
          <a:noFill/>
        </p:spPr>
        <p:txBody>
          <a:bodyPr wrap="square" lIns="0" rIns="0" tIns="0" bIns="0" anchor="ctr">
            <a:noAutofit/>
          </a:bodyPr>
          <a:lstStyle/>
          <a:p>
            <a:pPr algn="l"/>
            <a:r>
              <a:rPr sz="1800" b="0" i="0" lang="de-DE">
                <a:solidFill>
                  <a:srgbClr val="043751"/>
                </a:solidFill>
                <a:latin typeface="IBM Plex Sans"/>
              </a:rPr>
              <a:t>Erweiterte Herstellerverantwortung (EPR) &amp; Rücknahmesysteme</a:t>
            </a:r>
          </a:p>
        </p:txBody>
      </p:sp>
      <p:sp>
        <p:nvSpPr>
          <p:cNvPr id="13" name="check-line-3"/>
          <p:cNvSpPr/>
          <p:nvPr/>
        </p:nvSpPr>
        <p:spPr>
          <a:xfrm>
            <a:off x="762000" y="4545330"/>
            <a:ext cx="5080000" cy="12700"/>
          </a:xfrm>
          <a:prstGeom prst="rect">
            <a:avLst/>
          </a:prstGeom>
          <a:solidFill>
            <a:srgbClr val="D9D9D9"/>
          </a:solidFill>
          <a:ln>
            <a:noFill/>
          </a:ln>
        </p:spPr>
        <p:txBody>
          <a:bodyPr rtlCol="0" anchor="ctr"/>
          <a:lstStyle/>
          <a:p>
            <a:pPr algn="ctr"/>
          </a:p>
        </p:txBody>
      </p:sp>
      <p:sp>
        <p:nvSpPr>
          <p:cNvPr id="14" name="check-num-4"/>
          <p:cNvSpPr txBox="1"/>
          <p:nvPr/>
        </p:nvSpPr>
        <p:spPr>
          <a:xfrm>
            <a:off x="762000" y="4551680"/>
            <a:ext cx="406400" cy="797560"/>
          </a:xfrm>
          <a:prstGeom prst="rect">
            <a:avLst/>
          </a:prstGeom>
          <a:noFill/>
        </p:spPr>
        <p:txBody>
          <a:bodyPr wrap="square" lIns="0" rIns="0" tIns="0" bIns="0" anchor="ctr">
            <a:noAutofit/>
          </a:bodyPr>
          <a:lstStyle/>
          <a:p>
            <a:pPr algn="l"/>
            <a:r>
              <a:rPr sz="1600" b="0" i="0" lang="de-DE">
                <a:solidFill>
                  <a:srgbClr val="4F7A1E"/>
                </a:solidFill>
                <a:latin typeface="IBM Plex Mono Medium"/>
              </a:rPr>
              <a:t>04</a:t>
            </a:r>
          </a:p>
        </p:txBody>
      </p:sp>
      <p:sp>
        <p:nvSpPr>
          <p:cNvPr id="15" name="check-text-4"/>
          <p:cNvSpPr txBox="1"/>
          <p:nvPr/>
        </p:nvSpPr>
        <p:spPr>
          <a:xfrm>
            <a:off x="1244600" y="4551680"/>
            <a:ext cx="4597400" cy="797560"/>
          </a:xfrm>
          <a:prstGeom prst="rect">
            <a:avLst/>
          </a:prstGeom>
          <a:noFill/>
        </p:spPr>
        <p:txBody>
          <a:bodyPr wrap="square" lIns="0" rIns="0" tIns="0" bIns="0" anchor="ctr">
            <a:noAutofit/>
          </a:bodyPr>
          <a:lstStyle/>
          <a:p>
            <a:pPr algn="l"/>
            <a:r>
              <a:rPr sz="1800" b="0" i="0" lang="de-DE">
                <a:solidFill>
                  <a:srgbClr val="043751"/>
                </a:solidFill>
                <a:latin typeface="IBM Plex Sans"/>
              </a:rPr>
              <a:t>Systemarchitektur, Umsetzung &amp; Kreislaufwirtschaftskonzepte</a:t>
            </a:r>
          </a:p>
        </p:txBody>
      </p:sp>
      <p:sp>
        <p:nvSpPr>
          <p:cNvPr id="16" name="check-line-4"/>
          <p:cNvSpPr/>
          <p:nvPr/>
        </p:nvSpPr>
        <p:spPr>
          <a:xfrm>
            <a:off x="762000" y="5342890"/>
            <a:ext cx="5080000" cy="12700"/>
          </a:xfrm>
          <a:prstGeom prst="rect">
            <a:avLst/>
          </a:prstGeom>
          <a:solidFill>
            <a:srgbClr val="D9D9D9"/>
          </a:solidFill>
          <a:ln>
            <a:noFill/>
          </a:ln>
        </p:spPr>
        <p:txBody>
          <a:bodyPr rtlCol="0" anchor="ctr"/>
          <a:lstStyle/>
          <a:p>
            <a:pPr algn="ctr"/>
          </a:p>
        </p:txBody>
      </p:sp>
      <p:sp>
        <p:nvSpPr>
          <p:cNvPr id="17" name="check-rule-2"/>
          <p:cNvSpPr/>
          <p:nvPr/>
        </p:nvSpPr>
        <p:spPr>
          <a:xfrm>
            <a:off x="6350000" y="2152650"/>
            <a:ext cx="5080000" cy="12700"/>
          </a:xfrm>
          <a:prstGeom prst="rect">
            <a:avLst/>
          </a:prstGeom>
          <a:solidFill>
            <a:srgbClr val="043751"/>
          </a:solidFill>
          <a:ln>
            <a:noFill/>
          </a:ln>
        </p:spPr>
        <p:txBody>
          <a:bodyPr rtlCol="0" anchor="ctr"/>
          <a:lstStyle/>
          <a:p>
            <a:pPr algn="ctr"/>
          </a:p>
        </p:txBody>
      </p:sp>
      <p:sp>
        <p:nvSpPr>
          <p:cNvPr id="18" name="check-num-5"/>
          <p:cNvSpPr txBox="1"/>
          <p:nvPr/>
        </p:nvSpPr>
        <p:spPr>
          <a:xfrm>
            <a:off x="6350000" y="2159000"/>
            <a:ext cx="406400" cy="797560"/>
          </a:xfrm>
          <a:prstGeom prst="rect">
            <a:avLst/>
          </a:prstGeom>
          <a:noFill/>
        </p:spPr>
        <p:txBody>
          <a:bodyPr wrap="square" lIns="0" rIns="0" tIns="0" bIns="0" anchor="ctr">
            <a:noAutofit/>
          </a:bodyPr>
          <a:lstStyle/>
          <a:p>
            <a:pPr algn="l"/>
            <a:r>
              <a:rPr sz="1600" b="0" i="0" lang="de-DE">
                <a:solidFill>
                  <a:srgbClr val="4F7A1E"/>
                </a:solidFill>
                <a:latin typeface="IBM Plex Mono Medium"/>
              </a:rPr>
              <a:t>05</a:t>
            </a:r>
          </a:p>
        </p:txBody>
      </p:sp>
      <p:sp>
        <p:nvSpPr>
          <p:cNvPr id="19" name="check-text-5"/>
          <p:cNvSpPr txBox="1"/>
          <p:nvPr/>
        </p:nvSpPr>
        <p:spPr>
          <a:xfrm>
            <a:off x="6832600" y="2159000"/>
            <a:ext cx="4597400" cy="797560"/>
          </a:xfrm>
          <a:prstGeom prst="rect">
            <a:avLst/>
          </a:prstGeom>
          <a:noFill/>
        </p:spPr>
        <p:txBody>
          <a:bodyPr wrap="square" lIns="0" rIns="0" tIns="0" bIns="0" anchor="ctr">
            <a:noAutofit/>
          </a:bodyPr>
          <a:lstStyle/>
          <a:p>
            <a:pPr algn="l"/>
            <a:r>
              <a:rPr sz="1800" b="0" i="0" lang="de-DE">
                <a:solidFill>
                  <a:srgbClr val="043751"/>
                </a:solidFill>
                <a:latin typeface="IBM Plex Sans"/>
              </a:rPr>
              <a:t>Standort: Managementsysteme, Genehmigungswesen &amp; Zertifizierung</a:t>
            </a:r>
          </a:p>
        </p:txBody>
      </p:sp>
      <p:sp>
        <p:nvSpPr>
          <p:cNvPr id="20" name="check-line-5"/>
          <p:cNvSpPr/>
          <p:nvPr/>
        </p:nvSpPr>
        <p:spPr>
          <a:xfrm>
            <a:off x="6350000" y="2950210"/>
            <a:ext cx="5080000" cy="12700"/>
          </a:xfrm>
          <a:prstGeom prst="rect">
            <a:avLst/>
          </a:prstGeom>
          <a:solidFill>
            <a:srgbClr val="D9D9D9"/>
          </a:solidFill>
          <a:ln>
            <a:noFill/>
          </a:ln>
        </p:spPr>
        <p:txBody>
          <a:bodyPr rtlCol="0" anchor="ctr"/>
          <a:lstStyle/>
          <a:p>
            <a:pPr algn="ctr"/>
          </a:p>
        </p:txBody>
      </p:sp>
      <p:sp>
        <p:nvSpPr>
          <p:cNvPr id="21" name="check-num-6"/>
          <p:cNvSpPr txBox="1"/>
          <p:nvPr/>
        </p:nvSpPr>
        <p:spPr>
          <a:xfrm>
            <a:off x="6350000" y="2956560"/>
            <a:ext cx="406400" cy="500380"/>
          </a:xfrm>
          <a:prstGeom prst="rect">
            <a:avLst/>
          </a:prstGeom>
          <a:noFill/>
        </p:spPr>
        <p:txBody>
          <a:bodyPr wrap="square" lIns="0" rIns="0" tIns="0" bIns="0" anchor="ctr">
            <a:noAutofit/>
          </a:bodyPr>
          <a:lstStyle/>
          <a:p>
            <a:pPr algn="l"/>
            <a:r>
              <a:rPr sz="1600" b="0" i="0" lang="de-DE">
                <a:solidFill>
                  <a:srgbClr val="4F7A1E"/>
                </a:solidFill>
                <a:latin typeface="IBM Plex Mono Medium"/>
              </a:rPr>
              <a:t>06</a:t>
            </a:r>
          </a:p>
        </p:txBody>
      </p:sp>
      <p:sp>
        <p:nvSpPr>
          <p:cNvPr id="22" name="check-text-6"/>
          <p:cNvSpPr txBox="1"/>
          <p:nvPr/>
        </p:nvSpPr>
        <p:spPr>
          <a:xfrm>
            <a:off x="6832600" y="2956560"/>
            <a:ext cx="4597400" cy="500380"/>
          </a:xfrm>
          <a:prstGeom prst="rect">
            <a:avLst/>
          </a:prstGeom>
          <a:noFill/>
        </p:spPr>
        <p:txBody>
          <a:bodyPr wrap="square" lIns="0" rIns="0" tIns="0" bIns="0" anchor="ctr">
            <a:noAutofit/>
          </a:bodyPr>
          <a:lstStyle/>
          <a:p>
            <a:pPr algn="l"/>
            <a:r>
              <a:rPr sz="1800" b="0" i="0" lang="de-DE">
                <a:solidFill>
                  <a:srgbClr val="043751"/>
                </a:solidFill>
                <a:latin typeface="IBM Plex Sans"/>
              </a:rPr>
              <a:t>Beratung zu Technologien &amp; Prozessen</a:t>
            </a:r>
          </a:p>
        </p:txBody>
      </p:sp>
      <p:sp>
        <p:nvSpPr>
          <p:cNvPr id="23" name="check-line-6"/>
          <p:cNvSpPr/>
          <p:nvPr/>
        </p:nvSpPr>
        <p:spPr>
          <a:xfrm>
            <a:off x="6350000" y="3450590"/>
            <a:ext cx="5080000" cy="12700"/>
          </a:xfrm>
          <a:prstGeom prst="rect">
            <a:avLst/>
          </a:prstGeom>
          <a:solidFill>
            <a:srgbClr val="D9D9D9"/>
          </a:solidFill>
          <a:ln>
            <a:noFill/>
          </a:ln>
        </p:spPr>
        <p:txBody>
          <a:bodyPr rtlCol="0" anchor="ctr"/>
          <a:lstStyle/>
          <a:p>
            <a:pPr algn="ctr"/>
          </a:p>
        </p:txBody>
      </p:sp>
      <p:sp>
        <p:nvSpPr>
          <p:cNvPr id="24" name="check-num-7"/>
          <p:cNvSpPr txBox="1"/>
          <p:nvPr/>
        </p:nvSpPr>
        <p:spPr>
          <a:xfrm>
            <a:off x="6350000" y="3456940"/>
            <a:ext cx="406400" cy="500380"/>
          </a:xfrm>
          <a:prstGeom prst="rect">
            <a:avLst/>
          </a:prstGeom>
          <a:noFill/>
        </p:spPr>
        <p:txBody>
          <a:bodyPr wrap="square" lIns="0" rIns="0" tIns="0" bIns="0" anchor="ctr">
            <a:noAutofit/>
          </a:bodyPr>
          <a:lstStyle/>
          <a:p>
            <a:pPr algn="l"/>
            <a:r>
              <a:rPr sz="1600" b="0" i="0" lang="de-DE">
                <a:solidFill>
                  <a:srgbClr val="4F7A1E"/>
                </a:solidFill>
                <a:latin typeface="IBM Plex Mono Medium"/>
              </a:rPr>
              <a:t>07</a:t>
            </a:r>
          </a:p>
        </p:txBody>
      </p:sp>
      <p:sp>
        <p:nvSpPr>
          <p:cNvPr id="25" name="check-text-7"/>
          <p:cNvSpPr txBox="1"/>
          <p:nvPr/>
        </p:nvSpPr>
        <p:spPr>
          <a:xfrm>
            <a:off x="6832600" y="3456940"/>
            <a:ext cx="4597400" cy="500380"/>
          </a:xfrm>
          <a:prstGeom prst="rect">
            <a:avLst/>
          </a:prstGeom>
          <a:noFill/>
        </p:spPr>
        <p:txBody>
          <a:bodyPr wrap="square" lIns="0" rIns="0" tIns="0" bIns="0" anchor="ctr">
            <a:noAutofit/>
          </a:bodyPr>
          <a:lstStyle/>
          <a:p>
            <a:pPr algn="l"/>
            <a:r>
              <a:rPr sz="1800" b="0" i="0" lang="de-DE">
                <a:solidFill>
                  <a:srgbClr val="043751"/>
                </a:solidFill>
                <a:latin typeface="IBM Plex Sans"/>
              </a:rPr>
              <a:t>Reporting &amp; Wirtschaftlichkeit</a:t>
            </a:r>
          </a:p>
        </p:txBody>
      </p:sp>
      <p:sp>
        <p:nvSpPr>
          <p:cNvPr id="26" name="check-line-7"/>
          <p:cNvSpPr/>
          <p:nvPr/>
        </p:nvSpPr>
        <p:spPr>
          <a:xfrm>
            <a:off x="6350000" y="3950970"/>
            <a:ext cx="5080000" cy="12700"/>
          </a:xfrm>
          <a:prstGeom prst="rect">
            <a:avLst/>
          </a:prstGeom>
          <a:solidFill>
            <a:srgbClr val="D9D9D9"/>
          </a:solidFill>
          <a:ln>
            <a:noFill/>
          </a:ln>
        </p:spPr>
        <p:txBody>
          <a:bodyPr rtlCol="0" anchor="ctr"/>
          <a:lstStyle/>
          <a:p>
            <a:pPr algn="ctr"/>
          </a:p>
        </p:txBody>
      </p:sp>
      <p:sp>
        <p:nvSpPr>
          <p:cNvPr id="27" name="check-num-8"/>
          <p:cNvSpPr txBox="1"/>
          <p:nvPr/>
        </p:nvSpPr>
        <p:spPr>
          <a:xfrm>
            <a:off x="6350000" y="3957320"/>
            <a:ext cx="406400" cy="797560"/>
          </a:xfrm>
          <a:prstGeom prst="rect">
            <a:avLst/>
          </a:prstGeom>
          <a:noFill/>
        </p:spPr>
        <p:txBody>
          <a:bodyPr wrap="square" lIns="0" rIns="0" tIns="0" bIns="0" anchor="ctr">
            <a:noAutofit/>
          </a:bodyPr>
          <a:lstStyle/>
          <a:p>
            <a:pPr algn="l"/>
            <a:r>
              <a:rPr sz="1600" b="0" i="0" lang="de-DE">
                <a:solidFill>
                  <a:srgbClr val="4F7A1E"/>
                </a:solidFill>
                <a:latin typeface="IBM Plex Mono Medium"/>
              </a:rPr>
              <a:t>08</a:t>
            </a:r>
          </a:p>
        </p:txBody>
      </p:sp>
      <p:sp>
        <p:nvSpPr>
          <p:cNvPr id="28" name="check-text-8"/>
          <p:cNvSpPr txBox="1"/>
          <p:nvPr/>
        </p:nvSpPr>
        <p:spPr>
          <a:xfrm>
            <a:off x="6832600" y="3957320"/>
            <a:ext cx="4597400" cy="797560"/>
          </a:xfrm>
          <a:prstGeom prst="rect">
            <a:avLst/>
          </a:prstGeom>
          <a:noFill/>
        </p:spPr>
        <p:txBody>
          <a:bodyPr wrap="square" lIns="0" rIns="0" tIns="0" bIns="0" anchor="ctr">
            <a:noAutofit/>
          </a:bodyPr>
          <a:lstStyle/>
          <a:p>
            <a:pPr algn="l"/>
            <a:r>
              <a:rPr sz="1800" b="0" i="0" lang="de-DE">
                <a:solidFill>
                  <a:srgbClr val="043751"/>
                </a:solidFill>
                <a:latin typeface="IBM Plex Sans"/>
              </a:rPr>
              <a:t>Operative Umsetzung, Projekte &amp; internationale Konzernservices</a:t>
            </a:r>
          </a:p>
        </p:txBody>
      </p:sp>
      <p:sp>
        <p:nvSpPr>
          <p:cNvPr id="29" name="check-line-8"/>
          <p:cNvSpPr/>
          <p:nvPr/>
        </p:nvSpPr>
        <p:spPr>
          <a:xfrm>
            <a:off x="6350000" y="4748530"/>
            <a:ext cx="5080000" cy="12700"/>
          </a:xfrm>
          <a:prstGeom prst="rect">
            <a:avLst/>
          </a:prstGeom>
          <a:solidFill>
            <a:srgbClr val="D9D9D9"/>
          </a:solidFill>
          <a:ln>
            <a:noFill/>
          </a:ln>
        </p:spPr>
        <p:txBody>
          <a:bodyPr rtlCol="0" anchor="ctr"/>
          <a:lstStyle/>
          <a:p>
            <a:pPr algn="ctr"/>
          </a:p>
        </p:txBody>
      </p:sp>
      <p:sp>
        <p:nvSpPr>
          <p:cNvPr id="30"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31"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32" name="nav-3-active"/>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F7A1E"/>
                </a:solidFill>
                <a:latin typeface="IBM Plex Mono"/>
              </a:rPr>
              <a:t>03</a:t>
            </a:r>
            <a:r>
              <a:rPr sz="1200" b="0" i="0" lang="de-DE">
                <a:solidFill>
                  <a:srgbClr val="043751"/>
                </a:solidFill>
                <a:latin typeface="IBM Plex Mono"/>
              </a:rPr>
              <a:t> </a:t>
            </a:r>
            <a:r>
              <a:rPr sz="1200" b="0" i="0" lang="de-DE" cap="all" spc="72">
                <a:solidFill>
                  <a:srgbClr val="043751"/>
                </a:solidFill>
                <a:latin typeface="IBM Plex Sans Medium"/>
              </a:rPr>
              <a:t>Leistungen</a:t>
            </a:r>
          </a:p>
        </p:txBody>
      </p:sp>
      <p:sp>
        <p:nvSpPr>
          <p:cNvPr id="33" name="nav-underline"/>
          <p:cNvSpPr/>
          <p:nvPr/>
        </p:nvSpPr>
        <p:spPr>
          <a:xfrm>
            <a:off x="6259933" y="685800"/>
            <a:ext cx="1294070" cy="25400"/>
          </a:xfrm>
          <a:prstGeom prst="rect">
            <a:avLst/>
          </a:prstGeom>
          <a:solidFill>
            <a:srgbClr val="6EA52E"/>
          </a:solidFill>
          <a:ln>
            <a:noFill/>
          </a:ln>
        </p:spPr>
        <p:txBody>
          <a:bodyPr rtlCol="0" anchor="ctr"/>
          <a:lstStyle/>
          <a:p>
            <a:pPr algn="ctr"/>
          </a:p>
        </p:txBody>
      </p:sp>
      <p:sp>
        <p:nvSpPr>
          <p:cNvPr id="34"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35"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36"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37"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03 · Leistungen</a:t>
            </a:r>
          </a:p>
        </p:txBody>
      </p:sp>
      <p:sp>
        <p:nvSpPr>
          <p:cNvPr id="3" name="Title 2"/>
          <p:cNvSpPr>
            <a:spLocks noGrp="1"/>
          </p:cNvSpPr>
          <p:nvPr>
            <p:ph type="title"/>
          </p:nvPr>
        </p:nvSpPr>
        <p:spPr/>
        <p:txBody>
          <a:bodyPr/>
          <a:lstStyle/>
          <a:p>
            <a:r>
              <a:t>Compliance, die im Betrieb funktioniert</a:t>
            </a:r>
          </a:p>
        </p:txBody>
      </p:sp>
      <p:sp>
        <p:nvSpPr>
          <p:cNvPr id="4" name="Text Placeholder 3"/>
          <p:cNvSpPr>
            <a:spLocks noGrp="1"/>
          </p:cNvSpPr>
          <p:nvPr>
            <p:ph type="body" idx="26"/>
          </p:nvPr>
        </p:nvSpPr>
        <p:spPr/>
        <p:txBody>
          <a:bodyPr/>
          <a:lstStyle/>
          <a:p>
            <a:pPr>
              <a:spcBef>
                <a:spcPts val="0"/>
              </a:spcBef>
            </a:pPr>
            <a:r>
              <a:rPr sz="1600" b="0" i="0" lang="de-DE">
                <a:solidFill>
                  <a:srgbClr val="4F7A1E"/>
                </a:solidFill>
                <a:latin typeface="IBM Plex Mono Medium"/>
              </a:rPr>
              <a:t>01</a:t>
            </a:r>
            <a:r>
              <a:t>	Beauftragtenwesen</a:t>
            </a:r>
          </a:p>
          <a:p>
            <a:pPr lvl="1"/>
            <a:r>
              <a:t>Externe Abfall-, Immissionsschutz- und Gefahrgutbeauftragte.</a:t>
            </a:r>
          </a:p>
          <a:p>
            <a:pPr/>
            <a:r>
              <a:rPr sz="1600" b="0" i="0" lang="de-DE">
                <a:solidFill>
                  <a:srgbClr val="4F7A1E"/>
                </a:solidFill>
                <a:latin typeface="IBM Plex Mono Medium"/>
              </a:rPr>
              <a:t>02</a:t>
            </a:r>
            <a:r>
              <a:t>	Product Compliance</a:t>
            </a:r>
          </a:p>
          <a:p>
            <a:pPr lvl="1"/>
            <a:r>
              <a:t>Recyclingfähigkeit, Kennzeichnung sowie CE-, REACH- und SCIP-Konformität.</a:t>
            </a:r>
          </a:p>
          <a:p>
            <a:pPr/>
            <a:r>
              <a:rPr sz="1600" b="0" i="0" lang="de-DE">
                <a:solidFill>
                  <a:srgbClr val="4F7A1E"/>
                </a:solidFill>
                <a:latin typeface="IBM Plex Mono Medium"/>
              </a:rPr>
              <a:t>03</a:t>
            </a:r>
            <a:r>
              <a:t>	Erweiterte Herstellerverantwortung</a:t>
            </a:r>
          </a:p>
          <a:p>
            <a:pPr lvl="1"/>
            <a:r>
              <a:t>Registrierung, Mengenmeldung, Systembeteiligung, eigene Rücknahme.</a:t>
            </a:r>
          </a:p>
          <a:p>
            <a:pPr/>
            <a:r>
              <a:rPr sz="1600" b="0" i="0" lang="de-DE">
                <a:solidFill>
                  <a:srgbClr val="4F7A1E"/>
                </a:solidFill>
                <a:latin typeface="IBM Plex Mono Medium"/>
              </a:rPr>
              <a:t>04</a:t>
            </a:r>
            <a:r>
              <a:t>	Reporting &amp; Managed Services</a:t>
            </a:r>
          </a:p>
          <a:p>
            <a:pPr lvl="1"/>
            <a:r>
              <a:t>ESG- und CSRD-Kennzahlen, Mengenstromvalidierung, Interimsmanagement.</a:t>
            </a:r>
          </a:p>
        </p:txBody>
      </p:sp>
      <p:sp>
        <p:nvSpPr>
          <p:cNvPr id="5"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6"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7" name="nav-3-active"/>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F7A1E"/>
                </a:solidFill>
                <a:latin typeface="IBM Plex Mono"/>
              </a:rPr>
              <a:t>03</a:t>
            </a:r>
            <a:r>
              <a:rPr sz="1200" b="0" i="0" lang="de-DE">
                <a:solidFill>
                  <a:srgbClr val="043751"/>
                </a:solidFill>
                <a:latin typeface="IBM Plex Mono"/>
              </a:rPr>
              <a:t> </a:t>
            </a:r>
            <a:r>
              <a:rPr sz="1200" b="0" i="0" lang="de-DE" cap="all" spc="72">
                <a:solidFill>
                  <a:srgbClr val="043751"/>
                </a:solidFill>
                <a:latin typeface="IBM Plex Sans Medium"/>
              </a:rPr>
              <a:t>Leistungen</a:t>
            </a:r>
          </a:p>
        </p:txBody>
      </p:sp>
      <p:sp>
        <p:nvSpPr>
          <p:cNvPr id="8" name="nav-underline"/>
          <p:cNvSpPr/>
          <p:nvPr/>
        </p:nvSpPr>
        <p:spPr>
          <a:xfrm>
            <a:off x="6259933" y="685800"/>
            <a:ext cx="1294070" cy="25400"/>
          </a:xfrm>
          <a:prstGeom prst="rect">
            <a:avLst/>
          </a:prstGeom>
          <a:solidFill>
            <a:srgbClr val="6EA52E"/>
          </a:solidFill>
          <a:ln>
            <a:noFill/>
          </a:ln>
        </p:spPr>
        <p:txBody>
          <a:bodyPr rtlCol="0" anchor="ctr"/>
          <a:lstStyle/>
          <a:p>
            <a:pPr algn="ctr"/>
          </a:p>
        </p:txBody>
      </p:sp>
      <p:sp>
        <p:nvSpPr>
          <p:cNvPr id="9"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10"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11" name="legal-label"/>
          <p:cNvSpPr txBox="1"/>
          <p:nvPr/>
        </p:nvSpPr>
        <p:spPr>
          <a:xfrm>
            <a:off x="762000" y="5842000"/>
            <a:ext cx="1619548" cy="215900"/>
          </a:xfrm>
          <a:prstGeom prst="rect">
            <a:avLst/>
          </a:prstGeom>
          <a:noFill/>
        </p:spPr>
        <p:txBody>
          <a:bodyPr wrap="square" lIns="0" rIns="0" tIns="0" bIns="0" anchor="ctr">
            <a:noAutofit/>
          </a:bodyPr>
          <a:lstStyle/>
          <a:p>
            <a:pPr algn="l"/>
            <a:r>
              <a:rPr sz="1100" b="0" i="0" lang="de-DE" cap="all" spc="110">
                <a:solidFill>
                  <a:srgbClr val="4F7A1E"/>
                </a:solidFill>
                <a:latin typeface="IBM Plex Mono Medium"/>
              </a:rPr>
              <a:t>Rechtsgrundlage</a:t>
            </a:r>
          </a:p>
        </p:txBody>
      </p:sp>
      <p:sp>
        <p:nvSpPr>
          <p:cNvPr id="12" name="legal-chip-1"/>
          <p:cNvSpPr/>
          <p:nvPr/>
        </p:nvSpPr>
        <p:spPr>
          <a:xfrm>
            <a:off x="2356148" y="5842000"/>
            <a:ext cx="975717" cy="215900"/>
          </a:xfrm>
          <a:prstGeom prst="roundRect">
            <a:avLst>
              <a:gd name="adj" fmla="val 11764"/>
            </a:avLst>
          </a:prstGeom>
          <a:solidFill>
            <a:srgbClr val="E3F0F8"/>
          </a:solidFill>
          <a:ln>
            <a:noFill/>
          </a:ln>
        </p:spPr>
        <p:txBody>
          <a:bodyPr rtlCol="0" anchor="ctr" wrap="square" lIns="0" rIns="0" tIns="0" bIns="0">
            <a:noAutofit/>
          </a:bodyPr>
          <a:lstStyle/>
          <a:p>
            <a:pPr algn="ctr"/>
            <a:r>
              <a:rPr sz="1200" b="0" i="0" lang="de-DE">
                <a:solidFill>
                  <a:srgbClr val="0F6AA6"/>
                </a:solidFill>
                <a:latin typeface="IBM Plex Mono"/>
              </a:rPr>
              <a:t>§ 59 KrWG</a:t>
            </a:r>
          </a:p>
        </p:txBody>
      </p:sp>
      <p:sp>
        <p:nvSpPr>
          <p:cNvPr id="13" name="legal-chip-2"/>
          <p:cNvSpPr/>
          <p:nvPr/>
        </p:nvSpPr>
        <p:spPr>
          <a:xfrm>
            <a:off x="3395365" y="5842000"/>
            <a:ext cx="975717" cy="215900"/>
          </a:xfrm>
          <a:prstGeom prst="roundRect">
            <a:avLst>
              <a:gd name="adj" fmla="val 11764"/>
            </a:avLst>
          </a:prstGeom>
          <a:solidFill>
            <a:srgbClr val="E3F0F8"/>
          </a:solidFill>
          <a:ln>
            <a:noFill/>
          </a:ln>
        </p:spPr>
        <p:txBody>
          <a:bodyPr rtlCol="0" anchor="ctr" wrap="square" lIns="0" rIns="0" tIns="0" bIns="0">
            <a:noAutofit/>
          </a:bodyPr>
          <a:lstStyle/>
          <a:p>
            <a:pPr algn="ctr"/>
            <a:r>
              <a:rPr sz="1200" b="0" i="0" lang="de-DE">
                <a:solidFill>
                  <a:srgbClr val="0F6AA6"/>
                </a:solidFill>
                <a:latin typeface="IBM Plex Mono"/>
              </a:rPr>
              <a:t>§ 23 KrWG</a:t>
            </a:r>
          </a:p>
        </p:txBody>
      </p:sp>
      <p:sp>
        <p:nvSpPr>
          <p:cNvPr id="14" name="legal-chip-3"/>
          <p:cNvSpPr/>
          <p:nvPr/>
        </p:nvSpPr>
        <p:spPr>
          <a:xfrm>
            <a:off x="4434582" y="5842000"/>
            <a:ext cx="1250156" cy="215900"/>
          </a:xfrm>
          <a:prstGeom prst="roundRect">
            <a:avLst>
              <a:gd name="adj" fmla="val 11764"/>
            </a:avLst>
          </a:prstGeom>
          <a:solidFill>
            <a:srgbClr val="E3F0F8"/>
          </a:solidFill>
          <a:ln>
            <a:noFill/>
          </a:ln>
        </p:spPr>
        <p:txBody>
          <a:bodyPr rtlCol="0" anchor="ctr" wrap="square" lIns="0" rIns="0" tIns="0" bIns="0">
            <a:noAutofit/>
          </a:bodyPr>
          <a:lstStyle/>
          <a:p>
            <a:pPr algn="ctr"/>
            <a:r>
              <a:rPr sz="1200" b="0" i="0" lang="de-DE">
                <a:solidFill>
                  <a:srgbClr val="0F6AA6"/>
                </a:solidFill>
                <a:latin typeface="IBM Plex Mono"/>
              </a:rPr>
              <a:t>ElektroG § 6</a:t>
            </a:r>
          </a:p>
        </p:txBody>
      </p:sp>
      <p:sp>
        <p:nvSpPr>
          <p:cNvPr id="15" name="legal-chip-4"/>
          <p:cNvSpPr/>
          <p:nvPr/>
        </p:nvSpPr>
        <p:spPr>
          <a:xfrm>
            <a:off x="5748238" y="5842000"/>
            <a:ext cx="792758" cy="215900"/>
          </a:xfrm>
          <a:prstGeom prst="roundRect">
            <a:avLst>
              <a:gd name="adj" fmla="val 11764"/>
            </a:avLst>
          </a:prstGeom>
          <a:solidFill>
            <a:srgbClr val="E3F0F8"/>
          </a:solidFill>
          <a:ln>
            <a:noFill/>
          </a:ln>
        </p:spPr>
        <p:txBody>
          <a:bodyPr rtlCol="0" anchor="ctr" wrap="square" lIns="0" rIns="0" tIns="0" bIns="0">
            <a:noAutofit/>
          </a:bodyPr>
          <a:lstStyle/>
          <a:p>
            <a:pPr algn="ctr"/>
            <a:r>
              <a:rPr sz="1200" b="0" i="0" lang="de-DE">
                <a:solidFill>
                  <a:srgbClr val="0F6AA6"/>
                </a:solidFill>
                <a:latin typeface="IBM Plex Mono"/>
              </a:rPr>
              <a:t>BImSchG</a:t>
            </a:r>
          </a:p>
        </p:txBody>
      </p:sp>
      <p:sp>
        <p:nvSpPr>
          <p:cNvPr id="16"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17"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03 · Leistungen</a:t>
            </a:r>
          </a:p>
        </p:txBody>
      </p:sp>
      <p:sp>
        <p:nvSpPr>
          <p:cNvPr id="3" name="Title 2"/>
          <p:cNvSpPr>
            <a:spLocks noGrp="1"/>
          </p:cNvSpPr>
          <p:nvPr>
            <p:ph type="title"/>
          </p:nvPr>
        </p:nvSpPr>
        <p:spPr/>
        <p:txBody>
          <a:bodyPr/>
          <a:lstStyle/>
          <a:p>
            <a:r>
              <a:t>Von der Pflicht zum Kreislauf</a:t>
            </a:r>
          </a:p>
        </p:txBody>
      </p:sp>
      <p:sp>
        <p:nvSpPr>
          <p:cNvPr id="4" name="step-rule-1"/>
          <p:cNvSpPr/>
          <p:nvPr/>
        </p:nvSpPr>
        <p:spPr>
          <a:xfrm>
            <a:off x="762000" y="2152650"/>
            <a:ext cx="2438400" cy="12700"/>
          </a:xfrm>
          <a:prstGeom prst="rect">
            <a:avLst/>
          </a:prstGeom>
          <a:solidFill>
            <a:srgbClr val="043751"/>
          </a:solidFill>
          <a:ln>
            <a:noFill/>
          </a:ln>
        </p:spPr>
        <p:txBody>
          <a:bodyPr rtlCol="0" anchor="ctr"/>
          <a:lstStyle/>
          <a:p>
            <a:pPr algn="ctr"/>
          </a:p>
        </p:txBody>
      </p:sp>
      <p:sp>
        <p:nvSpPr>
          <p:cNvPr id="5" name="step-num-1"/>
          <p:cNvSpPr txBox="1"/>
          <p:nvPr/>
        </p:nvSpPr>
        <p:spPr>
          <a:xfrm>
            <a:off x="762000" y="2286000"/>
            <a:ext cx="2438400" cy="279400"/>
          </a:xfrm>
          <a:prstGeom prst="rect">
            <a:avLst/>
          </a:prstGeom>
          <a:noFill/>
        </p:spPr>
        <p:txBody>
          <a:bodyPr wrap="square" lIns="0" rIns="0" tIns="0" bIns="0" anchor="t">
            <a:noAutofit/>
          </a:bodyPr>
          <a:lstStyle/>
          <a:p>
            <a:pPr algn="l"/>
            <a:r>
              <a:rPr sz="1600" b="0" i="0" lang="de-DE">
                <a:solidFill>
                  <a:srgbClr val="4F7A1E"/>
                </a:solidFill>
                <a:latin typeface="IBM Plex Mono Medium"/>
              </a:rPr>
              <a:t>01</a:t>
            </a:r>
          </a:p>
        </p:txBody>
      </p:sp>
      <p:sp>
        <p:nvSpPr>
          <p:cNvPr id="6" name="step-title-1"/>
          <p:cNvSpPr txBox="1"/>
          <p:nvPr/>
        </p:nvSpPr>
        <p:spPr>
          <a:xfrm>
            <a:off x="762000" y="2578100"/>
            <a:ext cx="2438400" cy="633374"/>
          </a:xfrm>
          <a:prstGeom prst="rect">
            <a:avLst/>
          </a:prstGeom>
          <a:noFill/>
        </p:spPr>
        <p:txBody>
          <a:bodyPr wrap="square" lIns="0" rIns="0" tIns="0" bIns="0" anchor="t">
            <a:noAutofit/>
          </a:bodyPr>
          <a:lstStyle/>
          <a:p>
            <a:pPr algn="l"/>
            <a:r>
              <a:rPr sz="2200" b="0" i="0" lang="de-DE">
                <a:solidFill>
                  <a:srgbClr val="043751"/>
                </a:solidFill>
                <a:latin typeface="Archivo SemiBold"/>
              </a:rPr>
              <a:t>Pflichten analysieren</a:t>
            </a:r>
          </a:p>
        </p:txBody>
      </p:sp>
      <p:sp>
        <p:nvSpPr>
          <p:cNvPr id="7" name="step-text-1"/>
          <p:cNvSpPr txBox="1"/>
          <p:nvPr/>
        </p:nvSpPr>
        <p:spPr>
          <a:xfrm>
            <a:off x="762000" y="3274974"/>
            <a:ext cx="2438400" cy="2338426"/>
          </a:xfrm>
          <a:prstGeom prst="rect">
            <a:avLst/>
          </a:prstGeom>
          <a:noFill/>
        </p:spPr>
        <p:txBody>
          <a:bodyPr wrap="square" lIns="0" rIns="0" tIns="0" bIns="0" anchor="t">
            <a:noAutofit/>
          </a:bodyPr>
          <a:lstStyle/>
          <a:p>
            <a:pPr algn="l"/>
            <a:r>
              <a:rPr sz="1700" b="0" i="0" lang="de-DE">
                <a:solidFill>
                  <a:srgbClr val="4A6079"/>
                </a:solidFill>
                <a:latin typeface="IBM Plex Sans"/>
              </a:rPr>
              <a:t>Welche Regelwerke gelten für Ihre Produkte und Abfälle?</a:t>
            </a:r>
          </a:p>
        </p:txBody>
      </p:sp>
      <p:sp>
        <p:nvSpPr>
          <p:cNvPr id="8" name="step-rule-2"/>
          <p:cNvSpPr/>
          <p:nvPr/>
        </p:nvSpPr>
        <p:spPr>
          <a:xfrm>
            <a:off x="3505200" y="2152650"/>
            <a:ext cx="2438400" cy="12700"/>
          </a:xfrm>
          <a:prstGeom prst="rect">
            <a:avLst/>
          </a:prstGeom>
          <a:solidFill>
            <a:srgbClr val="043751"/>
          </a:solidFill>
          <a:ln>
            <a:noFill/>
          </a:ln>
        </p:spPr>
        <p:txBody>
          <a:bodyPr rtlCol="0" anchor="ctr"/>
          <a:lstStyle/>
          <a:p>
            <a:pPr algn="ctr"/>
          </a:p>
        </p:txBody>
      </p:sp>
      <p:sp>
        <p:nvSpPr>
          <p:cNvPr id="9" name="step-num-2"/>
          <p:cNvSpPr txBox="1"/>
          <p:nvPr/>
        </p:nvSpPr>
        <p:spPr>
          <a:xfrm>
            <a:off x="3505200" y="2286000"/>
            <a:ext cx="2438400" cy="279400"/>
          </a:xfrm>
          <a:prstGeom prst="rect">
            <a:avLst/>
          </a:prstGeom>
          <a:noFill/>
        </p:spPr>
        <p:txBody>
          <a:bodyPr wrap="square" lIns="0" rIns="0" tIns="0" bIns="0" anchor="t">
            <a:noAutofit/>
          </a:bodyPr>
          <a:lstStyle/>
          <a:p>
            <a:pPr algn="l"/>
            <a:r>
              <a:rPr sz="1600" b="0" i="0" lang="de-DE">
                <a:solidFill>
                  <a:srgbClr val="4F7A1E"/>
                </a:solidFill>
                <a:latin typeface="IBM Plex Mono Medium"/>
              </a:rPr>
              <a:t>02</a:t>
            </a:r>
          </a:p>
        </p:txBody>
      </p:sp>
      <p:sp>
        <p:nvSpPr>
          <p:cNvPr id="10" name="step-title-2"/>
          <p:cNvSpPr txBox="1"/>
          <p:nvPr/>
        </p:nvSpPr>
        <p:spPr>
          <a:xfrm>
            <a:off x="3505200" y="2578100"/>
            <a:ext cx="2438400" cy="329387"/>
          </a:xfrm>
          <a:prstGeom prst="rect">
            <a:avLst/>
          </a:prstGeom>
          <a:noFill/>
        </p:spPr>
        <p:txBody>
          <a:bodyPr wrap="square" lIns="0" rIns="0" tIns="0" bIns="0" anchor="t">
            <a:noAutofit/>
          </a:bodyPr>
          <a:lstStyle/>
          <a:p>
            <a:pPr algn="l"/>
            <a:r>
              <a:rPr sz="2200" b="0" i="0" lang="de-DE">
                <a:solidFill>
                  <a:srgbClr val="043751"/>
                </a:solidFill>
                <a:latin typeface="Archivo SemiBold"/>
              </a:rPr>
              <a:t>System aufbauen</a:t>
            </a:r>
          </a:p>
        </p:txBody>
      </p:sp>
      <p:sp>
        <p:nvSpPr>
          <p:cNvPr id="11" name="step-text-2"/>
          <p:cNvSpPr txBox="1"/>
          <p:nvPr/>
        </p:nvSpPr>
        <p:spPr>
          <a:xfrm>
            <a:off x="3505200" y="2970987"/>
            <a:ext cx="2438400" cy="2642413"/>
          </a:xfrm>
          <a:prstGeom prst="rect">
            <a:avLst/>
          </a:prstGeom>
          <a:noFill/>
        </p:spPr>
        <p:txBody>
          <a:bodyPr wrap="square" lIns="0" rIns="0" tIns="0" bIns="0" anchor="t">
            <a:noAutofit/>
          </a:bodyPr>
          <a:lstStyle/>
          <a:p>
            <a:pPr algn="l"/>
            <a:r>
              <a:rPr sz="1700" b="0" i="0" lang="de-DE">
                <a:solidFill>
                  <a:srgbClr val="4A6079"/>
                </a:solidFill>
                <a:latin typeface="IBM Plex Sans"/>
              </a:rPr>
              <a:t>Rücknahme- und Sammelsysteme, abgestimmt auf Ihre Stoffströme.</a:t>
            </a:r>
          </a:p>
        </p:txBody>
      </p:sp>
      <p:sp>
        <p:nvSpPr>
          <p:cNvPr id="12" name="step-rule-3"/>
          <p:cNvSpPr/>
          <p:nvPr/>
        </p:nvSpPr>
        <p:spPr>
          <a:xfrm>
            <a:off x="6248400" y="2152650"/>
            <a:ext cx="2438400" cy="12700"/>
          </a:xfrm>
          <a:prstGeom prst="rect">
            <a:avLst/>
          </a:prstGeom>
          <a:solidFill>
            <a:srgbClr val="043751"/>
          </a:solidFill>
          <a:ln>
            <a:noFill/>
          </a:ln>
        </p:spPr>
        <p:txBody>
          <a:bodyPr rtlCol="0" anchor="ctr"/>
          <a:lstStyle/>
          <a:p>
            <a:pPr algn="ctr"/>
          </a:p>
        </p:txBody>
      </p:sp>
      <p:sp>
        <p:nvSpPr>
          <p:cNvPr id="13" name="step-num-3"/>
          <p:cNvSpPr txBox="1"/>
          <p:nvPr/>
        </p:nvSpPr>
        <p:spPr>
          <a:xfrm>
            <a:off x="6248400" y="2286000"/>
            <a:ext cx="2438400" cy="279400"/>
          </a:xfrm>
          <a:prstGeom prst="rect">
            <a:avLst/>
          </a:prstGeom>
          <a:noFill/>
        </p:spPr>
        <p:txBody>
          <a:bodyPr wrap="square" lIns="0" rIns="0" tIns="0" bIns="0" anchor="t">
            <a:noAutofit/>
          </a:bodyPr>
          <a:lstStyle/>
          <a:p>
            <a:pPr algn="l"/>
            <a:r>
              <a:rPr sz="1600" b="0" i="0" lang="de-DE">
                <a:solidFill>
                  <a:srgbClr val="4F7A1E"/>
                </a:solidFill>
                <a:latin typeface="IBM Plex Mono Medium"/>
              </a:rPr>
              <a:t>03</a:t>
            </a:r>
          </a:p>
        </p:txBody>
      </p:sp>
      <p:sp>
        <p:nvSpPr>
          <p:cNvPr id="14" name="step-title-3"/>
          <p:cNvSpPr txBox="1"/>
          <p:nvPr/>
        </p:nvSpPr>
        <p:spPr>
          <a:xfrm>
            <a:off x="6248400" y="2578100"/>
            <a:ext cx="2438400" cy="633374"/>
          </a:xfrm>
          <a:prstGeom prst="rect">
            <a:avLst/>
          </a:prstGeom>
          <a:noFill/>
        </p:spPr>
        <p:txBody>
          <a:bodyPr wrap="square" lIns="0" rIns="0" tIns="0" bIns="0" anchor="t">
            <a:noAutofit/>
          </a:bodyPr>
          <a:lstStyle/>
          <a:p>
            <a:pPr algn="l"/>
            <a:r>
              <a:rPr sz="2200" b="0" i="0" lang="de-DE">
                <a:solidFill>
                  <a:srgbClr val="043751"/>
                </a:solidFill>
                <a:latin typeface="Archivo SemiBold"/>
              </a:rPr>
              <a:t>Sammeln und lagern</a:t>
            </a:r>
          </a:p>
        </p:txBody>
      </p:sp>
      <p:sp>
        <p:nvSpPr>
          <p:cNvPr id="15" name="step-text-3"/>
          <p:cNvSpPr txBox="1"/>
          <p:nvPr/>
        </p:nvSpPr>
        <p:spPr>
          <a:xfrm>
            <a:off x="6248400" y="3274974"/>
            <a:ext cx="2438400" cy="2338426"/>
          </a:xfrm>
          <a:prstGeom prst="rect">
            <a:avLst/>
          </a:prstGeom>
          <a:noFill/>
        </p:spPr>
        <p:txBody>
          <a:bodyPr wrap="square" lIns="0" rIns="0" tIns="0" bIns="0" anchor="t">
            <a:noAutofit/>
          </a:bodyPr>
          <a:lstStyle/>
          <a:p>
            <a:pPr algn="l"/>
            <a:r>
              <a:rPr sz="1700" b="0" i="0" lang="de-DE">
                <a:solidFill>
                  <a:srgbClr val="4A6079"/>
                </a:solidFill>
                <a:latin typeface="IBM Plex Sans"/>
              </a:rPr>
              <a:t>Logistik und Zwischenlagerung nach höchsten Sicherheitsstandards.</a:t>
            </a:r>
          </a:p>
        </p:txBody>
      </p:sp>
      <p:sp>
        <p:nvSpPr>
          <p:cNvPr id="16" name="step-rule-4"/>
          <p:cNvSpPr/>
          <p:nvPr/>
        </p:nvSpPr>
        <p:spPr>
          <a:xfrm>
            <a:off x="8991600" y="2152650"/>
            <a:ext cx="2438400" cy="12700"/>
          </a:xfrm>
          <a:prstGeom prst="rect">
            <a:avLst/>
          </a:prstGeom>
          <a:solidFill>
            <a:srgbClr val="043751"/>
          </a:solidFill>
          <a:ln>
            <a:noFill/>
          </a:ln>
        </p:spPr>
        <p:txBody>
          <a:bodyPr rtlCol="0" anchor="ctr"/>
          <a:lstStyle/>
          <a:p>
            <a:pPr algn="ctr"/>
          </a:p>
        </p:txBody>
      </p:sp>
      <p:sp>
        <p:nvSpPr>
          <p:cNvPr id="17" name="step-num-4"/>
          <p:cNvSpPr txBox="1"/>
          <p:nvPr/>
        </p:nvSpPr>
        <p:spPr>
          <a:xfrm>
            <a:off x="8991600" y="2286000"/>
            <a:ext cx="2438400" cy="279400"/>
          </a:xfrm>
          <a:prstGeom prst="rect">
            <a:avLst/>
          </a:prstGeom>
          <a:noFill/>
        </p:spPr>
        <p:txBody>
          <a:bodyPr wrap="square" lIns="0" rIns="0" tIns="0" bIns="0" anchor="t">
            <a:noAutofit/>
          </a:bodyPr>
          <a:lstStyle/>
          <a:p>
            <a:pPr algn="l"/>
            <a:r>
              <a:rPr sz="1600" b="0" i="0" lang="de-DE">
                <a:solidFill>
                  <a:srgbClr val="4F7A1E"/>
                </a:solidFill>
                <a:latin typeface="IBM Plex Mono Medium"/>
              </a:rPr>
              <a:t>04</a:t>
            </a:r>
          </a:p>
        </p:txBody>
      </p:sp>
      <p:sp>
        <p:nvSpPr>
          <p:cNvPr id="18" name="step-title-4"/>
          <p:cNvSpPr txBox="1"/>
          <p:nvPr/>
        </p:nvSpPr>
        <p:spPr>
          <a:xfrm>
            <a:off x="8991600" y="2578100"/>
            <a:ext cx="2438400" cy="633374"/>
          </a:xfrm>
          <a:prstGeom prst="rect">
            <a:avLst/>
          </a:prstGeom>
          <a:noFill/>
        </p:spPr>
        <p:txBody>
          <a:bodyPr wrap="square" lIns="0" rIns="0" tIns="0" bIns="0" anchor="t">
            <a:noAutofit/>
          </a:bodyPr>
          <a:lstStyle/>
          <a:p>
            <a:pPr algn="l"/>
            <a:r>
              <a:rPr sz="2200" b="0" i="0" lang="de-DE">
                <a:solidFill>
                  <a:srgbClr val="043751"/>
                </a:solidFill>
                <a:latin typeface="Archivo SemiBold"/>
              </a:rPr>
              <a:t>Verwerten und nachweisen</a:t>
            </a:r>
          </a:p>
        </p:txBody>
      </p:sp>
      <p:sp>
        <p:nvSpPr>
          <p:cNvPr id="19" name="step-text-4"/>
          <p:cNvSpPr txBox="1"/>
          <p:nvPr/>
        </p:nvSpPr>
        <p:spPr>
          <a:xfrm>
            <a:off x="8991600" y="3274974"/>
            <a:ext cx="2438400" cy="2338426"/>
          </a:xfrm>
          <a:prstGeom prst="rect">
            <a:avLst/>
          </a:prstGeom>
          <a:noFill/>
        </p:spPr>
        <p:txBody>
          <a:bodyPr wrap="square" lIns="0" rIns="0" tIns="0" bIns="0" anchor="t">
            <a:noAutofit/>
          </a:bodyPr>
          <a:lstStyle/>
          <a:p>
            <a:pPr algn="l"/>
            <a:r>
              <a:rPr sz="1700" b="0" i="0" lang="de-DE">
                <a:solidFill>
                  <a:srgbClr val="4A6079"/>
                </a:solidFill>
                <a:latin typeface="IBM Plex Sans"/>
              </a:rPr>
              <a:t>Verwertung mit vollständiger Nachweisführung.</a:t>
            </a:r>
          </a:p>
        </p:txBody>
      </p:sp>
      <p:sp>
        <p:nvSpPr>
          <p:cNvPr id="20"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21"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22" name="nav-3-active"/>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F7A1E"/>
                </a:solidFill>
                <a:latin typeface="IBM Plex Mono"/>
              </a:rPr>
              <a:t>03</a:t>
            </a:r>
            <a:r>
              <a:rPr sz="1200" b="0" i="0" lang="de-DE">
                <a:solidFill>
                  <a:srgbClr val="043751"/>
                </a:solidFill>
                <a:latin typeface="IBM Plex Mono"/>
              </a:rPr>
              <a:t> </a:t>
            </a:r>
            <a:r>
              <a:rPr sz="1200" b="0" i="0" lang="de-DE" cap="all" spc="72">
                <a:solidFill>
                  <a:srgbClr val="043751"/>
                </a:solidFill>
                <a:latin typeface="IBM Plex Sans Medium"/>
              </a:rPr>
              <a:t>Leistungen</a:t>
            </a:r>
          </a:p>
        </p:txBody>
      </p:sp>
      <p:sp>
        <p:nvSpPr>
          <p:cNvPr id="23" name="nav-underline"/>
          <p:cNvSpPr/>
          <p:nvPr/>
        </p:nvSpPr>
        <p:spPr>
          <a:xfrm>
            <a:off x="6259933" y="685800"/>
            <a:ext cx="1294070" cy="25400"/>
          </a:xfrm>
          <a:prstGeom prst="rect">
            <a:avLst/>
          </a:prstGeom>
          <a:solidFill>
            <a:srgbClr val="6EA52E"/>
          </a:solidFill>
          <a:ln>
            <a:noFill/>
          </a:ln>
        </p:spPr>
        <p:txBody>
          <a:bodyPr rtlCol="0" anchor="ctr"/>
          <a:lstStyle/>
          <a:p>
            <a:pPr algn="ctr"/>
          </a:p>
        </p:txBody>
      </p:sp>
      <p:sp>
        <p:nvSpPr>
          <p:cNvPr id="24"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25"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26"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27"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sortierhalle.jpg"/>
          <p:cNvPicPr>
            <a:picLocks noGrp="1" noChangeAspect="1"/>
          </p:cNvPicPr>
          <p:nvPr>
            <p:ph type="pic" idx="15"/>
          </p:nvPr>
        </p:nvPicPr>
        <p:blipFill>
          <a:blip r:embed="rId2"/>
          <a:srcRect t="265" b="265"/>
          <a:stretch>
            <a:fillRect/>
          </a:stretch>
        </p:blipFill>
        <p:spPr>
          <a:noFill/>
        </p:spPr>
      </p:pic>
      <p:sp>
        <p:nvSpPr>
          <p:cNvPr id="3" name="Text Placeholder 2"/>
          <p:cNvSpPr>
            <a:spLocks noGrp="1"/>
          </p:cNvSpPr>
          <p:nvPr>
            <p:ph type="body" idx="11"/>
          </p:nvPr>
        </p:nvSpPr>
        <p:spPr/>
        <p:txBody>
          <a:bodyPr/>
          <a:lstStyle/>
          <a:p>
            <a:r>
              <a:t>03 · Leistungen</a:t>
            </a:r>
          </a:p>
        </p:txBody>
      </p:sp>
      <p:sp>
        <p:nvSpPr>
          <p:cNvPr id="4" name="Title 3"/>
          <p:cNvSpPr>
            <a:spLocks noGrp="1"/>
          </p:cNvSpPr>
          <p:nvPr>
            <p:ph type="title"/>
          </p:nvPr>
        </p:nvSpPr>
        <p:spPr/>
        <p:txBody>
          <a:bodyPr/>
          <a:lstStyle/>
          <a:p>
            <a:r>
              <a:t>Kreisläufe schließen</a:t>
            </a:r>
          </a:p>
        </p:txBody>
      </p:sp>
      <p:sp>
        <p:nvSpPr>
          <p:cNvPr id="5" name="Text Placeholder 4"/>
          <p:cNvSpPr>
            <a:spLocks noGrp="1"/>
          </p:cNvSpPr>
          <p:nvPr>
            <p:ph type="body" idx="27"/>
          </p:nvPr>
        </p:nvSpPr>
        <p:spPr/>
        <p:txBody>
          <a:bodyPr/>
          <a:lstStyle/>
          <a:p>
            <a:r>
              <a:t>Vom Produktdesign bis zur Verwertungsanlage: alles aus einer Hand.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p:nvPr>
        </p:nvSpPr>
        <p:spPr/>
        <p:txBody>
          <a:bodyPr/>
          <a:lstStyle/>
          <a:p>
            <a:r>
              <a:t>04</a:t>
            </a:r>
          </a:p>
        </p:txBody>
      </p:sp>
      <p:sp>
        <p:nvSpPr>
          <p:cNvPr id="3" name="Text Placeholder 2"/>
          <p:cNvSpPr>
            <a:spLocks noGrp="1"/>
          </p:cNvSpPr>
          <p:nvPr>
            <p:ph type="body" idx="11"/>
          </p:nvPr>
        </p:nvSpPr>
        <p:spPr/>
        <p:txBody>
          <a:bodyPr/>
          <a:lstStyle/>
          <a:p>
            <a:r>
              <a:t>Kapitel 4 von 5</a:t>
            </a:r>
          </a:p>
        </p:txBody>
      </p:sp>
      <p:sp>
        <p:nvSpPr>
          <p:cNvPr id="4" name="Title 3"/>
          <p:cNvSpPr>
            <a:spLocks noGrp="1"/>
          </p:cNvSpPr>
          <p:nvPr>
            <p:ph type="title"/>
          </p:nvPr>
        </p:nvSpPr>
        <p:spPr/>
        <p:txBody>
          <a:bodyPr/>
          <a:lstStyle/>
          <a:p>
            <a:r>
              <a:t>Rechtsrahmen</a:t>
            </a:r>
          </a:p>
        </p:txBody>
      </p:sp>
      <p:sp>
        <p:nvSpPr>
          <p:cNvPr id="5" name="Text Placeholder 4"/>
          <p:cNvSpPr>
            <a:spLocks noGrp="1"/>
          </p:cNvSpPr>
          <p:nvPr>
            <p:ph type="body" idx="17"/>
          </p:nvPr>
        </p:nvSpPr>
        <p:spPr/>
        <p:txBody>
          <a:bodyPr/>
          <a:lstStyle/>
          <a:p>
            <a:r>
              <a:t>Ihre Pflichten. Unsere Systematik.</a:t>
            </a:r>
          </a:p>
        </p:txBody>
      </p:sp>
      <p:sp>
        <p:nvSpPr>
          <p:cNvPr id="6" name="ring-seg-1-done"/>
          <p:cNvSpPr/>
          <p:nvPr/>
        </p:nvSpPr>
        <p:spPr>
          <a:xfrm>
            <a:off x="1206500" y="2222500"/>
            <a:ext cx="3175000" cy="3175000"/>
          </a:xfrm>
          <a:prstGeom prst="arc">
            <a:avLst>
              <a:gd name="adj1" fmla="val 16612530"/>
              <a:gd name="adj2" fmla="val 20107470"/>
            </a:avLst>
          </a:prstGeom>
          <a:noFill/>
          <a:ln w="190500" cap="rnd">
            <a:solidFill>
              <a:srgbClr val="A3B6C9"/>
            </a:solidFill>
          </a:ln>
        </p:spPr>
        <p:txBody>
          <a:bodyPr rtlCol="0" anchor="ctr"/>
          <a:lstStyle/>
          <a:p>
            <a:pPr algn="ctr"/>
          </a:p>
        </p:txBody>
      </p:sp>
      <p:sp>
        <p:nvSpPr>
          <p:cNvPr id="7" name="ring-seg-2-done"/>
          <p:cNvSpPr/>
          <p:nvPr/>
        </p:nvSpPr>
        <p:spPr>
          <a:xfrm>
            <a:off x="1206500" y="2222500"/>
            <a:ext cx="3175000" cy="3175000"/>
          </a:xfrm>
          <a:prstGeom prst="arc">
            <a:avLst>
              <a:gd name="adj1" fmla="val 20932530"/>
              <a:gd name="adj2" fmla="val 2827470"/>
            </a:avLst>
          </a:prstGeom>
          <a:noFill/>
          <a:ln w="190500" cap="rnd">
            <a:solidFill>
              <a:srgbClr val="A3B6C9"/>
            </a:solidFill>
          </a:ln>
        </p:spPr>
        <p:txBody>
          <a:bodyPr rtlCol="0" anchor="ctr"/>
          <a:lstStyle/>
          <a:p>
            <a:pPr algn="ctr"/>
          </a:p>
        </p:txBody>
      </p:sp>
      <p:sp>
        <p:nvSpPr>
          <p:cNvPr id="8" name="ring-seg-3-done"/>
          <p:cNvSpPr/>
          <p:nvPr/>
        </p:nvSpPr>
        <p:spPr>
          <a:xfrm>
            <a:off x="1206500" y="2222500"/>
            <a:ext cx="3175000" cy="3175000"/>
          </a:xfrm>
          <a:prstGeom prst="arc">
            <a:avLst>
              <a:gd name="adj1" fmla="val 3652530"/>
              <a:gd name="adj2" fmla="val 7147470"/>
            </a:avLst>
          </a:prstGeom>
          <a:noFill/>
          <a:ln w="190500" cap="rnd">
            <a:solidFill>
              <a:srgbClr val="A3B6C9"/>
            </a:solidFill>
          </a:ln>
        </p:spPr>
        <p:txBody>
          <a:bodyPr rtlCol="0" anchor="ctr"/>
          <a:lstStyle/>
          <a:p>
            <a:pPr algn="ctr"/>
          </a:p>
        </p:txBody>
      </p:sp>
      <p:sp>
        <p:nvSpPr>
          <p:cNvPr id="9" name="ring-seg-4-active"/>
          <p:cNvSpPr/>
          <p:nvPr/>
        </p:nvSpPr>
        <p:spPr>
          <a:xfrm>
            <a:off x="1206500" y="2222500"/>
            <a:ext cx="3175000" cy="3175000"/>
          </a:xfrm>
          <a:prstGeom prst="arc">
            <a:avLst>
              <a:gd name="adj1" fmla="val 7972530"/>
              <a:gd name="adj2" fmla="val 11467470"/>
            </a:avLst>
          </a:prstGeom>
          <a:noFill/>
          <a:ln w="190500" cap="rnd">
            <a:solidFill>
              <a:srgbClr val="6EA52E"/>
            </a:solidFill>
          </a:ln>
        </p:spPr>
        <p:txBody>
          <a:bodyPr rtlCol="0" anchor="ctr"/>
          <a:lstStyle/>
          <a:p>
            <a:pPr algn="ctr"/>
          </a:p>
        </p:txBody>
      </p:sp>
      <p:sp>
        <p:nvSpPr>
          <p:cNvPr id="10" name="ring-seg-5-todo"/>
          <p:cNvSpPr/>
          <p:nvPr/>
        </p:nvSpPr>
        <p:spPr>
          <a:xfrm>
            <a:off x="1206500" y="2222500"/>
            <a:ext cx="3175000" cy="3175000"/>
          </a:xfrm>
          <a:prstGeom prst="arc">
            <a:avLst>
              <a:gd name="adj1" fmla="val 12292530"/>
              <a:gd name="adj2" fmla="val 15787470"/>
            </a:avLst>
          </a:prstGeom>
          <a:noFill/>
          <a:ln w="190500" cap="rnd">
            <a:solidFill>
              <a:srgbClr val="325C72"/>
            </a:solidFill>
          </a:ln>
        </p:spPr>
        <p:txBody>
          <a:bodyPr rtlCol="0" anchor="ctr"/>
          <a:lstStyle/>
          <a:p>
            <a:pPr algn="ctr"/>
          </a:p>
        </p:txBody>
      </p:sp>
      <p:sp>
        <p:nvSpPr>
          <p:cNvPr id="11"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12"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3"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4" name="nav-4-active"/>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8FC65A"/>
                </a:solidFill>
                <a:latin typeface="IBM Plex Mono"/>
              </a:rPr>
              <a:t>04</a:t>
            </a:r>
            <a:r>
              <a:rPr sz="1200" b="0" i="0" lang="de-DE">
                <a:solidFill>
                  <a:srgbClr val="FFFFFF"/>
                </a:solidFill>
                <a:latin typeface="IBM Plex Mono"/>
              </a:rPr>
              <a:t> </a:t>
            </a:r>
            <a:r>
              <a:rPr sz="1200" b="0" i="0" lang="de-DE" cap="all" spc="72">
                <a:solidFill>
                  <a:srgbClr val="FFFFFF"/>
                </a:solidFill>
                <a:latin typeface="IBM Plex Sans Medium"/>
              </a:rPr>
              <a:t>Rechtsrahmen</a:t>
            </a:r>
          </a:p>
        </p:txBody>
      </p:sp>
      <p:sp>
        <p:nvSpPr>
          <p:cNvPr id="15" name="nav-underline"/>
          <p:cNvSpPr/>
          <p:nvPr/>
        </p:nvSpPr>
        <p:spPr>
          <a:xfrm>
            <a:off x="7808004" y="685800"/>
            <a:ext cx="1590072" cy="25400"/>
          </a:xfrm>
          <a:prstGeom prst="rect">
            <a:avLst/>
          </a:prstGeom>
          <a:solidFill>
            <a:srgbClr val="8FC65A"/>
          </a:solidFill>
          <a:ln>
            <a:noFill/>
          </a:ln>
        </p:spPr>
        <p:txBody>
          <a:bodyPr rtlCol="0" anchor="ctr"/>
          <a:lstStyle/>
          <a:p>
            <a:pPr algn="ctr"/>
          </a:p>
        </p:txBody>
      </p:sp>
      <p:sp>
        <p:nvSpPr>
          <p:cNvPr id="16"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04 · Rechtsrahmen</a:t>
            </a:r>
          </a:p>
        </p:txBody>
      </p:sp>
      <p:sp>
        <p:nvSpPr>
          <p:cNvPr id="3" name="Title 2"/>
          <p:cNvSpPr>
            <a:spLocks noGrp="1"/>
          </p:cNvSpPr>
          <p:nvPr>
            <p:ph type="title"/>
          </p:nvPr>
        </p:nvSpPr>
        <p:spPr/>
        <p:txBody>
          <a:bodyPr/>
          <a:lstStyle/>
          <a:p>
            <a:r>
              <a:t>Welche Pflicht trifft welche Rolle?</a:t>
            </a:r>
          </a:p>
        </p:txBody>
      </p:sp>
      <p:sp>
        <p:nvSpPr>
          <p:cNvPr id="4" name="matrix-head"/>
          <p:cNvSpPr/>
          <p:nvPr/>
        </p:nvSpPr>
        <p:spPr>
          <a:xfrm>
            <a:off x="762000" y="2159000"/>
            <a:ext cx="10668000" cy="330200"/>
          </a:xfrm>
          <a:prstGeom prst="rect">
            <a:avLst/>
          </a:prstGeom>
          <a:solidFill>
            <a:srgbClr val="E7ECF1"/>
          </a:solidFill>
          <a:ln>
            <a:noFill/>
          </a:ln>
        </p:spPr>
        <p:txBody>
          <a:bodyPr rtlCol="0" anchor="ctr"/>
          <a:lstStyle/>
          <a:p>
            <a:pPr algn="ctr"/>
          </a:p>
        </p:txBody>
      </p:sp>
      <p:sp>
        <p:nvSpPr>
          <p:cNvPr id="5" name="matrix-frame"/>
          <p:cNvSpPr/>
          <p:nvPr/>
        </p:nvSpPr>
        <p:spPr>
          <a:xfrm>
            <a:off x="762000" y="2159000"/>
            <a:ext cx="10668000" cy="3530600"/>
          </a:xfrm>
          <a:prstGeom prst="rect">
            <a:avLst/>
          </a:prstGeom>
          <a:noFill/>
          <a:ln w="12700">
            <a:solidFill>
              <a:srgbClr val="D9D9D9"/>
            </a:solidFill>
          </a:ln>
        </p:spPr>
        <p:txBody>
          <a:bodyPr rtlCol="0" anchor="ctr"/>
          <a:lstStyle/>
          <a:p>
            <a:pPr algn="ctr"/>
          </a:p>
        </p:txBody>
      </p:sp>
      <p:sp>
        <p:nvSpPr>
          <p:cNvPr id="6" name="matrix-corner"/>
          <p:cNvSpPr txBox="1"/>
          <p:nvPr/>
        </p:nvSpPr>
        <p:spPr>
          <a:xfrm>
            <a:off x="914400" y="2159000"/>
            <a:ext cx="3747492" cy="330200"/>
          </a:xfrm>
          <a:prstGeom prst="rect">
            <a:avLst/>
          </a:prstGeom>
          <a:noFill/>
        </p:spPr>
        <p:txBody>
          <a:bodyPr wrap="square" lIns="0" rIns="0" tIns="0" bIns="0" anchor="ctr">
            <a:noAutofit/>
          </a:bodyPr>
          <a:lstStyle/>
          <a:p>
            <a:pPr algn="l"/>
            <a:r>
              <a:rPr sz="1100" b="0" i="0" lang="de-DE" cap="all" spc="110">
                <a:solidFill>
                  <a:srgbClr val="4A6079"/>
                </a:solidFill>
                <a:latin typeface="IBM Plex Mono Medium"/>
              </a:rPr>
              <a:t>Akteur</a:t>
            </a:r>
          </a:p>
        </p:txBody>
      </p:sp>
      <p:sp>
        <p:nvSpPr>
          <p:cNvPr id="7" name="matrix-col-1"/>
          <p:cNvSpPr txBox="1"/>
          <p:nvPr/>
        </p:nvSpPr>
        <p:spPr>
          <a:xfrm>
            <a:off x="4661892" y="2159000"/>
            <a:ext cx="1128018" cy="330200"/>
          </a:xfrm>
          <a:prstGeom prst="rect">
            <a:avLst/>
          </a:prstGeom>
          <a:noFill/>
        </p:spPr>
        <p:txBody>
          <a:bodyPr wrap="square" lIns="0" rIns="0" tIns="0" bIns="0" anchor="ctr">
            <a:noAutofit/>
          </a:bodyPr>
          <a:lstStyle/>
          <a:p>
            <a:pPr algn="ctr"/>
            <a:r>
              <a:rPr sz="1100" b="0" i="0" lang="de-DE" cap="all" spc="110">
                <a:solidFill>
                  <a:srgbClr val="4A6079"/>
                </a:solidFill>
                <a:latin typeface="IBM Plex Mono Medium"/>
              </a:rPr>
              <a:t>KrWG</a:t>
            </a:r>
          </a:p>
        </p:txBody>
      </p:sp>
      <p:sp>
        <p:nvSpPr>
          <p:cNvPr id="8" name="matrix-col-2"/>
          <p:cNvSpPr txBox="1"/>
          <p:nvPr/>
        </p:nvSpPr>
        <p:spPr>
          <a:xfrm>
            <a:off x="5789910" y="2159000"/>
            <a:ext cx="1128018" cy="330200"/>
          </a:xfrm>
          <a:prstGeom prst="rect">
            <a:avLst/>
          </a:prstGeom>
          <a:noFill/>
        </p:spPr>
        <p:txBody>
          <a:bodyPr wrap="square" lIns="0" rIns="0" tIns="0" bIns="0" anchor="ctr">
            <a:noAutofit/>
          </a:bodyPr>
          <a:lstStyle/>
          <a:p>
            <a:pPr algn="ctr"/>
            <a:r>
              <a:rPr sz="1100" b="0" i="0" lang="de-DE" cap="all" spc="110">
                <a:solidFill>
                  <a:srgbClr val="4A6079"/>
                </a:solidFill>
                <a:latin typeface="IBM Plex Mono Medium"/>
              </a:rPr>
              <a:t>ElektroG</a:t>
            </a:r>
          </a:p>
        </p:txBody>
      </p:sp>
      <p:sp>
        <p:nvSpPr>
          <p:cNvPr id="9" name="matrix-col-3"/>
          <p:cNvSpPr txBox="1"/>
          <p:nvPr/>
        </p:nvSpPr>
        <p:spPr>
          <a:xfrm>
            <a:off x="6917928" y="2159000"/>
            <a:ext cx="1128018" cy="330200"/>
          </a:xfrm>
          <a:prstGeom prst="rect">
            <a:avLst/>
          </a:prstGeom>
          <a:noFill/>
        </p:spPr>
        <p:txBody>
          <a:bodyPr wrap="square" lIns="0" rIns="0" tIns="0" bIns="0" anchor="ctr">
            <a:noAutofit/>
          </a:bodyPr>
          <a:lstStyle/>
          <a:p>
            <a:pPr algn="ctr"/>
            <a:r>
              <a:rPr sz="1100" b="0" i="0" lang="de-DE" cap="all" spc="110">
                <a:solidFill>
                  <a:srgbClr val="4A6079"/>
                </a:solidFill>
                <a:latin typeface="IBM Plex Mono Medium"/>
              </a:rPr>
              <a:t>BattG</a:t>
            </a:r>
          </a:p>
        </p:txBody>
      </p:sp>
      <p:sp>
        <p:nvSpPr>
          <p:cNvPr id="10" name="matrix-col-4"/>
          <p:cNvSpPr txBox="1"/>
          <p:nvPr/>
        </p:nvSpPr>
        <p:spPr>
          <a:xfrm>
            <a:off x="8045946" y="2159000"/>
            <a:ext cx="1128018" cy="330200"/>
          </a:xfrm>
          <a:prstGeom prst="rect">
            <a:avLst/>
          </a:prstGeom>
          <a:noFill/>
        </p:spPr>
        <p:txBody>
          <a:bodyPr wrap="square" lIns="0" rIns="0" tIns="0" bIns="0" anchor="ctr">
            <a:noAutofit/>
          </a:bodyPr>
          <a:lstStyle/>
          <a:p>
            <a:pPr algn="ctr"/>
            <a:r>
              <a:rPr sz="1100" b="0" i="0" lang="de-DE" cap="all" spc="110">
                <a:solidFill>
                  <a:srgbClr val="4A6079"/>
                </a:solidFill>
                <a:latin typeface="IBM Plex Mono Medium"/>
              </a:rPr>
              <a:t>GewAbfV</a:t>
            </a:r>
          </a:p>
        </p:txBody>
      </p:sp>
      <p:sp>
        <p:nvSpPr>
          <p:cNvPr id="11" name="matrix-col-5"/>
          <p:cNvSpPr txBox="1"/>
          <p:nvPr/>
        </p:nvSpPr>
        <p:spPr>
          <a:xfrm>
            <a:off x="9173964" y="2159000"/>
            <a:ext cx="1128018" cy="330200"/>
          </a:xfrm>
          <a:prstGeom prst="rect">
            <a:avLst/>
          </a:prstGeom>
          <a:noFill/>
        </p:spPr>
        <p:txBody>
          <a:bodyPr wrap="square" lIns="0" rIns="0" tIns="0" bIns="0" anchor="ctr">
            <a:noAutofit/>
          </a:bodyPr>
          <a:lstStyle/>
          <a:p>
            <a:pPr algn="ctr"/>
            <a:r>
              <a:rPr sz="1100" b="0" i="0" lang="de-DE" cap="all" spc="110">
                <a:solidFill>
                  <a:srgbClr val="4A6079"/>
                </a:solidFill>
                <a:latin typeface="IBM Plex Mono Medium"/>
              </a:rPr>
              <a:t>NachwV</a:t>
            </a:r>
          </a:p>
        </p:txBody>
      </p:sp>
      <p:sp>
        <p:nvSpPr>
          <p:cNvPr id="12" name="matrix-col-6"/>
          <p:cNvSpPr txBox="1"/>
          <p:nvPr/>
        </p:nvSpPr>
        <p:spPr>
          <a:xfrm>
            <a:off x="10301982" y="2159000"/>
            <a:ext cx="1128018" cy="330200"/>
          </a:xfrm>
          <a:prstGeom prst="rect">
            <a:avLst/>
          </a:prstGeom>
          <a:noFill/>
        </p:spPr>
        <p:txBody>
          <a:bodyPr wrap="square" lIns="0" rIns="0" tIns="0" bIns="0" anchor="ctr">
            <a:noAutofit/>
          </a:bodyPr>
          <a:lstStyle/>
          <a:p>
            <a:pPr algn="ctr"/>
            <a:r>
              <a:rPr sz="1100" b="0" i="0" lang="de-DE" cap="all" spc="110">
                <a:solidFill>
                  <a:srgbClr val="4A6079"/>
                </a:solidFill>
                <a:latin typeface="IBM Plex Mono Medium"/>
              </a:rPr>
              <a:t>AbfAEV</a:t>
            </a:r>
          </a:p>
        </p:txBody>
      </p:sp>
      <p:sp>
        <p:nvSpPr>
          <p:cNvPr id="13" name="matrix-row-1"/>
          <p:cNvSpPr txBox="1"/>
          <p:nvPr/>
        </p:nvSpPr>
        <p:spPr>
          <a:xfrm>
            <a:off x="914400" y="248920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Transporteur von Abfällen</a:t>
            </a:r>
          </a:p>
        </p:txBody>
      </p:sp>
      <p:grpSp>
        <p:nvGrpSpPr>
          <p:cNvPr id="14" name="matrix-yes-1-1"/>
          <p:cNvGrpSpPr/>
          <p:nvPr/>
        </p:nvGrpSpPr>
        <p:grpSpPr>
          <a:xfrm>
            <a:off x="5168116" y="2602992"/>
            <a:ext cx="117221" cy="92456"/>
            <a:chOff x="5168116" y="2602992"/>
            <a:chExt cx="117221" cy="92456"/>
          </a:xfrm>
        </p:grpSpPr>
        <p:cxnSp>
          <p:nvCxnSpPr>
            <p:cNvPr id="15" name="Connector 14"/>
            <p:cNvCxnSpPr/>
            <p:nvPr/>
          </p:nvCxnSpPr>
          <p:spPr>
            <a:xfrm>
              <a:off x="5168116" y="265252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5209391" y="260299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17" name="matrix-no-1-2"/>
          <p:cNvSpPr txBox="1"/>
          <p:nvPr/>
        </p:nvSpPr>
        <p:spPr>
          <a:xfrm>
            <a:off x="5789910" y="248920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8" name="matrix-no-1-3"/>
          <p:cNvSpPr txBox="1"/>
          <p:nvPr/>
        </p:nvSpPr>
        <p:spPr>
          <a:xfrm>
            <a:off x="6917928" y="248920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9" name="matrix-no-1-4"/>
          <p:cNvSpPr txBox="1"/>
          <p:nvPr/>
        </p:nvSpPr>
        <p:spPr>
          <a:xfrm>
            <a:off x="8045946" y="248920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grpSp>
        <p:nvGrpSpPr>
          <p:cNvPr id="20" name="matrix-yes-1-5"/>
          <p:cNvGrpSpPr/>
          <p:nvPr/>
        </p:nvGrpSpPr>
        <p:grpSpPr>
          <a:xfrm>
            <a:off x="9680188" y="2602992"/>
            <a:ext cx="117221" cy="92456"/>
            <a:chOff x="9680188" y="2602992"/>
            <a:chExt cx="117221" cy="92456"/>
          </a:xfrm>
        </p:grpSpPr>
        <p:cxnSp>
          <p:nvCxnSpPr>
            <p:cNvPr id="21" name="Connector 20"/>
            <p:cNvCxnSpPr/>
            <p:nvPr/>
          </p:nvCxnSpPr>
          <p:spPr>
            <a:xfrm>
              <a:off x="9680188" y="265252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721463" y="260299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23" name="matrix-yes-1-6"/>
          <p:cNvGrpSpPr/>
          <p:nvPr/>
        </p:nvGrpSpPr>
        <p:grpSpPr>
          <a:xfrm>
            <a:off x="10808206" y="2602992"/>
            <a:ext cx="117221" cy="92456"/>
            <a:chOff x="10808206" y="2602992"/>
            <a:chExt cx="117221" cy="92456"/>
          </a:xfrm>
        </p:grpSpPr>
        <p:cxnSp>
          <p:nvCxnSpPr>
            <p:cNvPr id="24" name="Connector 23"/>
            <p:cNvCxnSpPr/>
            <p:nvPr/>
          </p:nvCxnSpPr>
          <p:spPr>
            <a:xfrm>
              <a:off x="10808206" y="265252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10849481" y="260299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26" name="matrix-line-2"/>
          <p:cNvSpPr/>
          <p:nvPr/>
        </p:nvSpPr>
        <p:spPr>
          <a:xfrm>
            <a:off x="762000" y="2802890"/>
            <a:ext cx="10668000" cy="12700"/>
          </a:xfrm>
          <a:prstGeom prst="rect">
            <a:avLst/>
          </a:prstGeom>
          <a:solidFill>
            <a:srgbClr val="D9D9D9"/>
          </a:solidFill>
          <a:ln>
            <a:noFill/>
          </a:ln>
        </p:spPr>
        <p:txBody>
          <a:bodyPr rtlCol="0" anchor="ctr"/>
          <a:lstStyle/>
          <a:p>
            <a:pPr algn="ctr"/>
          </a:p>
        </p:txBody>
      </p:sp>
      <p:sp>
        <p:nvSpPr>
          <p:cNvPr id="27" name="matrix-row-2"/>
          <p:cNvSpPr txBox="1"/>
          <p:nvPr/>
        </p:nvSpPr>
        <p:spPr>
          <a:xfrm>
            <a:off x="914400" y="280924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Entsorgungsunternehmen / Entsorger</a:t>
            </a:r>
          </a:p>
        </p:txBody>
      </p:sp>
      <p:grpSp>
        <p:nvGrpSpPr>
          <p:cNvPr id="28" name="matrix-yes-2-1"/>
          <p:cNvGrpSpPr/>
          <p:nvPr/>
        </p:nvGrpSpPr>
        <p:grpSpPr>
          <a:xfrm>
            <a:off x="5168116" y="2923032"/>
            <a:ext cx="117221" cy="92456"/>
            <a:chOff x="5168116" y="2923032"/>
            <a:chExt cx="117221" cy="92456"/>
          </a:xfrm>
        </p:grpSpPr>
        <p:cxnSp>
          <p:nvCxnSpPr>
            <p:cNvPr id="29" name="Connector 28"/>
            <p:cNvCxnSpPr/>
            <p:nvPr/>
          </p:nvCxnSpPr>
          <p:spPr>
            <a:xfrm>
              <a:off x="5168116" y="29725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5209391" y="29230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31" name="matrix-yes-2-2"/>
          <p:cNvGrpSpPr/>
          <p:nvPr/>
        </p:nvGrpSpPr>
        <p:grpSpPr>
          <a:xfrm>
            <a:off x="6296134" y="2923032"/>
            <a:ext cx="117221" cy="92456"/>
            <a:chOff x="6296134" y="2923032"/>
            <a:chExt cx="117221" cy="92456"/>
          </a:xfrm>
        </p:grpSpPr>
        <p:cxnSp>
          <p:nvCxnSpPr>
            <p:cNvPr id="32" name="Connector 31"/>
            <p:cNvCxnSpPr/>
            <p:nvPr/>
          </p:nvCxnSpPr>
          <p:spPr>
            <a:xfrm>
              <a:off x="6296134" y="29725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6337409" y="29230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34" name="matrix-yes-2-3"/>
          <p:cNvGrpSpPr/>
          <p:nvPr/>
        </p:nvGrpSpPr>
        <p:grpSpPr>
          <a:xfrm>
            <a:off x="7424152" y="2923032"/>
            <a:ext cx="117221" cy="92456"/>
            <a:chOff x="7424152" y="2923032"/>
            <a:chExt cx="117221" cy="92456"/>
          </a:xfrm>
        </p:grpSpPr>
        <p:cxnSp>
          <p:nvCxnSpPr>
            <p:cNvPr id="35" name="Connector 34"/>
            <p:cNvCxnSpPr/>
            <p:nvPr/>
          </p:nvCxnSpPr>
          <p:spPr>
            <a:xfrm>
              <a:off x="7424152" y="29725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7465427" y="29230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37" name="matrix-yes-2-4"/>
          <p:cNvGrpSpPr/>
          <p:nvPr/>
        </p:nvGrpSpPr>
        <p:grpSpPr>
          <a:xfrm>
            <a:off x="8552170" y="2923032"/>
            <a:ext cx="117221" cy="92456"/>
            <a:chOff x="8552170" y="2923032"/>
            <a:chExt cx="117221" cy="92456"/>
          </a:xfrm>
        </p:grpSpPr>
        <p:cxnSp>
          <p:nvCxnSpPr>
            <p:cNvPr id="38" name="Connector 37"/>
            <p:cNvCxnSpPr/>
            <p:nvPr/>
          </p:nvCxnSpPr>
          <p:spPr>
            <a:xfrm>
              <a:off x="8552170" y="29725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593445" y="29230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40" name="matrix-yes-2-5"/>
          <p:cNvGrpSpPr/>
          <p:nvPr/>
        </p:nvGrpSpPr>
        <p:grpSpPr>
          <a:xfrm>
            <a:off x="9680188" y="2923032"/>
            <a:ext cx="117221" cy="92456"/>
            <a:chOff x="9680188" y="2923032"/>
            <a:chExt cx="117221" cy="92456"/>
          </a:xfrm>
        </p:grpSpPr>
        <p:cxnSp>
          <p:nvCxnSpPr>
            <p:cNvPr id="41" name="Connector 40"/>
            <p:cNvCxnSpPr/>
            <p:nvPr/>
          </p:nvCxnSpPr>
          <p:spPr>
            <a:xfrm>
              <a:off x="9680188" y="29725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9721463" y="29230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43" name="matrix-yes-2-6"/>
          <p:cNvGrpSpPr/>
          <p:nvPr/>
        </p:nvGrpSpPr>
        <p:grpSpPr>
          <a:xfrm>
            <a:off x="10808206" y="2923032"/>
            <a:ext cx="117221" cy="92456"/>
            <a:chOff x="10808206" y="2923032"/>
            <a:chExt cx="117221" cy="92456"/>
          </a:xfrm>
        </p:grpSpPr>
        <p:cxnSp>
          <p:nvCxnSpPr>
            <p:cNvPr id="44" name="Connector 43"/>
            <p:cNvCxnSpPr/>
            <p:nvPr/>
          </p:nvCxnSpPr>
          <p:spPr>
            <a:xfrm>
              <a:off x="10808206" y="29725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0849481" y="29230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46" name="matrix-line-3"/>
          <p:cNvSpPr/>
          <p:nvPr/>
        </p:nvSpPr>
        <p:spPr>
          <a:xfrm>
            <a:off x="762000" y="3122930"/>
            <a:ext cx="10668000" cy="12700"/>
          </a:xfrm>
          <a:prstGeom prst="rect">
            <a:avLst/>
          </a:prstGeom>
          <a:solidFill>
            <a:srgbClr val="D9D9D9"/>
          </a:solidFill>
          <a:ln>
            <a:noFill/>
          </a:ln>
        </p:spPr>
        <p:txBody>
          <a:bodyPr rtlCol="0" anchor="ctr"/>
          <a:lstStyle/>
          <a:p>
            <a:pPr algn="ctr"/>
          </a:p>
        </p:txBody>
      </p:sp>
      <p:sp>
        <p:nvSpPr>
          <p:cNvPr id="47" name="matrix-row-3"/>
          <p:cNvSpPr txBox="1"/>
          <p:nvPr/>
        </p:nvSpPr>
        <p:spPr>
          <a:xfrm>
            <a:off x="914400" y="312928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Hersteller von Elektrogeräten</a:t>
            </a:r>
          </a:p>
        </p:txBody>
      </p:sp>
      <p:grpSp>
        <p:nvGrpSpPr>
          <p:cNvPr id="48" name="matrix-yes-3-1"/>
          <p:cNvGrpSpPr/>
          <p:nvPr/>
        </p:nvGrpSpPr>
        <p:grpSpPr>
          <a:xfrm>
            <a:off x="5168116" y="3243072"/>
            <a:ext cx="117221" cy="92456"/>
            <a:chOff x="5168116" y="3243072"/>
            <a:chExt cx="117221" cy="92456"/>
          </a:xfrm>
        </p:grpSpPr>
        <p:cxnSp>
          <p:nvCxnSpPr>
            <p:cNvPr id="49" name="Connector 48"/>
            <p:cNvCxnSpPr/>
            <p:nvPr/>
          </p:nvCxnSpPr>
          <p:spPr>
            <a:xfrm>
              <a:off x="5168116" y="329260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5209391" y="324307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51" name="matrix-yes-3-2"/>
          <p:cNvGrpSpPr/>
          <p:nvPr/>
        </p:nvGrpSpPr>
        <p:grpSpPr>
          <a:xfrm>
            <a:off x="6296134" y="3243072"/>
            <a:ext cx="117221" cy="92456"/>
            <a:chOff x="6296134" y="3243072"/>
            <a:chExt cx="117221" cy="92456"/>
          </a:xfrm>
        </p:grpSpPr>
        <p:cxnSp>
          <p:nvCxnSpPr>
            <p:cNvPr id="52" name="Connector 51"/>
            <p:cNvCxnSpPr/>
            <p:nvPr/>
          </p:nvCxnSpPr>
          <p:spPr>
            <a:xfrm>
              <a:off x="6296134" y="329260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6337409" y="324307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54" name="matrix-no-3-3"/>
          <p:cNvSpPr txBox="1"/>
          <p:nvPr/>
        </p:nvSpPr>
        <p:spPr>
          <a:xfrm>
            <a:off x="6917928" y="312928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55" name="matrix-no-3-4"/>
          <p:cNvSpPr txBox="1"/>
          <p:nvPr/>
        </p:nvSpPr>
        <p:spPr>
          <a:xfrm>
            <a:off x="8045946" y="312928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56" name="matrix-no-3-5"/>
          <p:cNvSpPr txBox="1"/>
          <p:nvPr/>
        </p:nvSpPr>
        <p:spPr>
          <a:xfrm>
            <a:off x="9173964" y="312928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57" name="matrix-no-3-6"/>
          <p:cNvSpPr txBox="1"/>
          <p:nvPr/>
        </p:nvSpPr>
        <p:spPr>
          <a:xfrm>
            <a:off x="10301982" y="312928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58" name="matrix-line-4"/>
          <p:cNvSpPr/>
          <p:nvPr/>
        </p:nvSpPr>
        <p:spPr>
          <a:xfrm>
            <a:off x="762000" y="3442970"/>
            <a:ext cx="10668000" cy="12700"/>
          </a:xfrm>
          <a:prstGeom prst="rect">
            <a:avLst/>
          </a:prstGeom>
          <a:solidFill>
            <a:srgbClr val="D9D9D9"/>
          </a:solidFill>
          <a:ln>
            <a:noFill/>
          </a:ln>
        </p:spPr>
        <p:txBody>
          <a:bodyPr rtlCol="0" anchor="ctr"/>
          <a:lstStyle/>
          <a:p>
            <a:pPr algn="ctr"/>
          </a:p>
        </p:txBody>
      </p:sp>
      <p:sp>
        <p:nvSpPr>
          <p:cNvPr id="59" name="matrix-row-4"/>
          <p:cNvSpPr txBox="1"/>
          <p:nvPr/>
        </p:nvSpPr>
        <p:spPr>
          <a:xfrm>
            <a:off x="914400" y="344932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Vertreiber von Elektrogeräten</a:t>
            </a:r>
          </a:p>
        </p:txBody>
      </p:sp>
      <p:grpSp>
        <p:nvGrpSpPr>
          <p:cNvPr id="60" name="matrix-yes-4-1"/>
          <p:cNvGrpSpPr/>
          <p:nvPr/>
        </p:nvGrpSpPr>
        <p:grpSpPr>
          <a:xfrm>
            <a:off x="5168116" y="3563112"/>
            <a:ext cx="117221" cy="92456"/>
            <a:chOff x="5168116" y="3563112"/>
            <a:chExt cx="117221" cy="92456"/>
          </a:xfrm>
        </p:grpSpPr>
        <p:cxnSp>
          <p:nvCxnSpPr>
            <p:cNvPr id="61" name="Connector 60"/>
            <p:cNvCxnSpPr/>
            <p:nvPr/>
          </p:nvCxnSpPr>
          <p:spPr>
            <a:xfrm>
              <a:off x="5168116" y="361264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209391" y="356311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63" name="matrix-yes-4-2"/>
          <p:cNvGrpSpPr/>
          <p:nvPr/>
        </p:nvGrpSpPr>
        <p:grpSpPr>
          <a:xfrm>
            <a:off x="6296134" y="3563112"/>
            <a:ext cx="117221" cy="92456"/>
            <a:chOff x="6296134" y="3563112"/>
            <a:chExt cx="117221" cy="92456"/>
          </a:xfrm>
        </p:grpSpPr>
        <p:cxnSp>
          <p:nvCxnSpPr>
            <p:cNvPr id="64" name="Connector 63"/>
            <p:cNvCxnSpPr/>
            <p:nvPr/>
          </p:nvCxnSpPr>
          <p:spPr>
            <a:xfrm>
              <a:off x="6296134" y="361264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6337409" y="356311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66" name="matrix-no-4-3"/>
          <p:cNvSpPr txBox="1"/>
          <p:nvPr/>
        </p:nvSpPr>
        <p:spPr>
          <a:xfrm>
            <a:off x="6917928" y="344932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67" name="matrix-no-4-4"/>
          <p:cNvSpPr txBox="1"/>
          <p:nvPr/>
        </p:nvSpPr>
        <p:spPr>
          <a:xfrm>
            <a:off x="8045946" y="344932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68" name="matrix-no-4-5"/>
          <p:cNvSpPr txBox="1"/>
          <p:nvPr/>
        </p:nvSpPr>
        <p:spPr>
          <a:xfrm>
            <a:off x="9173964" y="344932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69" name="matrix-no-4-6"/>
          <p:cNvSpPr txBox="1"/>
          <p:nvPr/>
        </p:nvSpPr>
        <p:spPr>
          <a:xfrm>
            <a:off x="10301982" y="344932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70" name="matrix-line-5"/>
          <p:cNvSpPr/>
          <p:nvPr/>
        </p:nvSpPr>
        <p:spPr>
          <a:xfrm>
            <a:off x="762000" y="3763010"/>
            <a:ext cx="10668000" cy="12700"/>
          </a:xfrm>
          <a:prstGeom prst="rect">
            <a:avLst/>
          </a:prstGeom>
          <a:solidFill>
            <a:srgbClr val="D9D9D9"/>
          </a:solidFill>
          <a:ln>
            <a:noFill/>
          </a:ln>
        </p:spPr>
        <p:txBody>
          <a:bodyPr rtlCol="0" anchor="ctr"/>
          <a:lstStyle/>
          <a:p>
            <a:pPr algn="ctr"/>
          </a:p>
        </p:txBody>
      </p:sp>
      <p:sp>
        <p:nvSpPr>
          <p:cNvPr id="71" name="matrix-row-5"/>
          <p:cNvSpPr txBox="1"/>
          <p:nvPr/>
        </p:nvSpPr>
        <p:spPr>
          <a:xfrm>
            <a:off x="914400" y="376936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Batteriehersteller / -importeure</a:t>
            </a:r>
          </a:p>
        </p:txBody>
      </p:sp>
      <p:grpSp>
        <p:nvGrpSpPr>
          <p:cNvPr id="72" name="matrix-yes-5-1"/>
          <p:cNvGrpSpPr/>
          <p:nvPr/>
        </p:nvGrpSpPr>
        <p:grpSpPr>
          <a:xfrm>
            <a:off x="5168116" y="3883152"/>
            <a:ext cx="117221" cy="92456"/>
            <a:chOff x="5168116" y="3883152"/>
            <a:chExt cx="117221" cy="92456"/>
          </a:xfrm>
        </p:grpSpPr>
        <p:cxnSp>
          <p:nvCxnSpPr>
            <p:cNvPr id="73" name="Connector 72"/>
            <p:cNvCxnSpPr/>
            <p:nvPr/>
          </p:nvCxnSpPr>
          <p:spPr>
            <a:xfrm>
              <a:off x="5168116" y="393268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V="1">
              <a:off x="5209391" y="388315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75" name="matrix-no-5-2"/>
          <p:cNvSpPr txBox="1"/>
          <p:nvPr/>
        </p:nvSpPr>
        <p:spPr>
          <a:xfrm>
            <a:off x="5789910" y="376936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grpSp>
        <p:nvGrpSpPr>
          <p:cNvPr id="76" name="matrix-yes-5-3"/>
          <p:cNvGrpSpPr/>
          <p:nvPr/>
        </p:nvGrpSpPr>
        <p:grpSpPr>
          <a:xfrm>
            <a:off x="7424152" y="3883152"/>
            <a:ext cx="117221" cy="92456"/>
            <a:chOff x="7424152" y="3883152"/>
            <a:chExt cx="117221" cy="92456"/>
          </a:xfrm>
        </p:grpSpPr>
        <p:cxnSp>
          <p:nvCxnSpPr>
            <p:cNvPr id="77" name="Connector 76"/>
            <p:cNvCxnSpPr/>
            <p:nvPr/>
          </p:nvCxnSpPr>
          <p:spPr>
            <a:xfrm>
              <a:off x="7424152" y="393268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7465427" y="388315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79" name="matrix-no-5-4"/>
          <p:cNvSpPr txBox="1"/>
          <p:nvPr/>
        </p:nvSpPr>
        <p:spPr>
          <a:xfrm>
            <a:off x="8045946" y="376936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80" name="matrix-no-5-5"/>
          <p:cNvSpPr txBox="1"/>
          <p:nvPr/>
        </p:nvSpPr>
        <p:spPr>
          <a:xfrm>
            <a:off x="9173964" y="376936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81" name="matrix-no-5-6"/>
          <p:cNvSpPr txBox="1"/>
          <p:nvPr/>
        </p:nvSpPr>
        <p:spPr>
          <a:xfrm>
            <a:off x="10301982" y="376936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82" name="matrix-line-6"/>
          <p:cNvSpPr/>
          <p:nvPr/>
        </p:nvSpPr>
        <p:spPr>
          <a:xfrm>
            <a:off x="762000" y="4083050"/>
            <a:ext cx="10668000" cy="12700"/>
          </a:xfrm>
          <a:prstGeom prst="rect">
            <a:avLst/>
          </a:prstGeom>
          <a:solidFill>
            <a:srgbClr val="D9D9D9"/>
          </a:solidFill>
          <a:ln>
            <a:noFill/>
          </a:ln>
        </p:spPr>
        <p:txBody>
          <a:bodyPr rtlCol="0" anchor="ctr"/>
          <a:lstStyle/>
          <a:p>
            <a:pPr algn="ctr"/>
          </a:p>
        </p:txBody>
      </p:sp>
      <p:sp>
        <p:nvSpPr>
          <p:cNvPr id="83" name="matrix-row-6"/>
          <p:cNvSpPr txBox="1"/>
          <p:nvPr/>
        </p:nvSpPr>
        <p:spPr>
          <a:xfrm>
            <a:off x="914400" y="408940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Vertreiber von Batterien</a:t>
            </a:r>
          </a:p>
        </p:txBody>
      </p:sp>
      <p:grpSp>
        <p:nvGrpSpPr>
          <p:cNvPr id="84" name="matrix-yes-6-1"/>
          <p:cNvGrpSpPr/>
          <p:nvPr/>
        </p:nvGrpSpPr>
        <p:grpSpPr>
          <a:xfrm>
            <a:off x="5168116" y="4203192"/>
            <a:ext cx="117221" cy="92456"/>
            <a:chOff x="5168116" y="4203192"/>
            <a:chExt cx="117221" cy="92456"/>
          </a:xfrm>
        </p:grpSpPr>
        <p:cxnSp>
          <p:nvCxnSpPr>
            <p:cNvPr id="85" name="Connector 84"/>
            <p:cNvCxnSpPr/>
            <p:nvPr/>
          </p:nvCxnSpPr>
          <p:spPr>
            <a:xfrm>
              <a:off x="5168116" y="425272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5209391" y="420319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87" name="matrix-no-6-2"/>
          <p:cNvSpPr txBox="1"/>
          <p:nvPr/>
        </p:nvSpPr>
        <p:spPr>
          <a:xfrm>
            <a:off x="5789910" y="408940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grpSp>
        <p:nvGrpSpPr>
          <p:cNvPr id="88" name="matrix-yes-6-3"/>
          <p:cNvGrpSpPr/>
          <p:nvPr/>
        </p:nvGrpSpPr>
        <p:grpSpPr>
          <a:xfrm>
            <a:off x="7424152" y="4203192"/>
            <a:ext cx="117221" cy="92456"/>
            <a:chOff x="7424152" y="4203192"/>
            <a:chExt cx="117221" cy="92456"/>
          </a:xfrm>
        </p:grpSpPr>
        <p:cxnSp>
          <p:nvCxnSpPr>
            <p:cNvPr id="89" name="Connector 88"/>
            <p:cNvCxnSpPr/>
            <p:nvPr/>
          </p:nvCxnSpPr>
          <p:spPr>
            <a:xfrm>
              <a:off x="7424152" y="425272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7465427" y="420319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91" name="matrix-no-6-4"/>
          <p:cNvSpPr txBox="1"/>
          <p:nvPr/>
        </p:nvSpPr>
        <p:spPr>
          <a:xfrm>
            <a:off x="8045946" y="408940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92" name="matrix-no-6-5"/>
          <p:cNvSpPr txBox="1"/>
          <p:nvPr/>
        </p:nvSpPr>
        <p:spPr>
          <a:xfrm>
            <a:off x="9173964" y="408940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93" name="matrix-no-6-6"/>
          <p:cNvSpPr txBox="1"/>
          <p:nvPr/>
        </p:nvSpPr>
        <p:spPr>
          <a:xfrm>
            <a:off x="10301982" y="408940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94" name="matrix-line-7"/>
          <p:cNvSpPr/>
          <p:nvPr/>
        </p:nvSpPr>
        <p:spPr>
          <a:xfrm>
            <a:off x="762000" y="4403090"/>
            <a:ext cx="10668000" cy="12700"/>
          </a:xfrm>
          <a:prstGeom prst="rect">
            <a:avLst/>
          </a:prstGeom>
          <a:solidFill>
            <a:srgbClr val="D9D9D9"/>
          </a:solidFill>
          <a:ln>
            <a:noFill/>
          </a:ln>
        </p:spPr>
        <p:txBody>
          <a:bodyPr rtlCol="0" anchor="ctr"/>
          <a:lstStyle/>
          <a:p>
            <a:pPr algn="ctr"/>
          </a:p>
        </p:txBody>
      </p:sp>
      <p:sp>
        <p:nvSpPr>
          <p:cNvPr id="95" name="matrix-row-7"/>
          <p:cNvSpPr txBox="1"/>
          <p:nvPr/>
        </p:nvSpPr>
        <p:spPr>
          <a:xfrm>
            <a:off x="914400" y="440944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Rücknahmesysteme</a:t>
            </a:r>
          </a:p>
        </p:txBody>
      </p:sp>
      <p:grpSp>
        <p:nvGrpSpPr>
          <p:cNvPr id="96" name="matrix-yes-7-1"/>
          <p:cNvGrpSpPr/>
          <p:nvPr/>
        </p:nvGrpSpPr>
        <p:grpSpPr>
          <a:xfrm>
            <a:off x="5168116" y="4523232"/>
            <a:ext cx="117221" cy="92456"/>
            <a:chOff x="5168116" y="4523232"/>
            <a:chExt cx="117221" cy="92456"/>
          </a:xfrm>
        </p:grpSpPr>
        <p:cxnSp>
          <p:nvCxnSpPr>
            <p:cNvPr id="97" name="Connector 96"/>
            <p:cNvCxnSpPr/>
            <p:nvPr/>
          </p:nvCxnSpPr>
          <p:spPr>
            <a:xfrm>
              <a:off x="5168116" y="45727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5209391" y="45232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99" name="matrix-yes-7-2"/>
          <p:cNvGrpSpPr/>
          <p:nvPr/>
        </p:nvGrpSpPr>
        <p:grpSpPr>
          <a:xfrm>
            <a:off x="6296134" y="4523232"/>
            <a:ext cx="117221" cy="92456"/>
            <a:chOff x="6296134" y="4523232"/>
            <a:chExt cx="117221" cy="92456"/>
          </a:xfrm>
        </p:grpSpPr>
        <p:cxnSp>
          <p:nvCxnSpPr>
            <p:cNvPr id="100" name="Connector 99"/>
            <p:cNvCxnSpPr/>
            <p:nvPr/>
          </p:nvCxnSpPr>
          <p:spPr>
            <a:xfrm>
              <a:off x="6296134" y="45727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6337409" y="45232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102" name="matrix-yes-7-3"/>
          <p:cNvGrpSpPr/>
          <p:nvPr/>
        </p:nvGrpSpPr>
        <p:grpSpPr>
          <a:xfrm>
            <a:off x="7424152" y="4523232"/>
            <a:ext cx="117221" cy="92456"/>
            <a:chOff x="7424152" y="4523232"/>
            <a:chExt cx="117221" cy="92456"/>
          </a:xfrm>
        </p:grpSpPr>
        <p:cxnSp>
          <p:nvCxnSpPr>
            <p:cNvPr id="103" name="Connector 102"/>
            <p:cNvCxnSpPr/>
            <p:nvPr/>
          </p:nvCxnSpPr>
          <p:spPr>
            <a:xfrm>
              <a:off x="7424152" y="457276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7465427" y="452323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105" name="matrix-no-7-4"/>
          <p:cNvSpPr txBox="1"/>
          <p:nvPr/>
        </p:nvSpPr>
        <p:spPr>
          <a:xfrm>
            <a:off x="8045946" y="440944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06" name="matrix-no-7-5"/>
          <p:cNvSpPr txBox="1"/>
          <p:nvPr/>
        </p:nvSpPr>
        <p:spPr>
          <a:xfrm>
            <a:off x="9173964" y="440944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07" name="matrix-no-7-6"/>
          <p:cNvSpPr txBox="1"/>
          <p:nvPr/>
        </p:nvSpPr>
        <p:spPr>
          <a:xfrm>
            <a:off x="10301982" y="440944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08" name="matrix-line-8"/>
          <p:cNvSpPr/>
          <p:nvPr/>
        </p:nvSpPr>
        <p:spPr>
          <a:xfrm>
            <a:off x="762000" y="4723130"/>
            <a:ext cx="10668000" cy="12700"/>
          </a:xfrm>
          <a:prstGeom prst="rect">
            <a:avLst/>
          </a:prstGeom>
          <a:solidFill>
            <a:srgbClr val="D9D9D9"/>
          </a:solidFill>
          <a:ln>
            <a:noFill/>
          </a:ln>
        </p:spPr>
        <p:txBody>
          <a:bodyPr rtlCol="0" anchor="ctr"/>
          <a:lstStyle/>
          <a:p>
            <a:pPr algn="ctr"/>
          </a:p>
        </p:txBody>
      </p:sp>
      <p:sp>
        <p:nvSpPr>
          <p:cNvPr id="109" name="matrix-row-8"/>
          <p:cNvSpPr txBox="1"/>
          <p:nvPr/>
        </p:nvSpPr>
        <p:spPr>
          <a:xfrm>
            <a:off x="914400" y="472948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Gewerbliche Abfallerzeuger</a:t>
            </a:r>
          </a:p>
        </p:txBody>
      </p:sp>
      <p:grpSp>
        <p:nvGrpSpPr>
          <p:cNvPr id="110" name="matrix-yes-8-1"/>
          <p:cNvGrpSpPr/>
          <p:nvPr/>
        </p:nvGrpSpPr>
        <p:grpSpPr>
          <a:xfrm>
            <a:off x="5168116" y="4843272"/>
            <a:ext cx="117221" cy="92456"/>
            <a:chOff x="5168116" y="4843272"/>
            <a:chExt cx="117221" cy="92456"/>
          </a:xfrm>
        </p:grpSpPr>
        <p:cxnSp>
          <p:nvCxnSpPr>
            <p:cNvPr id="111" name="Connector 110"/>
            <p:cNvCxnSpPr/>
            <p:nvPr/>
          </p:nvCxnSpPr>
          <p:spPr>
            <a:xfrm>
              <a:off x="5168116" y="489280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5209391" y="484327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113" name="matrix-no-8-2"/>
          <p:cNvSpPr txBox="1"/>
          <p:nvPr/>
        </p:nvSpPr>
        <p:spPr>
          <a:xfrm>
            <a:off x="5789910" y="472948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14" name="matrix-no-8-3"/>
          <p:cNvSpPr txBox="1"/>
          <p:nvPr/>
        </p:nvSpPr>
        <p:spPr>
          <a:xfrm>
            <a:off x="6917928" y="472948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grpSp>
        <p:nvGrpSpPr>
          <p:cNvPr id="115" name="matrix-yes-8-4"/>
          <p:cNvGrpSpPr/>
          <p:nvPr/>
        </p:nvGrpSpPr>
        <p:grpSpPr>
          <a:xfrm>
            <a:off x="8552170" y="4843272"/>
            <a:ext cx="117221" cy="92456"/>
            <a:chOff x="8552170" y="4843272"/>
            <a:chExt cx="117221" cy="92456"/>
          </a:xfrm>
        </p:grpSpPr>
        <p:cxnSp>
          <p:nvCxnSpPr>
            <p:cNvPr id="116" name="Connector 115"/>
            <p:cNvCxnSpPr/>
            <p:nvPr/>
          </p:nvCxnSpPr>
          <p:spPr>
            <a:xfrm>
              <a:off x="8552170" y="489280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8593445" y="484327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118" name="matrix-yes-8-5"/>
          <p:cNvGrpSpPr/>
          <p:nvPr/>
        </p:nvGrpSpPr>
        <p:grpSpPr>
          <a:xfrm>
            <a:off x="9680188" y="4843272"/>
            <a:ext cx="117221" cy="92456"/>
            <a:chOff x="9680188" y="4843272"/>
            <a:chExt cx="117221" cy="92456"/>
          </a:xfrm>
        </p:grpSpPr>
        <p:cxnSp>
          <p:nvCxnSpPr>
            <p:cNvPr id="119" name="Connector 118"/>
            <p:cNvCxnSpPr/>
            <p:nvPr/>
          </p:nvCxnSpPr>
          <p:spPr>
            <a:xfrm>
              <a:off x="9680188" y="489280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9721463" y="484327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121" name="matrix-yes-8-6"/>
          <p:cNvGrpSpPr/>
          <p:nvPr/>
        </p:nvGrpSpPr>
        <p:grpSpPr>
          <a:xfrm>
            <a:off x="10808206" y="4843272"/>
            <a:ext cx="117221" cy="92456"/>
            <a:chOff x="10808206" y="4843272"/>
            <a:chExt cx="117221" cy="92456"/>
          </a:xfrm>
        </p:grpSpPr>
        <p:cxnSp>
          <p:nvCxnSpPr>
            <p:cNvPr id="122" name="Connector 121"/>
            <p:cNvCxnSpPr/>
            <p:nvPr/>
          </p:nvCxnSpPr>
          <p:spPr>
            <a:xfrm>
              <a:off x="10808206" y="489280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10849481" y="484327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124" name="matrix-line-9"/>
          <p:cNvSpPr/>
          <p:nvPr/>
        </p:nvSpPr>
        <p:spPr>
          <a:xfrm>
            <a:off x="762000" y="5043170"/>
            <a:ext cx="10668000" cy="12700"/>
          </a:xfrm>
          <a:prstGeom prst="rect">
            <a:avLst/>
          </a:prstGeom>
          <a:solidFill>
            <a:srgbClr val="D9D9D9"/>
          </a:solidFill>
          <a:ln>
            <a:noFill/>
          </a:ln>
        </p:spPr>
        <p:txBody>
          <a:bodyPr rtlCol="0" anchor="ctr"/>
          <a:lstStyle/>
          <a:p>
            <a:pPr algn="ctr"/>
          </a:p>
        </p:txBody>
      </p:sp>
      <p:sp>
        <p:nvSpPr>
          <p:cNvPr id="125" name="matrix-row-9"/>
          <p:cNvSpPr txBox="1"/>
          <p:nvPr/>
        </p:nvSpPr>
        <p:spPr>
          <a:xfrm>
            <a:off x="914400" y="504952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Händler / Makler von Abfällen</a:t>
            </a:r>
          </a:p>
        </p:txBody>
      </p:sp>
      <p:grpSp>
        <p:nvGrpSpPr>
          <p:cNvPr id="126" name="matrix-yes-9-1"/>
          <p:cNvGrpSpPr/>
          <p:nvPr/>
        </p:nvGrpSpPr>
        <p:grpSpPr>
          <a:xfrm>
            <a:off x="5168116" y="5163312"/>
            <a:ext cx="117221" cy="92456"/>
            <a:chOff x="5168116" y="5163312"/>
            <a:chExt cx="117221" cy="92456"/>
          </a:xfrm>
        </p:grpSpPr>
        <p:cxnSp>
          <p:nvCxnSpPr>
            <p:cNvPr id="127" name="Connector 126"/>
            <p:cNvCxnSpPr/>
            <p:nvPr/>
          </p:nvCxnSpPr>
          <p:spPr>
            <a:xfrm>
              <a:off x="5168116" y="521284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5209391" y="516331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129" name="matrix-no-9-2"/>
          <p:cNvSpPr txBox="1"/>
          <p:nvPr/>
        </p:nvSpPr>
        <p:spPr>
          <a:xfrm>
            <a:off x="5789910" y="504952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30" name="matrix-no-9-3"/>
          <p:cNvSpPr txBox="1"/>
          <p:nvPr/>
        </p:nvSpPr>
        <p:spPr>
          <a:xfrm>
            <a:off x="6917928" y="504952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31" name="matrix-no-9-4"/>
          <p:cNvSpPr txBox="1"/>
          <p:nvPr/>
        </p:nvSpPr>
        <p:spPr>
          <a:xfrm>
            <a:off x="8045946" y="504952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grpSp>
        <p:nvGrpSpPr>
          <p:cNvPr id="132" name="matrix-yes-9-5"/>
          <p:cNvGrpSpPr/>
          <p:nvPr/>
        </p:nvGrpSpPr>
        <p:grpSpPr>
          <a:xfrm>
            <a:off x="9680188" y="5163312"/>
            <a:ext cx="117221" cy="92456"/>
            <a:chOff x="9680188" y="5163312"/>
            <a:chExt cx="117221" cy="92456"/>
          </a:xfrm>
        </p:grpSpPr>
        <p:cxnSp>
          <p:nvCxnSpPr>
            <p:cNvPr id="133" name="Connector 132"/>
            <p:cNvCxnSpPr/>
            <p:nvPr/>
          </p:nvCxnSpPr>
          <p:spPr>
            <a:xfrm>
              <a:off x="9680188" y="521284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9721463" y="516331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135" name="matrix-yes-9-6"/>
          <p:cNvGrpSpPr/>
          <p:nvPr/>
        </p:nvGrpSpPr>
        <p:grpSpPr>
          <a:xfrm>
            <a:off x="10808206" y="5163312"/>
            <a:ext cx="117221" cy="92456"/>
            <a:chOff x="10808206" y="5163312"/>
            <a:chExt cx="117221" cy="92456"/>
          </a:xfrm>
        </p:grpSpPr>
        <p:cxnSp>
          <p:nvCxnSpPr>
            <p:cNvPr id="136" name="Connector 135"/>
            <p:cNvCxnSpPr/>
            <p:nvPr/>
          </p:nvCxnSpPr>
          <p:spPr>
            <a:xfrm>
              <a:off x="10808206" y="521284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10849481" y="516331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138" name="matrix-line-10"/>
          <p:cNvSpPr/>
          <p:nvPr/>
        </p:nvSpPr>
        <p:spPr>
          <a:xfrm>
            <a:off x="762000" y="5363210"/>
            <a:ext cx="10668000" cy="12700"/>
          </a:xfrm>
          <a:prstGeom prst="rect">
            <a:avLst/>
          </a:prstGeom>
          <a:solidFill>
            <a:srgbClr val="D9D9D9"/>
          </a:solidFill>
          <a:ln>
            <a:noFill/>
          </a:ln>
        </p:spPr>
        <p:txBody>
          <a:bodyPr rtlCol="0" anchor="ctr"/>
          <a:lstStyle/>
          <a:p>
            <a:pPr algn="ctr"/>
          </a:p>
        </p:txBody>
      </p:sp>
      <p:sp>
        <p:nvSpPr>
          <p:cNvPr id="139" name="matrix-row-10"/>
          <p:cNvSpPr txBox="1"/>
          <p:nvPr/>
        </p:nvSpPr>
        <p:spPr>
          <a:xfrm>
            <a:off x="914400" y="5369560"/>
            <a:ext cx="3696692" cy="320040"/>
          </a:xfrm>
          <a:prstGeom prst="rect">
            <a:avLst/>
          </a:prstGeom>
          <a:noFill/>
        </p:spPr>
        <p:txBody>
          <a:bodyPr wrap="square" lIns="0" rIns="0" tIns="0" bIns="0" anchor="ctr">
            <a:noAutofit/>
          </a:bodyPr>
          <a:lstStyle/>
          <a:p>
            <a:pPr algn="l"/>
            <a:r>
              <a:rPr sz="1600" b="0" i="0" lang="de-DE">
                <a:solidFill>
                  <a:srgbClr val="043751"/>
                </a:solidFill>
                <a:latin typeface="IBM Plex Sans Medium"/>
              </a:rPr>
              <a:t>Importeure</a:t>
            </a:r>
          </a:p>
        </p:txBody>
      </p:sp>
      <p:grpSp>
        <p:nvGrpSpPr>
          <p:cNvPr id="140" name="matrix-yes-10-1"/>
          <p:cNvGrpSpPr/>
          <p:nvPr/>
        </p:nvGrpSpPr>
        <p:grpSpPr>
          <a:xfrm>
            <a:off x="5168116" y="5483352"/>
            <a:ext cx="117221" cy="92456"/>
            <a:chOff x="5168116" y="5483352"/>
            <a:chExt cx="117221" cy="92456"/>
          </a:xfrm>
        </p:grpSpPr>
        <p:cxnSp>
          <p:nvCxnSpPr>
            <p:cNvPr id="141" name="Connector 140"/>
            <p:cNvCxnSpPr/>
            <p:nvPr/>
          </p:nvCxnSpPr>
          <p:spPr>
            <a:xfrm>
              <a:off x="5168116" y="553288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5209391" y="548335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143" name="matrix-yes-10-2"/>
          <p:cNvGrpSpPr/>
          <p:nvPr/>
        </p:nvGrpSpPr>
        <p:grpSpPr>
          <a:xfrm>
            <a:off x="6296134" y="5483352"/>
            <a:ext cx="117221" cy="92456"/>
            <a:chOff x="6296134" y="5483352"/>
            <a:chExt cx="117221" cy="92456"/>
          </a:xfrm>
        </p:grpSpPr>
        <p:cxnSp>
          <p:nvCxnSpPr>
            <p:cNvPr id="144" name="Connector 143"/>
            <p:cNvCxnSpPr/>
            <p:nvPr/>
          </p:nvCxnSpPr>
          <p:spPr>
            <a:xfrm>
              <a:off x="6296134" y="553288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6337409" y="548335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grpSp>
        <p:nvGrpSpPr>
          <p:cNvPr id="146" name="matrix-yes-10-3"/>
          <p:cNvGrpSpPr/>
          <p:nvPr/>
        </p:nvGrpSpPr>
        <p:grpSpPr>
          <a:xfrm>
            <a:off x="7424152" y="5483352"/>
            <a:ext cx="117221" cy="92456"/>
            <a:chOff x="7424152" y="5483352"/>
            <a:chExt cx="117221" cy="92456"/>
          </a:xfrm>
        </p:grpSpPr>
        <p:cxnSp>
          <p:nvCxnSpPr>
            <p:cNvPr id="147" name="Connector 146"/>
            <p:cNvCxnSpPr/>
            <p:nvPr/>
          </p:nvCxnSpPr>
          <p:spPr>
            <a:xfrm>
              <a:off x="7424152" y="5532882"/>
              <a:ext cx="41275" cy="4292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7465427" y="5483352"/>
              <a:ext cx="75946" cy="92456"/>
            </a:xfrm>
            <a:prstGeom prst="line">
              <a:avLst/>
            </a:prstGeom>
            <a:ln w="19812">
              <a:solidFill>
                <a:srgbClr val="4F7A1E"/>
              </a:solidFill>
            </a:ln>
          </p:spPr>
          <p:style>
            <a:lnRef idx="2">
              <a:schemeClr val="accent1"/>
            </a:lnRef>
            <a:fillRef idx="0">
              <a:schemeClr val="accent1"/>
            </a:fillRef>
            <a:effectRef idx="1">
              <a:schemeClr val="accent1"/>
            </a:effectRef>
            <a:fontRef idx="minor">
              <a:schemeClr val="tx1"/>
            </a:fontRef>
          </p:style>
        </p:cxnSp>
      </p:grpSp>
      <p:sp>
        <p:nvSpPr>
          <p:cNvPr id="149" name="matrix-no-10-4"/>
          <p:cNvSpPr txBox="1"/>
          <p:nvPr/>
        </p:nvSpPr>
        <p:spPr>
          <a:xfrm>
            <a:off x="8045946" y="536956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50" name="matrix-no-10-5"/>
          <p:cNvSpPr txBox="1"/>
          <p:nvPr/>
        </p:nvSpPr>
        <p:spPr>
          <a:xfrm>
            <a:off x="9173964" y="536956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51" name="matrix-no-10-6"/>
          <p:cNvSpPr txBox="1"/>
          <p:nvPr/>
        </p:nvSpPr>
        <p:spPr>
          <a:xfrm>
            <a:off x="10301982" y="5369560"/>
            <a:ext cx="1128018" cy="320040"/>
          </a:xfrm>
          <a:prstGeom prst="rect">
            <a:avLst/>
          </a:prstGeom>
          <a:noFill/>
        </p:spPr>
        <p:txBody>
          <a:bodyPr wrap="square" lIns="0" rIns="0" tIns="0" bIns="0" anchor="ctr">
            <a:noAutofit/>
          </a:bodyPr>
          <a:lstStyle/>
          <a:p>
            <a:pPr algn="ctr"/>
            <a:r>
              <a:rPr sz="1600" b="0" i="0" lang="de-DE">
                <a:solidFill>
                  <a:srgbClr val="A3B6C9"/>
                </a:solidFill>
                <a:latin typeface="IBM Plex Sans"/>
              </a:rPr>
              <a:t>–</a:t>
            </a:r>
          </a:p>
        </p:txBody>
      </p:sp>
      <p:sp>
        <p:nvSpPr>
          <p:cNvPr id="152" name="matrix-note"/>
          <p:cNvSpPr txBox="1"/>
          <p:nvPr/>
        </p:nvSpPr>
        <p:spPr>
          <a:xfrm>
            <a:off x="762000" y="5765800"/>
            <a:ext cx="10668000" cy="431800"/>
          </a:xfrm>
          <a:prstGeom prst="rect">
            <a:avLst/>
          </a:prstGeom>
          <a:noFill/>
        </p:spPr>
        <p:txBody>
          <a:bodyPr wrap="square" lIns="0" rIns="0" tIns="0" bIns="0" anchor="t">
            <a:noAutofit/>
          </a:bodyPr>
          <a:lstStyle/>
          <a:p>
            <a:pPr algn="l"/>
            <a:r>
              <a:rPr sz="1200" b="0" i="0" lang="de-DE">
                <a:solidFill>
                  <a:srgbClr val="4A6079"/>
                </a:solidFill>
                <a:latin typeface="IBM Plex Sans"/>
              </a:rPr>
              <a:t>Quelle: interne Zielgruppen-/Pflichtenmatrix ECO, Stand 2025. ElektroG und BattG gelten für Importeure, soweit Elektrogeräte bzw. Batterien betroffen sind.</a:t>
            </a:r>
          </a:p>
        </p:txBody>
      </p:sp>
      <p:sp>
        <p:nvSpPr>
          <p:cNvPr id="153"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154"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155"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156" name="nav-4-active"/>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F7A1E"/>
                </a:solidFill>
                <a:latin typeface="IBM Plex Mono"/>
              </a:rPr>
              <a:t>04</a:t>
            </a:r>
            <a:r>
              <a:rPr sz="1200" b="0" i="0" lang="de-DE">
                <a:solidFill>
                  <a:srgbClr val="043751"/>
                </a:solidFill>
                <a:latin typeface="IBM Plex Mono"/>
              </a:rPr>
              <a:t> </a:t>
            </a:r>
            <a:r>
              <a:rPr sz="1200" b="0" i="0" lang="de-DE" cap="all" spc="72">
                <a:solidFill>
                  <a:srgbClr val="043751"/>
                </a:solidFill>
                <a:latin typeface="IBM Plex Sans Medium"/>
              </a:rPr>
              <a:t>Rechtsrahmen</a:t>
            </a:r>
          </a:p>
        </p:txBody>
      </p:sp>
      <p:sp>
        <p:nvSpPr>
          <p:cNvPr id="157" name="nav-underline"/>
          <p:cNvSpPr/>
          <p:nvPr/>
        </p:nvSpPr>
        <p:spPr>
          <a:xfrm>
            <a:off x="7808004" y="685800"/>
            <a:ext cx="1590072" cy="25400"/>
          </a:xfrm>
          <a:prstGeom prst="rect">
            <a:avLst/>
          </a:prstGeom>
          <a:solidFill>
            <a:srgbClr val="6EA52E"/>
          </a:solidFill>
          <a:ln>
            <a:noFill/>
          </a:ln>
        </p:spPr>
        <p:txBody>
          <a:bodyPr rtlCol="0" anchor="ctr"/>
          <a:lstStyle/>
          <a:p>
            <a:pPr algn="ctr"/>
          </a:p>
        </p:txBody>
      </p:sp>
      <p:sp>
        <p:nvSpPr>
          <p:cNvPr id="158"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159"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160"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04 · Rechtsrahmen</a:t>
            </a:r>
          </a:p>
        </p:txBody>
      </p:sp>
      <p:sp>
        <p:nvSpPr>
          <p:cNvPr id="3" name="Title 2"/>
          <p:cNvSpPr>
            <a:spLocks noGrp="1"/>
          </p:cNvSpPr>
          <p:nvPr>
            <p:ph type="title"/>
          </p:nvPr>
        </p:nvSpPr>
        <p:spPr/>
        <p:txBody>
          <a:bodyPr/>
          <a:lstStyle/>
          <a:p>
            <a:r>
              <a:t>Für wen wir arbeiten</a:t>
            </a:r>
          </a:p>
        </p:txBody>
      </p:sp>
      <p:sp>
        <p:nvSpPr>
          <p:cNvPr id="4" name="Text Placeholder 3"/>
          <p:cNvSpPr>
            <a:spLocks noGrp="1"/>
          </p:cNvSpPr>
          <p:nvPr>
            <p:ph type="body" idx="26"/>
          </p:nvPr>
        </p:nvSpPr>
        <p:spPr>
          <a:xfrm>
            <a:off x="762000" y="4127500"/>
            <a:ext cx="9906000" cy="1587500"/>
          </a:xfrm>
        </p:spPr>
        <p:txBody>
          <a:bodyPr/>
          <a:lstStyle/>
          <a:p>
            <a:pPr>
              <a:spcBef>
                <a:spcPts val="0"/>
              </a:spcBef>
            </a:pPr>
            <a:r>
              <a:rPr sz="1600" b="0" i="0" lang="de-DE">
                <a:solidFill>
                  <a:srgbClr val="4F7A1E"/>
                </a:solidFill>
                <a:latin typeface="IBM Plex Mono Medium"/>
              </a:rPr>
              <a:t>01</a:t>
            </a:r>
            <a:r>
              <a:t>	Einstieg über die Pflichtenmatrix</a:t>
            </a:r>
          </a:p>
          <a:p>
            <a:pPr lvl="1"/>
            <a:r>
              <a:t>Im Erstgespräch ordnen wir zu, welche Regelwerke für Ihre Rolle gelten.</a:t>
            </a:r>
          </a:p>
        </p:txBody>
      </p:sp>
      <p:sp>
        <p:nvSpPr>
          <p:cNvPr id="5" name="tag-1"/>
          <p:cNvSpPr/>
          <p:nvPr/>
        </p:nvSpPr>
        <p:spPr>
          <a:xfrm>
            <a:off x="762000" y="2159000"/>
            <a:ext cx="1292027"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Hersteller</a:t>
            </a:r>
          </a:p>
        </p:txBody>
      </p:sp>
      <p:sp>
        <p:nvSpPr>
          <p:cNvPr id="6" name="tag-2"/>
          <p:cNvSpPr/>
          <p:nvPr/>
        </p:nvSpPr>
        <p:spPr>
          <a:xfrm>
            <a:off x="2142927" y="2159000"/>
            <a:ext cx="1444228"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Importeure</a:t>
            </a:r>
          </a:p>
        </p:txBody>
      </p:sp>
      <p:sp>
        <p:nvSpPr>
          <p:cNvPr id="7" name="tag-3"/>
          <p:cNvSpPr/>
          <p:nvPr/>
        </p:nvSpPr>
        <p:spPr>
          <a:xfrm>
            <a:off x="3676055" y="2159000"/>
            <a:ext cx="1964928"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(Online-)Händler</a:t>
            </a:r>
          </a:p>
        </p:txBody>
      </p:sp>
      <p:sp>
        <p:nvSpPr>
          <p:cNvPr id="8" name="tag-4"/>
          <p:cNvSpPr/>
          <p:nvPr/>
        </p:nvSpPr>
        <p:spPr>
          <a:xfrm>
            <a:off x="5729883" y="2159000"/>
            <a:ext cx="1303536"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Vertreiber</a:t>
            </a:r>
          </a:p>
        </p:txBody>
      </p:sp>
      <p:sp>
        <p:nvSpPr>
          <p:cNvPr id="9" name="tag-5"/>
          <p:cNvSpPr/>
          <p:nvPr/>
        </p:nvSpPr>
        <p:spPr>
          <a:xfrm>
            <a:off x="7122319" y="2159000"/>
            <a:ext cx="3883620"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Betreiber elektronischer Marktplätze</a:t>
            </a:r>
          </a:p>
        </p:txBody>
      </p:sp>
      <p:sp>
        <p:nvSpPr>
          <p:cNvPr id="10" name="tag-6"/>
          <p:cNvSpPr/>
          <p:nvPr/>
        </p:nvSpPr>
        <p:spPr>
          <a:xfrm>
            <a:off x="762000" y="2590800"/>
            <a:ext cx="2680196"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Fulfillment-Dienstleister</a:t>
            </a:r>
          </a:p>
        </p:txBody>
      </p:sp>
      <p:sp>
        <p:nvSpPr>
          <p:cNvPr id="11" name="tag-7"/>
          <p:cNvSpPr/>
          <p:nvPr/>
        </p:nvSpPr>
        <p:spPr>
          <a:xfrm>
            <a:off x="3531096" y="2590800"/>
            <a:ext cx="1704677"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Transporteure</a:t>
            </a:r>
          </a:p>
        </p:txBody>
      </p:sp>
      <p:sp>
        <p:nvSpPr>
          <p:cNvPr id="12" name="tag-8"/>
          <p:cNvSpPr/>
          <p:nvPr/>
        </p:nvSpPr>
        <p:spPr>
          <a:xfrm>
            <a:off x="5324673" y="2590800"/>
            <a:ext cx="3491309"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Händler und Makler von Abfällen</a:t>
            </a:r>
          </a:p>
        </p:txBody>
      </p:sp>
      <p:sp>
        <p:nvSpPr>
          <p:cNvPr id="13" name="tag-9"/>
          <p:cNvSpPr/>
          <p:nvPr/>
        </p:nvSpPr>
        <p:spPr>
          <a:xfrm>
            <a:off x="762000" y="3022600"/>
            <a:ext cx="3853458"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Erstbehandlungsanlagen / Entsorger</a:t>
            </a:r>
          </a:p>
        </p:txBody>
      </p:sp>
      <p:sp>
        <p:nvSpPr>
          <p:cNvPr id="14" name="tag-10"/>
          <p:cNvSpPr/>
          <p:nvPr/>
        </p:nvSpPr>
        <p:spPr>
          <a:xfrm>
            <a:off x="4704358" y="3022600"/>
            <a:ext cx="4167485"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Öffentlich-rechtliche Entsorgungsträger</a:t>
            </a:r>
          </a:p>
        </p:txBody>
      </p:sp>
      <p:sp>
        <p:nvSpPr>
          <p:cNvPr id="15" name="tag-11"/>
          <p:cNvSpPr/>
          <p:nvPr/>
        </p:nvSpPr>
        <p:spPr>
          <a:xfrm>
            <a:off x="8960743" y="3022600"/>
            <a:ext cx="2129234"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Behörden &amp; Ämter</a:t>
            </a:r>
          </a:p>
        </p:txBody>
      </p:sp>
      <p:sp>
        <p:nvSpPr>
          <p:cNvPr id="16" name="tag-12"/>
          <p:cNvSpPr/>
          <p:nvPr/>
        </p:nvSpPr>
        <p:spPr>
          <a:xfrm>
            <a:off x="762000" y="3454400"/>
            <a:ext cx="4107855" cy="342900"/>
          </a:xfrm>
          <a:prstGeom prst="roundRect">
            <a:avLst>
              <a:gd name="adj" fmla="val 50000"/>
            </a:avLst>
          </a:prstGeom>
          <a:solidFill>
            <a:srgbClr val="FFFFFF"/>
          </a:solidFill>
          <a:ln w="12700">
            <a:solidFill>
              <a:srgbClr val="D9D9D9"/>
            </a:solidFill>
          </a:ln>
        </p:spPr>
        <p:txBody>
          <a:bodyPr rtlCol="0" anchor="ctr" wrap="square" lIns="0" rIns="0" tIns="0" bIns="0">
            <a:noAutofit/>
          </a:bodyPr>
          <a:lstStyle/>
          <a:p>
            <a:pPr algn="ctr"/>
            <a:r>
              <a:rPr sz="1700" b="0" i="0" lang="de-DE">
                <a:solidFill>
                  <a:srgbClr val="043751"/>
                </a:solidFill>
                <a:latin typeface="IBM Plex Sans"/>
              </a:rPr>
              <a:t>Entwicklungsorganisationen &amp; -banken</a:t>
            </a:r>
          </a:p>
        </p:txBody>
      </p:sp>
      <p:sp>
        <p:nvSpPr>
          <p:cNvPr id="17"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18"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19"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0" name="nav-4-active"/>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F7A1E"/>
                </a:solidFill>
                <a:latin typeface="IBM Plex Mono"/>
              </a:rPr>
              <a:t>04</a:t>
            </a:r>
            <a:r>
              <a:rPr sz="1200" b="0" i="0" lang="de-DE">
                <a:solidFill>
                  <a:srgbClr val="043751"/>
                </a:solidFill>
                <a:latin typeface="IBM Plex Mono"/>
              </a:rPr>
              <a:t> </a:t>
            </a:r>
            <a:r>
              <a:rPr sz="1200" b="0" i="0" lang="de-DE" cap="all" spc="72">
                <a:solidFill>
                  <a:srgbClr val="043751"/>
                </a:solidFill>
                <a:latin typeface="IBM Plex Sans Medium"/>
              </a:rPr>
              <a:t>Rechtsrahmen</a:t>
            </a:r>
          </a:p>
        </p:txBody>
      </p:sp>
      <p:sp>
        <p:nvSpPr>
          <p:cNvPr id="21" name="nav-underline"/>
          <p:cNvSpPr/>
          <p:nvPr/>
        </p:nvSpPr>
        <p:spPr>
          <a:xfrm>
            <a:off x="7808004" y="685800"/>
            <a:ext cx="1590072" cy="25400"/>
          </a:xfrm>
          <a:prstGeom prst="rect">
            <a:avLst/>
          </a:prstGeom>
          <a:solidFill>
            <a:srgbClr val="6EA52E"/>
          </a:solidFill>
          <a:ln>
            <a:noFill/>
          </a:ln>
        </p:spPr>
        <p:txBody>
          <a:bodyPr rtlCol="0" anchor="ctr"/>
          <a:lstStyle/>
          <a:p>
            <a:pPr algn="ctr"/>
          </a:p>
        </p:txBody>
      </p:sp>
      <p:sp>
        <p:nvSpPr>
          <p:cNvPr id="22"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23"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24"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04 · Rechtsrahmen</a:t>
            </a:r>
          </a:p>
        </p:txBody>
      </p:sp>
      <p:sp>
        <p:nvSpPr>
          <p:cNvPr id="3" name="Title 2"/>
          <p:cNvSpPr>
            <a:spLocks noGrp="1"/>
          </p:cNvSpPr>
          <p:nvPr>
            <p:ph type="title"/>
          </p:nvPr>
        </p:nvSpPr>
        <p:spPr/>
        <p:txBody>
          <a:bodyPr/>
          <a:lstStyle/>
          <a:p>
            <a:r>
              <a:t>Praxisfall: Elektrogeräte mit Akku importieren</a:t>
            </a:r>
          </a:p>
        </p:txBody>
      </p:sp>
      <p:sp>
        <p:nvSpPr>
          <p:cNvPr id="4" name="Text Placeholder 3"/>
          <p:cNvSpPr>
            <a:spLocks noGrp="1"/>
          </p:cNvSpPr>
          <p:nvPr>
            <p:ph type="body" idx="35"/>
          </p:nvPr>
        </p:nvSpPr>
        <p:spPr/>
        <p:txBody>
          <a:bodyPr/>
          <a:lstStyle/>
          <a:p>
            <a:r>
              <a:t>Ein Online-Händler bezieht Lautsprecher mit fest eingebautem Akku aus Asien und verkauft sie in Deutschland an Endkunden.</a:t>
            </a:r>
          </a:p>
        </p:txBody>
      </p:sp>
      <p:sp>
        <p:nvSpPr>
          <p:cNvPr id="5" name="finding-head"/>
          <p:cNvSpPr txBox="1"/>
          <p:nvPr/>
        </p:nvSpPr>
        <p:spPr>
          <a:xfrm>
            <a:off x="762000" y="3327400"/>
            <a:ext cx="4064000" cy="190500"/>
          </a:xfrm>
          <a:prstGeom prst="rect">
            <a:avLst/>
          </a:prstGeom>
          <a:noFill/>
        </p:spPr>
        <p:txBody>
          <a:bodyPr wrap="square" lIns="0" rIns="0" tIns="0" bIns="0" anchor="t">
            <a:noAutofit/>
          </a:bodyPr>
          <a:lstStyle/>
          <a:p>
            <a:pPr algn="l"/>
            <a:r>
              <a:rPr sz="1100" b="0" i="0" lang="de-DE" cap="all" spc="110">
                <a:solidFill>
                  <a:srgbClr val="4F7A1E"/>
                </a:solidFill>
                <a:latin typeface="IBM Plex Mono Medium"/>
              </a:rPr>
              <a:t>Situation</a:t>
            </a:r>
          </a:p>
        </p:txBody>
      </p:sp>
      <p:sp>
        <p:nvSpPr>
          <p:cNvPr id="6" name="cause-head"/>
          <p:cNvSpPr txBox="1"/>
          <p:nvPr/>
        </p:nvSpPr>
        <p:spPr>
          <a:xfrm>
            <a:off x="5461000" y="3327400"/>
            <a:ext cx="4064000" cy="190500"/>
          </a:xfrm>
          <a:prstGeom prst="rect">
            <a:avLst/>
          </a:prstGeom>
          <a:noFill/>
        </p:spPr>
        <p:txBody>
          <a:bodyPr wrap="square" lIns="0" rIns="0" tIns="0" bIns="0" anchor="t">
            <a:noAutofit/>
          </a:bodyPr>
          <a:lstStyle/>
          <a:p>
            <a:pPr algn="l"/>
            <a:r>
              <a:rPr sz="1100" b="0" i="0" lang="de-DE" cap="all" spc="110">
                <a:solidFill>
                  <a:srgbClr val="4F7A1E"/>
                </a:solidFill>
                <a:latin typeface="IBM Plex Mono Medium"/>
              </a:rPr>
              <a:t>Pflicht laut Matrix</a:t>
            </a:r>
          </a:p>
        </p:txBody>
      </p:sp>
      <p:sp>
        <p:nvSpPr>
          <p:cNvPr id="7" name="finding-rule"/>
          <p:cNvSpPr/>
          <p:nvPr/>
        </p:nvSpPr>
        <p:spPr>
          <a:xfrm>
            <a:off x="762000" y="3575050"/>
            <a:ext cx="10668000" cy="12700"/>
          </a:xfrm>
          <a:prstGeom prst="rect">
            <a:avLst/>
          </a:prstGeom>
          <a:solidFill>
            <a:srgbClr val="043751"/>
          </a:solidFill>
          <a:ln>
            <a:noFill/>
          </a:ln>
        </p:spPr>
        <p:txBody>
          <a:bodyPr rtlCol="0" anchor="ctr"/>
          <a:lstStyle/>
          <a:p>
            <a:pPr algn="ctr"/>
          </a:p>
        </p:txBody>
      </p:sp>
      <p:sp>
        <p:nvSpPr>
          <p:cNvPr id="8" name="finding-1"/>
          <p:cNvSpPr txBox="1"/>
          <p:nvPr/>
        </p:nvSpPr>
        <p:spPr>
          <a:xfrm>
            <a:off x="762000" y="3619500"/>
            <a:ext cx="4064000" cy="406400"/>
          </a:xfrm>
          <a:prstGeom prst="rect">
            <a:avLst/>
          </a:prstGeom>
          <a:noFill/>
        </p:spPr>
        <p:txBody>
          <a:bodyPr wrap="square" lIns="0" rIns="0" tIns="0" bIns="0" anchor="ctr">
            <a:noAutofit/>
          </a:bodyPr>
          <a:lstStyle/>
          <a:p>
            <a:pPr algn="l"/>
            <a:r>
              <a:rPr sz="1800" b="0" i="0" lang="de-DE">
                <a:solidFill>
                  <a:srgbClr val="043751"/>
                </a:solidFill>
                <a:latin typeface="IBM Plex Sans Medium"/>
              </a:rPr>
              <a:t>Importiert Elektrogeräte</a:t>
            </a:r>
          </a:p>
        </p:txBody>
      </p:sp>
      <p:sp>
        <p:nvSpPr>
          <p:cNvPr id="9" name="arrow-1"/>
          <p:cNvSpPr/>
          <p:nvPr/>
        </p:nvSpPr>
        <p:spPr>
          <a:xfrm>
            <a:off x="4978400" y="3759200"/>
            <a:ext cx="254000" cy="127000"/>
          </a:xfrm>
          <a:prstGeom prst="rightArrow">
            <a:avLst/>
          </a:prstGeom>
          <a:solidFill>
            <a:srgbClr val="6EA52E"/>
          </a:solidFill>
          <a:ln>
            <a:noFill/>
          </a:ln>
        </p:spPr>
        <p:txBody>
          <a:bodyPr rtlCol="0" anchor="ctr"/>
          <a:lstStyle/>
          <a:p>
            <a:pPr algn="ctr"/>
          </a:p>
        </p:txBody>
      </p:sp>
      <p:sp>
        <p:nvSpPr>
          <p:cNvPr id="10" name="cause-1"/>
          <p:cNvSpPr txBox="1"/>
          <p:nvPr/>
        </p:nvSpPr>
        <p:spPr>
          <a:xfrm>
            <a:off x="5461000" y="3619500"/>
            <a:ext cx="5969000" cy="406400"/>
          </a:xfrm>
          <a:prstGeom prst="rect">
            <a:avLst/>
          </a:prstGeom>
          <a:noFill/>
        </p:spPr>
        <p:txBody>
          <a:bodyPr wrap="square" lIns="0" rIns="0" tIns="0" bIns="0" anchor="ctr">
            <a:noAutofit/>
          </a:bodyPr>
          <a:lstStyle/>
          <a:p>
            <a:pPr algn="l"/>
            <a:r>
              <a:rPr sz="1800" b="0" i="0" lang="de-DE">
                <a:solidFill>
                  <a:srgbClr val="4A6079"/>
                </a:solidFill>
                <a:latin typeface="IBM Plex Sans"/>
              </a:rPr>
              <a:t>Registrierung nach ElektroG § 6</a:t>
            </a:r>
          </a:p>
        </p:txBody>
      </p:sp>
      <p:sp>
        <p:nvSpPr>
          <p:cNvPr id="11" name="finding-line-1"/>
          <p:cNvSpPr/>
          <p:nvPr/>
        </p:nvSpPr>
        <p:spPr>
          <a:xfrm>
            <a:off x="762000" y="4044950"/>
            <a:ext cx="10668000" cy="12700"/>
          </a:xfrm>
          <a:prstGeom prst="rect">
            <a:avLst/>
          </a:prstGeom>
          <a:solidFill>
            <a:srgbClr val="D9D9D9"/>
          </a:solidFill>
          <a:ln>
            <a:noFill/>
          </a:ln>
        </p:spPr>
        <p:txBody>
          <a:bodyPr rtlCol="0" anchor="ctr"/>
          <a:lstStyle/>
          <a:p>
            <a:pPr algn="ctr"/>
          </a:p>
        </p:txBody>
      </p:sp>
      <p:sp>
        <p:nvSpPr>
          <p:cNvPr id="12" name="finding-2"/>
          <p:cNvSpPr txBox="1"/>
          <p:nvPr/>
        </p:nvSpPr>
        <p:spPr>
          <a:xfrm>
            <a:off x="762000" y="4076700"/>
            <a:ext cx="4064000" cy="406400"/>
          </a:xfrm>
          <a:prstGeom prst="rect">
            <a:avLst/>
          </a:prstGeom>
          <a:noFill/>
        </p:spPr>
        <p:txBody>
          <a:bodyPr wrap="square" lIns="0" rIns="0" tIns="0" bIns="0" anchor="ctr">
            <a:noAutofit/>
          </a:bodyPr>
          <a:lstStyle/>
          <a:p>
            <a:pPr algn="l"/>
            <a:r>
              <a:rPr sz="1800" b="0" i="0" lang="de-DE">
                <a:solidFill>
                  <a:srgbClr val="043751"/>
                </a:solidFill>
                <a:latin typeface="IBM Plex Sans Medium"/>
              </a:rPr>
              <a:t>Gerät enthält eine Batterie</a:t>
            </a:r>
          </a:p>
        </p:txBody>
      </p:sp>
      <p:sp>
        <p:nvSpPr>
          <p:cNvPr id="13" name="arrow-2"/>
          <p:cNvSpPr/>
          <p:nvPr/>
        </p:nvSpPr>
        <p:spPr>
          <a:xfrm>
            <a:off x="4978400" y="4216400"/>
            <a:ext cx="254000" cy="127000"/>
          </a:xfrm>
          <a:prstGeom prst="rightArrow">
            <a:avLst/>
          </a:prstGeom>
          <a:solidFill>
            <a:srgbClr val="6EA52E"/>
          </a:solidFill>
          <a:ln>
            <a:noFill/>
          </a:ln>
        </p:spPr>
        <p:txBody>
          <a:bodyPr rtlCol="0" anchor="ctr"/>
          <a:lstStyle/>
          <a:p>
            <a:pPr algn="ctr"/>
          </a:p>
        </p:txBody>
      </p:sp>
      <p:sp>
        <p:nvSpPr>
          <p:cNvPr id="14" name="cause-2"/>
          <p:cNvSpPr txBox="1"/>
          <p:nvPr/>
        </p:nvSpPr>
        <p:spPr>
          <a:xfrm>
            <a:off x="5461000" y="4076700"/>
            <a:ext cx="5969000" cy="406400"/>
          </a:xfrm>
          <a:prstGeom prst="rect">
            <a:avLst/>
          </a:prstGeom>
          <a:noFill/>
        </p:spPr>
        <p:txBody>
          <a:bodyPr wrap="square" lIns="0" rIns="0" tIns="0" bIns="0" anchor="ctr">
            <a:noAutofit/>
          </a:bodyPr>
          <a:lstStyle/>
          <a:p>
            <a:pPr algn="l"/>
            <a:r>
              <a:rPr sz="1800" b="0" i="0" lang="de-DE">
                <a:solidFill>
                  <a:srgbClr val="4A6079"/>
                </a:solidFill>
                <a:latin typeface="IBM Plex Sans"/>
              </a:rPr>
              <a:t>Pflichten nach Batterierecht (BattG)</a:t>
            </a:r>
          </a:p>
        </p:txBody>
      </p:sp>
      <p:sp>
        <p:nvSpPr>
          <p:cNvPr id="15" name="finding-line-2"/>
          <p:cNvSpPr/>
          <p:nvPr/>
        </p:nvSpPr>
        <p:spPr>
          <a:xfrm>
            <a:off x="762000" y="4502150"/>
            <a:ext cx="10668000" cy="12700"/>
          </a:xfrm>
          <a:prstGeom prst="rect">
            <a:avLst/>
          </a:prstGeom>
          <a:solidFill>
            <a:srgbClr val="D9D9D9"/>
          </a:solidFill>
          <a:ln>
            <a:noFill/>
          </a:ln>
        </p:spPr>
        <p:txBody>
          <a:bodyPr rtlCol="0" anchor="ctr"/>
          <a:lstStyle/>
          <a:p>
            <a:pPr algn="ctr"/>
          </a:p>
        </p:txBody>
      </p:sp>
      <p:sp>
        <p:nvSpPr>
          <p:cNvPr id="16" name="finding-3"/>
          <p:cNvSpPr txBox="1"/>
          <p:nvPr/>
        </p:nvSpPr>
        <p:spPr>
          <a:xfrm>
            <a:off x="762000" y="4533900"/>
            <a:ext cx="4064000" cy="406400"/>
          </a:xfrm>
          <a:prstGeom prst="rect">
            <a:avLst/>
          </a:prstGeom>
          <a:noFill/>
        </p:spPr>
        <p:txBody>
          <a:bodyPr wrap="square" lIns="0" rIns="0" tIns="0" bIns="0" anchor="ctr">
            <a:noAutofit/>
          </a:bodyPr>
          <a:lstStyle/>
          <a:p>
            <a:pPr algn="l"/>
            <a:r>
              <a:rPr sz="1800" b="0" i="0" lang="de-DE">
                <a:solidFill>
                  <a:srgbClr val="043751"/>
                </a:solidFill>
                <a:latin typeface="IBM Plex Sans Medium"/>
              </a:rPr>
              <a:t>Bringt Produkte in Verkehr</a:t>
            </a:r>
          </a:p>
        </p:txBody>
      </p:sp>
      <p:sp>
        <p:nvSpPr>
          <p:cNvPr id="17" name="arrow-3"/>
          <p:cNvSpPr/>
          <p:nvPr/>
        </p:nvSpPr>
        <p:spPr>
          <a:xfrm>
            <a:off x="4978400" y="4673600"/>
            <a:ext cx="254000" cy="127000"/>
          </a:xfrm>
          <a:prstGeom prst="rightArrow">
            <a:avLst/>
          </a:prstGeom>
          <a:solidFill>
            <a:srgbClr val="6EA52E"/>
          </a:solidFill>
          <a:ln>
            <a:noFill/>
          </a:ln>
        </p:spPr>
        <p:txBody>
          <a:bodyPr rtlCol="0" anchor="ctr"/>
          <a:lstStyle/>
          <a:p>
            <a:pPr algn="ctr"/>
          </a:p>
        </p:txBody>
      </p:sp>
      <p:sp>
        <p:nvSpPr>
          <p:cNvPr id="18" name="cause-3"/>
          <p:cNvSpPr txBox="1"/>
          <p:nvPr/>
        </p:nvSpPr>
        <p:spPr>
          <a:xfrm>
            <a:off x="5461000" y="4533900"/>
            <a:ext cx="5969000" cy="406400"/>
          </a:xfrm>
          <a:prstGeom prst="rect">
            <a:avLst/>
          </a:prstGeom>
          <a:noFill/>
        </p:spPr>
        <p:txBody>
          <a:bodyPr wrap="square" lIns="0" rIns="0" tIns="0" bIns="0" anchor="ctr">
            <a:noAutofit/>
          </a:bodyPr>
          <a:lstStyle/>
          <a:p>
            <a:pPr algn="l"/>
            <a:r>
              <a:rPr sz="1800" b="0" i="0" lang="de-DE">
                <a:solidFill>
                  <a:srgbClr val="4A6079"/>
                </a:solidFill>
                <a:latin typeface="IBM Plex Sans"/>
              </a:rPr>
              <a:t>Produktverantwortung nach § 23 KrWG</a:t>
            </a:r>
          </a:p>
        </p:txBody>
      </p:sp>
      <p:sp>
        <p:nvSpPr>
          <p:cNvPr id="19" name="finding-line-3"/>
          <p:cNvSpPr/>
          <p:nvPr/>
        </p:nvSpPr>
        <p:spPr>
          <a:xfrm>
            <a:off x="762000" y="4959350"/>
            <a:ext cx="10668000" cy="12700"/>
          </a:xfrm>
          <a:prstGeom prst="rect">
            <a:avLst/>
          </a:prstGeom>
          <a:solidFill>
            <a:srgbClr val="D9D9D9"/>
          </a:solidFill>
          <a:ln>
            <a:noFill/>
          </a:ln>
        </p:spPr>
        <p:txBody>
          <a:bodyPr rtlCol="0" anchor="ctr"/>
          <a:lstStyle/>
          <a:p>
            <a:pPr algn="ctr"/>
          </a:p>
        </p:txBody>
      </p:sp>
      <p:sp>
        <p:nvSpPr>
          <p:cNvPr id="20" name="finding-4"/>
          <p:cNvSpPr txBox="1"/>
          <p:nvPr/>
        </p:nvSpPr>
        <p:spPr>
          <a:xfrm>
            <a:off x="762000" y="4991100"/>
            <a:ext cx="4064000" cy="406400"/>
          </a:xfrm>
          <a:prstGeom prst="rect">
            <a:avLst/>
          </a:prstGeom>
          <a:noFill/>
        </p:spPr>
        <p:txBody>
          <a:bodyPr wrap="square" lIns="0" rIns="0" tIns="0" bIns="0" anchor="ctr">
            <a:noAutofit/>
          </a:bodyPr>
          <a:lstStyle/>
          <a:p>
            <a:pPr algn="l"/>
            <a:r>
              <a:rPr sz="1800" b="0" i="0" lang="de-DE">
                <a:solidFill>
                  <a:srgbClr val="043751"/>
                </a:solidFill>
                <a:latin typeface="IBM Plex Sans Medium"/>
              </a:rPr>
              <a:t>Verkauft an Endkunden</a:t>
            </a:r>
          </a:p>
        </p:txBody>
      </p:sp>
      <p:sp>
        <p:nvSpPr>
          <p:cNvPr id="21" name="arrow-4"/>
          <p:cNvSpPr/>
          <p:nvPr/>
        </p:nvSpPr>
        <p:spPr>
          <a:xfrm>
            <a:off x="4978400" y="5130800"/>
            <a:ext cx="254000" cy="127000"/>
          </a:xfrm>
          <a:prstGeom prst="rightArrow">
            <a:avLst/>
          </a:prstGeom>
          <a:solidFill>
            <a:srgbClr val="6EA52E"/>
          </a:solidFill>
          <a:ln>
            <a:noFill/>
          </a:ln>
        </p:spPr>
        <p:txBody>
          <a:bodyPr rtlCol="0" anchor="ctr"/>
          <a:lstStyle/>
          <a:p>
            <a:pPr algn="ctr"/>
          </a:p>
        </p:txBody>
      </p:sp>
      <p:sp>
        <p:nvSpPr>
          <p:cNvPr id="22" name="cause-4"/>
          <p:cNvSpPr txBox="1"/>
          <p:nvPr/>
        </p:nvSpPr>
        <p:spPr>
          <a:xfrm>
            <a:off x="5461000" y="4991100"/>
            <a:ext cx="5969000" cy="406400"/>
          </a:xfrm>
          <a:prstGeom prst="rect">
            <a:avLst/>
          </a:prstGeom>
          <a:noFill/>
        </p:spPr>
        <p:txBody>
          <a:bodyPr wrap="square" lIns="0" rIns="0" tIns="0" bIns="0" anchor="ctr">
            <a:noAutofit/>
          </a:bodyPr>
          <a:lstStyle/>
          <a:p>
            <a:pPr algn="l"/>
            <a:r>
              <a:rPr sz="1800" b="0" i="0" lang="de-DE">
                <a:solidFill>
                  <a:srgbClr val="4A6079"/>
                </a:solidFill>
                <a:latin typeface="IBM Plex Sans"/>
              </a:rPr>
              <a:t>Rücknahme (ElektroG § 17) und Informationspflichten</a:t>
            </a:r>
          </a:p>
        </p:txBody>
      </p:sp>
      <p:sp>
        <p:nvSpPr>
          <p:cNvPr id="23" name="finding-line-4"/>
          <p:cNvSpPr/>
          <p:nvPr/>
        </p:nvSpPr>
        <p:spPr>
          <a:xfrm>
            <a:off x="762000" y="5416550"/>
            <a:ext cx="10668000" cy="12700"/>
          </a:xfrm>
          <a:prstGeom prst="rect">
            <a:avLst/>
          </a:prstGeom>
          <a:solidFill>
            <a:srgbClr val="D9D9D9"/>
          </a:solidFill>
          <a:ln>
            <a:noFill/>
          </a:ln>
        </p:spPr>
        <p:txBody>
          <a:bodyPr rtlCol="0" anchor="ctr"/>
          <a:lstStyle/>
          <a:p>
            <a:pPr algn="ctr"/>
          </a:p>
        </p:txBody>
      </p:sp>
      <p:sp>
        <p:nvSpPr>
          <p:cNvPr id="24"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25"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26"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27" name="nav-4-active"/>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F7A1E"/>
                </a:solidFill>
                <a:latin typeface="IBM Plex Mono"/>
              </a:rPr>
              <a:t>04</a:t>
            </a:r>
            <a:r>
              <a:rPr sz="1200" b="0" i="0" lang="de-DE">
                <a:solidFill>
                  <a:srgbClr val="043751"/>
                </a:solidFill>
                <a:latin typeface="IBM Plex Mono"/>
              </a:rPr>
              <a:t> </a:t>
            </a:r>
            <a:r>
              <a:rPr sz="1200" b="0" i="0" lang="de-DE" cap="all" spc="72">
                <a:solidFill>
                  <a:srgbClr val="043751"/>
                </a:solidFill>
                <a:latin typeface="IBM Plex Sans Medium"/>
              </a:rPr>
              <a:t>Rechtsrahmen</a:t>
            </a:r>
          </a:p>
        </p:txBody>
      </p:sp>
      <p:sp>
        <p:nvSpPr>
          <p:cNvPr id="28" name="nav-underline"/>
          <p:cNvSpPr/>
          <p:nvPr/>
        </p:nvSpPr>
        <p:spPr>
          <a:xfrm>
            <a:off x="7808004" y="685800"/>
            <a:ext cx="1590072" cy="25400"/>
          </a:xfrm>
          <a:prstGeom prst="rect">
            <a:avLst/>
          </a:prstGeom>
          <a:solidFill>
            <a:srgbClr val="6EA52E"/>
          </a:solidFill>
          <a:ln>
            <a:noFill/>
          </a:ln>
        </p:spPr>
        <p:txBody>
          <a:bodyPr rtlCol="0" anchor="ctr"/>
          <a:lstStyle/>
          <a:p>
            <a:pPr algn="ctr"/>
          </a:p>
        </p:txBody>
      </p:sp>
      <p:sp>
        <p:nvSpPr>
          <p:cNvPr id="29"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A6079"/>
                </a:solidFill>
                <a:latin typeface="IBM Plex Mono"/>
              </a:rPr>
              <a:t>05</a:t>
            </a:r>
            <a:r>
              <a:rPr sz="1200" b="0" i="0" lang="de-DE">
                <a:solidFill>
                  <a:srgbClr val="4A6079"/>
                </a:solidFill>
                <a:latin typeface="IBM Plex Mono"/>
              </a:rPr>
              <a:t> </a:t>
            </a:r>
            <a:r>
              <a:rPr sz="1200" b="0" i="0" lang="de-DE" cap="all" spc="72">
                <a:solidFill>
                  <a:srgbClr val="4A6079"/>
                </a:solidFill>
                <a:latin typeface="IBM Plex Sans Medium"/>
              </a:rPr>
              <a:t>Zusammenarbeit</a:t>
            </a:r>
          </a:p>
        </p:txBody>
      </p:sp>
      <p:sp>
        <p:nvSpPr>
          <p:cNvPr id="30"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31"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Wissenscheck</a:t>
            </a:r>
          </a:p>
        </p:txBody>
      </p:sp>
      <p:sp>
        <p:nvSpPr>
          <p:cNvPr id="3" name="Text Placeholder 2"/>
          <p:cNvSpPr>
            <a:spLocks noGrp="1"/>
          </p:cNvSpPr>
          <p:nvPr>
            <p:ph type="body" idx="36"/>
          </p:nvPr>
        </p:nvSpPr>
        <p:spPr/>
        <p:txBody>
          <a:bodyPr/>
          <a:lstStyle/>
          <a:p>
            <a:r>
              <a:t>Welche Regelwerke treffen einen Importeur von Elektrogeräten mit Batterie?</a:t>
            </a:r>
          </a:p>
        </p:txBody>
      </p:sp>
      <p:sp>
        <p:nvSpPr>
          <p:cNvPr id="4" name="quiz-opt-1"/>
          <p:cNvSpPr/>
          <p:nvPr/>
        </p:nvSpPr>
        <p:spPr>
          <a:xfrm>
            <a:off x="762000" y="3048000"/>
            <a:ext cx="9525000" cy="609600"/>
          </a:xfrm>
          <a:prstGeom prst="rect">
            <a:avLst/>
          </a:prstGeom>
          <a:solidFill>
            <a:srgbClr val="032C41"/>
          </a:solidFill>
          <a:ln>
            <a:noFill/>
          </a:ln>
        </p:spPr>
        <p:txBody>
          <a:bodyPr rtlCol="0" anchor="ctr"/>
          <a:lstStyle/>
          <a:p>
            <a:pPr algn="ctr"/>
          </a:p>
        </p:txBody>
      </p:sp>
      <p:sp>
        <p:nvSpPr>
          <p:cNvPr id="5" name="quiz-letter-1"/>
          <p:cNvSpPr/>
          <p:nvPr/>
        </p:nvSpPr>
        <p:spPr>
          <a:xfrm>
            <a:off x="939800" y="3187700"/>
            <a:ext cx="330200" cy="330200"/>
          </a:xfrm>
          <a:prstGeom prst="ellipse">
            <a:avLst/>
          </a:prstGeom>
          <a:solidFill>
            <a:srgbClr val="032C41"/>
          </a:solidFill>
          <a:ln w="12700">
            <a:solidFill>
              <a:srgbClr val="8FC65A"/>
            </a:solidFill>
          </a:ln>
        </p:spPr>
        <p:txBody>
          <a:bodyPr rtlCol="0" anchor="ctr" wrap="square" lIns="0" rIns="0" tIns="0" bIns="0">
            <a:noAutofit/>
          </a:bodyPr>
          <a:lstStyle/>
          <a:p>
            <a:pPr algn="ctr"/>
            <a:r>
              <a:rPr sz="1700" b="0" i="0" lang="de-DE">
                <a:solidFill>
                  <a:srgbClr val="8FC65A"/>
                </a:solidFill>
                <a:latin typeface="IBM Plex Mono Medium"/>
              </a:rPr>
              <a:t>A</a:t>
            </a:r>
          </a:p>
        </p:txBody>
      </p:sp>
      <p:sp>
        <p:nvSpPr>
          <p:cNvPr id="6" name="quiz-text-1"/>
          <p:cNvSpPr txBox="1"/>
          <p:nvPr/>
        </p:nvSpPr>
        <p:spPr>
          <a:xfrm>
            <a:off x="1473200" y="3048000"/>
            <a:ext cx="8636000" cy="609600"/>
          </a:xfrm>
          <a:prstGeom prst="rect">
            <a:avLst/>
          </a:prstGeom>
          <a:noFill/>
        </p:spPr>
        <p:txBody>
          <a:bodyPr wrap="square" lIns="0" rIns="0" tIns="0" bIns="0" anchor="ctr">
            <a:noAutofit/>
          </a:bodyPr>
          <a:lstStyle/>
          <a:p>
            <a:pPr algn="l"/>
            <a:r>
              <a:rPr sz="2100" b="0" i="0" lang="de-DE">
                <a:solidFill>
                  <a:srgbClr val="FFFFFF"/>
                </a:solidFill>
                <a:latin typeface="IBM Plex Sans"/>
              </a:rPr>
              <a:t>Nur das KrWG</a:t>
            </a:r>
          </a:p>
        </p:txBody>
      </p:sp>
      <p:sp>
        <p:nvSpPr>
          <p:cNvPr id="7" name="quiz-opt-2"/>
          <p:cNvSpPr/>
          <p:nvPr/>
        </p:nvSpPr>
        <p:spPr>
          <a:xfrm>
            <a:off x="762000" y="3797300"/>
            <a:ext cx="9525000" cy="609600"/>
          </a:xfrm>
          <a:prstGeom prst="rect">
            <a:avLst/>
          </a:prstGeom>
          <a:solidFill>
            <a:srgbClr val="032C41"/>
          </a:solidFill>
          <a:ln>
            <a:noFill/>
          </a:ln>
        </p:spPr>
        <p:txBody>
          <a:bodyPr rtlCol="0" anchor="ctr"/>
          <a:lstStyle/>
          <a:p>
            <a:pPr algn="ctr"/>
          </a:p>
        </p:txBody>
      </p:sp>
      <p:sp>
        <p:nvSpPr>
          <p:cNvPr id="8" name="quiz-letter-2"/>
          <p:cNvSpPr/>
          <p:nvPr/>
        </p:nvSpPr>
        <p:spPr>
          <a:xfrm>
            <a:off x="939800" y="3937000"/>
            <a:ext cx="330200" cy="330200"/>
          </a:xfrm>
          <a:prstGeom prst="ellipse">
            <a:avLst/>
          </a:prstGeom>
          <a:solidFill>
            <a:srgbClr val="032C41"/>
          </a:solidFill>
          <a:ln w="12700">
            <a:solidFill>
              <a:srgbClr val="8FC65A"/>
            </a:solidFill>
          </a:ln>
        </p:spPr>
        <p:txBody>
          <a:bodyPr rtlCol="0" anchor="ctr" wrap="square" lIns="0" rIns="0" tIns="0" bIns="0">
            <a:noAutofit/>
          </a:bodyPr>
          <a:lstStyle/>
          <a:p>
            <a:pPr algn="ctr"/>
            <a:r>
              <a:rPr sz="1700" b="0" i="0" lang="de-DE">
                <a:solidFill>
                  <a:srgbClr val="8FC65A"/>
                </a:solidFill>
                <a:latin typeface="IBM Plex Mono Medium"/>
              </a:rPr>
              <a:t>B</a:t>
            </a:r>
          </a:p>
        </p:txBody>
      </p:sp>
      <p:sp>
        <p:nvSpPr>
          <p:cNvPr id="9" name="quiz-text-2"/>
          <p:cNvSpPr txBox="1"/>
          <p:nvPr/>
        </p:nvSpPr>
        <p:spPr>
          <a:xfrm>
            <a:off x="1473200" y="3797300"/>
            <a:ext cx="8636000" cy="609600"/>
          </a:xfrm>
          <a:prstGeom prst="rect">
            <a:avLst/>
          </a:prstGeom>
          <a:noFill/>
        </p:spPr>
        <p:txBody>
          <a:bodyPr wrap="square" lIns="0" rIns="0" tIns="0" bIns="0" anchor="ctr">
            <a:noAutofit/>
          </a:bodyPr>
          <a:lstStyle/>
          <a:p>
            <a:pPr algn="l"/>
            <a:r>
              <a:rPr sz="2100" b="0" i="0" lang="de-DE">
                <a:solidFill>
                  <a:srgbClr val="FFFFFF"/>
                </a:solidFill>
                <a:latin typeface="IBM Plex Sans"/>
              </a:rPr>
              <a:t>KrWG, ElektroG und BattG</a:t>
            </a:r>
          </a:p>
        </p:txBody>
      </p:sp>
      <p:sp>
        <p:nvSpPr>
          <p:cNvPr id="10" name="quiz-opt-3"/>
          <p:cNvSpPr/>
          <p:nvPr/>
        </p:nvSpPr>
        <p:spPr>
          <a:xfrm>
            <a:off x="762000" y="4546600"/>
            <a:ext cx="9525000" cy="609600"/>
          </a:xfrm>
          <a:prstGeom prst="rect">
            <a:avLst/>
          </a:prstGeom>
          <a:solidFill>
            <a:srgbClr val="032C41"/>
          </a:solidFill>
          <a:ln>
            <a:noFill/>
          </a:ln>
        </p:spPr>
        <p:txBody>
          <a:bodyPr rtlCol="0" anchor="ctr"/>
          <a:lstStyle/>
          <a:p>
            <a:pPr algn="ctr"/>
          </a:p>
        </p:txBody>
      </p:sp>
      <p:sp>
        <p:nvSpPr>
          <p:cNvPr id="11" name="quiz-letter-3"/>
          <p:cNvSpPr/>
          <p:nvPr/>
        </p:nvSpPr>
        <p:spPr>
          <a:xfrm>
            <a:off x="939800" y="4686300"/>
            <a:ext cx="330200" cy="330200"/>
          </a:xfrm>
          <a:prstGeom prst="ellipse">
            <a:avLst/>
          </a:prstGeom>
          <a:solidFill>
            <a:srgbClr val="032C41"/>
          </a:solidFill>
          <a:ln w="12700">
            <a:solidFill>
              <a:srgbClr val="8FC65A"/>
            </a:solidFill>
          </a:ln>
        </p:spPr>
        <p:txBody>
          <a:bodyPr rtlCol="0" anchor="ctr" wrap="square" lIns="0" rIns="0" tIns="0" bIns="0">
            <a:noAutofit/>
          </a:bodyPr>
          <a:lstStyle/>
          <a:p>
            <a:pPr algn="ctr"/>
            <a:r>
              <a:rPr sz="1700" b="0" i="0" lang="de-DE">
                <a:solidFill>
                  <a:srgbClr val="8FC65A"/>
                </a:solidFill>
                <a:latin typeface="IBM Plex Mono Medium"/>
              </a:rPr>
              <a:t>C</a:t>
            </a:r>
          </a:p>
        </p:txBody>
      </p:sp>
      <p:sp>
        <p:nvSpPr>
          <p:cNvPr id="12" name="quiz-text-3"/>
          <p:cNvSpPr txBox="1"/>
          <p:nvPr/>
        </p:nvSpPr>
        <p:spPr>
          <a:xfrm>
            <a:off x="1473200" y="4546600"/>
            <a:ext cx="8636000" cy="609600"/>
          </a:xfrm>
          <a:prstGeom prst="rect">
            <a:avLst/>
          </a:prstGeom>
          <a:noFill/>
        </p:spPr>
        <p:txBody>
          <a:bodyPr wrap="square" lIns="0" rIns="0" tIns="0" bIns="0" anchor="ctr">
            <a:noAutofit/>
          </a:bodyPr>
          <a:lstStyle/>
          <a:p>
            <a:pPr algn="l"/>
            <a:r>
              <a:rPr sz="2100" b="0" i="0" lang="de-DE">
                <a:solidFill>
                  <a:srgbClr val="FFFFFF"/>
                </a:solidFill>
                <a:latin typeface="IBM Plex Sans"/>
              </a:rPr>
              <a:t>GewAbfV und NachwV</a:t>
            </a:r>
          </a:p>
        </p:txBody>
      </p:sp>
      <p:sp>
        <p:nvSpPr>
          <p:cNvPr id="13"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14"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5"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6" name="nav-4-active"/>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8FC65A"/>
                </a:solidFill>
                <a:latin typeface="IBM Plex Mono"/>
              </a:rPr>
              <a:t>04</a:t>
            </a:r>
            <a:r>
              <a:rPr sz="1200" b="0" i="0" lang="de-DE">
                <a:solidFill>
                  <a:srgbClr val="FFFFFF"/>
                </a:solidFill>
                <a:latin typeface="IBM Plex Mono"/>
              </a:rPr>
              <a:t> </a:t>
            </a:r>
            <a:r>
              <a:rPr sz="1200" b="0" i="0" lang="de-DE" cap="all" spc="72">
                <a:solidFill>
                  <a:srgbClr val="FFFFFF"/>
                </a:solidFill>
                <a:latin typeface="IBM Plex Sans Medium"/>
              </a:rPr>
              <a:t>Rechtsrahmen</a:t>
            </a:r>
          </a:p>
        </p:txBody>
      </p:sp>
      <p:sp>
        <p:nvSpPr>
          <p:cNvPr id="17" name="nav-underline"/>
          <p:cNvSpPr/>
          <p:nvPr/>
        </p:nvSpPr>
        <p:spPr>
          <a:xfrm>
            <a:off x="7808004" y="685800"/>
            <a:ext cx="1590072" cy="25400"/>
          </a:xfrm>
          <a:prstGeom prst="rect">
            <a:avLst/>
          </a:prstGeom>
          <a:solidFill>
            <a:srgbClr val="8FC65A"/>
          </a:solidFill>
          <a:ln>
            <a:noFill/>
          </a:ln>
        </p:spPr>
        <p:txBody>
          <a:bodyPr rtlCol="0" anchor="ctr"/>
          <a:lstStyle/>
          <a:p>
            <a:pPr algn="ctr"/>
          </a:p>
        </p:txBody>
      </p:sp>
      <p:sp>
        <p:nvSpPr>
          <p:cNvPr id="18"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
        <p:nvSpPr>
          <p:cNvPr id="19"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A3B6C9"/>
                </a:solidFill>
                <a:latin typeface="IBM Plex Mono Medium"/>
              </a:rPr>
              <a:t>Zukunft im Kreislauf</a:t>
            </a:r>
          </a:p>
        </p:txBody>
      </p:sp>
      <p:sp>
        <p:nvSpPr>
          <p:cNvPr id="20"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A3B6C9"/>
                </a:solidFill>
                <a:latin typeface="IBM Plex Mono Medium"/>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Wissenscheck · Auflösung</a:t>
            </a:r>
          </a:p>
        </p:txBody>
      </p:sp>
      <p:sp>
        <p:nvSpPr>
          <p:cNvPr id="3" name="Text Placeholder 2"/>
          <p:cNvSpPr>
            <a:spLocks noGrp="1"/>
          </p:cNvSpPr>
          <p:nvPr>
            <p:ph type="body" idx="36"/>
          </p:nvPr>
        </p:nvSpPr>
        <p:spPr/>
        <p:txBody>
          <a:bodyPr/>
          <a:lstStyle/>
          <a:p>
            <a:r>
              <a:t>Welche Regelwerke treffen einen Importeur von Elektrogeräten mit Batterie?</a:t>
            </a:r>
          </a:p>
        </p:txBody>
      </p:sp>
      <p:sp>
        <p:nvSpPr>
          <p:cNvPr id="4" name="quiz-opt-1"/>
          <p:cNvSpPr/>
          <p:nvPr/>
        </p:nvSpPr>
        <p:spPr>
          <a:xfrm>
            <a:off x="762000" y="3048000"/>
            <a:ext cx="9525000" cy="609600"/>
          </a:xfrm>
          <a:prstGeom prst="rect">
            <a:avLst/>
          </a:prstGeom>
          <a:solidFill>
            <a:srgbClr val="032C41"/>
          </a:solidFill>
          <a:ln>
            <a:noFill/>
          </a:ln>
        </p:spPr>
        <p:txBody>
          <a:bodyPr rtlCol="0" anchor="ctr"/>
          <a:lstStyle/>
          <a:p>
            <a:pPr algn="ctr"/>
          </a:p>
        </p:txBody>
      </p:sp>
      <p:sp>
        <p:nvSpPr>
          <p:cNvPr id="5" name="quiz-letter-1"/>
          <p:cNvSpPr/>
          <p:nvPr/>
        </p:nvSpPr>
        <p:spPr>
          <a:xfrm>
            <a:off x="939800" y="3187700"/>
            <a:ext cx="330200" cy="330200"/>
          </a:xfrm>
          <a:prstGeom prst="ellipse">
            <a:avLst/>
          </a:prstGeom>
          <a:solidFill>
            <a:srgbClr val="032C41"/>
          </a:solidFill>
          <a:ln w="12700">
            <a:solidFill>
              <a:srgbClr val="8FC65A"/>
            </a:solidFill>
          </a:ln>
        </p:spPr>
        <p:txBody>
          <a:bodyPr rtlCol="0" anchor="ctr" wrap="square" lIns="0" rIns="0" tIns="0" bIns="0">
            <a:noAutofit/>
          </a:bodyPr>
          <a:lstStyle/>
          <a:p>
            <a:pPr algn="ctr"/>
            <a:r>
              <a:rPr sz="1700" b="0" i="0" lang="de-DE">
                <a:solidFill>
                  <a:srgbClr val="8FC65A"/>
                </a:solidFill>
                <a:latin typeface="IBM Plex Mono Medium"/>
              </a:rPr>
              <a:t>A</a:t>
            </a:r>
          </a:p>
        </p:txBody>
      </p:sp>
      <p:sp>
        <p:nvSpPr>
          <p:cNvPr id="6" name="quiz-text-1"/>
          <p:cNvSpPr txBox="1"/>
          <p:nvPr/>
        </p:nvSpPr>
        <p:spPr>
          <a:xfrm>
            <a:off x="1473200" y="3048000"/>
            <a:ext cx="8636000" cy="609600"/>
          </a:xfrm>
          <a:prstGeom prst="rect">
            <a:avLst/>
          </a:prstGeom>
          <a:noFill/>
        </p:spPr>
        <p:txBody>
          <a:bodyPr wrap="square" lIns="0" rIns="0" tIns="0" bIns="0" anchor="ctr">
            <a:noAutofit/>
          </a:bodyPr>
          <a:lstStyle/>
          <a:p>
            <a:pPr algn="l"/>
            <a:r>
              <a:rPr sz="2100" b="0" i="0" lang="de-DE">
                <a:solidFill>
                  <a:srgbClr val="FFFFFF"/>
                </a:solidFill>
                <a:latin typeface="IBM Plex Sans"/>
              </a:rPr>
              <a:t>Nur das KrWG</a:t>
            </a:r>
          </a:p>
        </p:txBody>
      </p:sp>
      <p:sp>
        <p:nvSpPr>
          <p:cNvPr id="7" name="quiz-opt-2"/>
          <p:cNvSpPr/>
          <p:nvPr/>
        </p:nvSpPr>
        <p:spPr>
          <a:xfrm>
            <a:off x="762000" y="3797300"/>
            <a:ext cx="9525000" cy="609600"/>
          </a:xfrm>
          <a:prstGeom prst="rect">
            <a:avLst/>
          </a:prstGeom>
          <a:solidFill>
            <a:srgbClr val="8FC65A"/>
          </a:solidFill>
          <a:ln>
            <a:noFill/>
          </a:ln>
        </p:spPr>
        <p:txBody>
          <a:bodyPr rtlCol="0" anchor="ctr"/>
          <a:lstStyle/>
          <a:p>
            <a:pPr algn="ctr"/>
          </a:p>
        </p:txBody>
      </p:sp>
      <p:sp>
        <p:nvSpPr>
          <p:cNvPr id="8" name="quiz-letter-2"/>
          <p:cNvSpPr/>
          <p:nvPr/>
        </p:nvSpPr>
        <p:spPr>
          <a:xfrm>
            <a:off x="939800" y="3937000"/>
            <a:ext cx="330200" cy="330200"/>
          </a:xfrm>
          <a:prstGeom prst="ellipse">
            <a:avLst/>
          </a:prstGeom>
          <a:solidFill>
            <a:srgbClr val="043751"/>
          </a:solidFill>
          <a:ln>
            <a:noFill/>
          </a:ln>
        </p:spPr>
        <p:txBody>
          <a:bodyPr rtlCol="0" anchor="ctr" wrap="square" lIns="0" rIns="0" tIns="0" bIns="0">
            <a:noAutofit/>
          </a:bodyPr>
          <a:lstStyle/>
          <a:p>
            <a:pPr algn="ctr"/>
            <a:r>
              <a:rPr sz="1700" b="0" i="0" lang="de-DE">
                <a:solidFill>
                  <a:srgbClr val="FFFFFF"/>
                </a:solidFill>
                <a:latin typeface="IBM Plex Mono Medium"/>
              </a:rPr>
              <a:t>B</a:t>
            </a:r>
          </a:p>
        </p:txBody>
      </p:sp>
      <p:sp>
        <p:nvSpPr>
          <p:cNvPr id="9" name="quiz-text-2"/>
          <p:cNvSpPr txBox="1"/>
          <p:nvPr/>
        </p:nvSpPr>
        <p:spPr>
          <a:xfrm>
            <a:off x="1473200" y="3797300"/>
            <a:ext cx="8636000" cy="609600"/>
          </a:xfrm>
          <a:prstGeom prst="rect">
            <a:avLst/>
          </a:prstGeom>
          <a:noFill/>
        </p:spPr>
        <p:txBody>
          <a:bodyPr wrap="square" lIns="0" rIns="0" tIns="0" bIns="0" anchor="ctr">
            <a:noAutofit/>
          </a:bodyPr>
          <a:lstStyle/>
          <a:p>
            <a:pPr algn="l"/>
            <a:r>
              <a:rPr sz="2100" b="0" i="0" lang="de-DE">
                <a:solidFill>
                  <a:srgbClr val="043751"/>
                </a:solidFill>
                <a:latin typeface="IBM Plex Sans Medium"/>
              </a:rPr>
              <a:t>KrWG, ElektroG und BattG</a:t>
            </a:r>
          </a:p>
        </p:txBody>
      </p:sp>
      <p:sp>
        <p:nvSpPr>
          <p:cNvPr id="10" name="quiz-opt-3"/>
          <p:cNvSpPr/>
          <p:nvPr/>
        </p:nvSpPr>
        <p:spPr>
          <a:xfrm>
            <a:off x="762000" y="4546600"/>
            <a:ext cx="9525000" cy="609600"/>
          </a:xfrm>
          <a:prstGeom prst="rect">
            <a:avLst/>
          </a:prstGeom>
          <a:solidFill>
            <a:srgbClr val="032C41"/>
          </a:solidFill>
          <a:ln>
            <a:noFill/>
          </a:ln>
        </p:spPr>
        <p:txBody>
          <a:bodyPr rtlCol="0" anchor="ctr"/>
          <a:lstStyle/>
          <a:p>
            <a:pPr algn="ctr"/>
          </a:p>
        </p:txBody>
      </p:sp>
      <p:sp>
        <p:nvSpPr>
          <p:cNvPr id="11" name="quiz-letter-3"/>
          <p:cNvSpPr/>
          <p:nvPr/>
        </p:nvSpPr>
        <p:spPr>
          <a:xfrm>
            <a:off x="939800" y="4686300"/>
            <a:ext cx="330200" cy="330200"/>
          </a:xfrm>
          <a:prstGeom prst="ellipse">
            <a:avLst/>
          </a:prstGeom>
          <a:solidFill>
            <a:srgbClr val="032C41"/>
          </a:solidFill>
          <a:ln w="12700">
            <a:solidFill>
              <a:srgbClr val="8FC65A"/>
            </a:solidFill>
          </a:ln>
        </p:spPr>
        <p:txBody>
          <a:bodyPr rtlCol="0" anchor="ctr" wrap="square" lIns="0" rIns="0" tIns="0" bIns="0">
            <a:noAutofit/>
          </a:bodyPr>
          <a:lstStyle/>
          <a:p>
            <a:pPr algn="ctr"/>
            <a:r>
              <a:rPr sz="1700" b="0" i="0" lang="de-DE">
                <a:solidFill>
                  <a:srgbClr val="8FC65A"/>
                </a:solidFill>
                <a:latin typeface="IBM Plex Mono Medium"/>
              </a:rPr>
              <a:t>C</a:t>
            </a:r>
          </a:p>
        </p:txBody>
      </p:sp>
      <p:sp>
        <p:nvSpPr>
          <p:cNvPr id="12" name="quiz-text-3"/>
          <p:cNvSpPr txBox="1"/>
          <p:nvPr/>
        </p:nvSpPr>
        <p:spPr>
          <a:xfrm>
            <a:off x="1473200" y="4546600"/>
            <a:ext cx="8636000" cy="609600"/>
          </a:xfrm>
          <a:prstGeom prst="rect">
            <a:avLst/>
          </a:prstGeom>
          <a:noFill/>
        </p:spPr>
        <p:txBody>
          <a:bodyPr wrap="square" lIns="0" rIns="0" tIns="0" bIns="0" anchor="ctr">
            <a:noAutofit/>
          </a:bodyPr>
          <a:lstStyle/>
          <a:p>
            <a:pPr algn="l"/>
            <a:r>
              <a:rPr sz="2100" b="0" i="0" lang="de-DE">
                <a:solidFill>
                  <a:srgbClr val="FFFFFF"/>
                </a:solidFill>
                <a:latin typeface="IBM Plex Sans"/>
              </a:rPr>
              <a:t>GewAbfV und NachwV</a:t>
            </a:r>
          </a:p>
        </p:txBody>
      </p:sp>
      <p:sp>
        <p:nvSpPr>
          <p:cNvPr id="13" name="quiz-expl"/>
          <p:cNvSpPr txBox="1"/>
          <p:nvPr/>
        </p:nvSpPr>
        <p:spPr>
          <a:xfrm>
            <a:off x="762000" y="5372100"/>
            <a:ext cx="9525000" cy="660400"/>
          </a:xfrm>
          <a:prstGeom prst="rect">
            <a:avLst/>
          </a:prstGeom>
          <a:noFill/>
        </p:spPr>
        <p:txBody>
          <a:bodyPr wrap="square" lIns="0" rIns="0" tIns="0" bIns="0" anchor="t">
            <a:noAutofit/>
          </a:bodyPr>
          <a:lstStyle/>
          <a:p>
            <a:pPr algn="l"/>
            <a:r>
              <a:rPr sz="1700" b="0" i="0" lang="de-DE">
                <a:solidFill>
                  <a:srgbClr val="E8EEF4"/>
                </a:solidFill>
                <a:latin typeface="IBM Plex Sans"/>
              </a:rPr>
              <a:t>Laut Pflichtenmatrix gelten für Importeure KrWG, ElektroG und BattG – ElektroG und BattG, soweit Elektrogeräte bzw. Batterien betroffen sind.</a:t>
            </a:r>
          </a:p>
        </p:txBody>
      </p:sp>
      <p:sp>
        <p:nvSpPr>
          <p:cNvPr id="14"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15"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6"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7" name="nav-4-active"/>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8FC65A"/>
                </a:solidFill>
                <a:latin typeface="IBM Plex Mono"/>
              </a:rPr>
              <a:t>04</a:t>
            </a:r>
            <a:r>
              <a:rPr sz="1200" b="0" i="0" lang="de-DE">
                <a:solidFill>
                  <a:srgbClr val="FFFFFF"/>
                </a:solidFill>
                <a:latin typeface="IBM Plex Mono"/>
              </a:rPr>
              <a:t> </a:t>
            </a:r>
            <a:r>
              <a:rPr sz="1200" b="0" i="0" lang="de-DE" cap="all" spc="72">
                <a:solidFill>
                  <a:srgbClr val="FFFFFF"/>
                </a:solidFill>
                <a:latin typeface="IBM Plex Sans Medium"/>
              </a:rPr>
              <a:t>Rechtsrahmen</a:t>
            </a:r>
          </a:p>
        </p:txBody>
      </p:sp>
      <p:sp>
        <p:nvSpPr>
          <p:cNvPr id="18" name="nav-underline"/>
          <p:cNvSpPr/>
          <p:nvPr/>
        </p:nvSpPr>
        <p:spPr>
          <a:xfrm>
            <a:off x="7808004" y="685800"/>
            <a:ext cx="1590072" cy="25400"/>
          </a:xfrm>
          <a:prstGeom prst="rect">
            <a:avLst/>
          </a:prstGeom>
          <a:solidFill>
            <a:srgbClr val="8FC65A"/>
          </a:solidFill>
          <a:ln>
            <a:noFill/>
          </a:ln>
        </p:spPr>
        <p:txBody>
          <a:bodyPr rtlCol="0" anchor="ctr"/>
          <a:lstStyle/>
          <a:p>
            <a:pPr algn="ctr"/>
          </a:p>
        </p:txBody>
      </p:sp>
      <p:sp>
        <p:nvSpPr>
          <p:cNvPr id="19" name="nav-5"/>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A3B6C9"/>
                </a:solidFill>
                <a:latin typeface="IBM Plex Mono"/>
              </a:rPr>
              <a:t>05</a:t>
            </a:r>
            <a:r>
              <a:rPr sz="1200" b="0" i="0" lang="de-DE">
                <a:solidFill>
                  <a:srgbClr val="A3B6C9"/>
                </a:solidFill>
                <a:latin typeface="IBM Plex Mono"/>
              </a:rPr>
              <a:t> </a:t>
            </a:r>
            <a:r>
              <a:rPr sz="1200" b="0" i="0" lang="de-DE" cap="all" spc="72">
                <a:solidFill>
                  <a:srgbClr val="A3B6C9"/>
                </a:solidFill>
                <a:latin typeface="IBM Plex Sans Medium"/>
              </a:rPr>
              <a:t>Zusammenarbeit</a:t>
            </a:r>
          </a:p>
        </p:txBody>
      </p:sp>
      <p:sp>
        <p:nvSpPr>
          <p:cNvPr id="20"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A3B6C9"/>
                </a:solidFill>
                <a:latin typeface="IBM Plex Mono Medium"/>
              </a:rPr>
              <a:t>Zukunft im Kreislauf</a:t>
            </a:r>
          </a:p>
        </p:txBody>
      </p:sp>
      <p:sp>
        <p:nvSpPr>
          <p:cNvPr id="21"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A3B6C9"/>
                </a:solidFill>
                <a:latin typeface="IBM Plex Mono Medium"/>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6"/>
          </p:nvPr>
        </p:nvSpPr>
        <p:spPr/>
        <p:txBody>
          <a:bodyPr/>
          <a:lstStyle/>
          <a:p>
            <a:r>
              <a:t>05</a:t>
            </a:r>
          </a:p>
        </p:txBody>
      </p:sp>
      <p:sp>
        <p:nvSpPr>
          <p:cNvPr id="3" name="Text Placeholder 2"/>
          <p:cNvSpPr>
            <a:spLocks noGrp="1"/>
          </p:cNvSpPr>
          <p:nvPr>
            <p:ph type="body" idx="11"/>
          </p:nvPr>
        </p:nvSpPr>
        <p:spPr/>
        <p:txBody>
          <a:bodyPr/>
          <a:lstStyle/>
          <a:p>
            <a:r>
              <a:t>Kapitel 5 von 5</a:t>
            </a:r>
          </a:p>
        </p:txBody>
      </p:sp>
      <p:sp>
        <p:nvSpPr>
          <p:cNvPr id="4" name="Title 3"/>
          <p:cNvSpPr>
            <a:spLocks noGrp="1"/>
          </p:cNvSpPr>
          <p:nvPr>
            <p:ph type="title"/>
          </p:nvPr>
        </p:nvSpPr>
        <p:spPr/>
        <p:txBody>
          <a:bodyPr/>
          <a:lstStyle/>
          <a:p>
            <a:r>
              <a:t>Zusammenarbeit</a:t>
            </a:r>
          </a:p>
        </p:txBody>
      </p:sp>
      <p:sp>
        <p:nvSpPr>
          <p:cNvPr id="5" name="Text Placeholder 4"/>
          <p:cNvSpPr>
            <a:spLocks noGrp="1"/>
          </p:cNvSpPr>
          <p:nvPr>
            <p:ph type="body" idx="17"/>
          </p:nvPr>
        </p:nvSpPr>
        <p:spPr/>
        <p:txBody>
          <a:bodyPr/>
          <a:lstStyle/>
          <a:p>
            <a:r>
              <a:t>Lernen Sie uns kennen.</a:t>
            </a:r>
          </a:p>
        </p:txBody>
      </p:sp>
      <p:sp>
        <p:nvSpPr>
          <p:cNvPr id="6" name="ring-seg-1-done"/>
          <p:cNvSpPr/>
          <p:nvPr/>
        </p:nvSpPr>
        <p:spPr>
          <a:xfrm>
            <a:off x="1206500" y="2222500"/>
            <a:ext cx="3175000" cy="3175000"/>
          </a:xfrm>
          <a:prstGeom prst="arc">
            <a:avLst>
              <a:gd name="adj1" fmla="val 16612530"/>
              <a:gd name="adj2" fmla="val 20107470"/>
            </a:avLst>
          </a:prstGeom>
          <a:noFill/>
          <a:ln w="190500" cap="rnd">
            <a:solidFill>
              <a:srgbClr val="A3B6C9"/>
            </a:solidFill>
          </a:ln>
        </p:spPr>
        <p:txBody>
          <a:bodyPr rtlCol="0" anchor="ctr"/>
          <a:lstStyle/>
          <a:p>
            <a:pPr algn="ctr"/>
          </a:p>
        </p:txBody>
      </p:sp>
      <p:sp>
        <p:nvSpPr>
          <p:cNvPr id="7" name="ring-seg-2-done"/>
          <p:cNvSpPr/>
          <p:nvPr/>
        </p:nvSpPr>
        <p:spPr>
          <a:xfrm>
            <a:off x="1206500" y="2222500"/>
            <a:ext cx="3175000" cy="3175000"/>
          </a:xfrm>
          <a:prstGeom prst="arc">
            <a:avLst>
              <a:gd name="adj1" fmla="val 20932530"/>
              <a:gd name="adj2" fmla="val 2827470"/>
            </a:avLst>
          </a:prstGeom>
          <a:noFill/>
          <a:ln w="190500" cap="rnd">
            <a:solidFill>
              <a:srgbClr val="A3B6C9"/>
            </a:solidFill>
          </a:ln>
        </p:spPr>
        <p:txBody>
          <a:bodyPr rtlCol="0" anchor="ctr"/>
          <a:lstStyle/>
          <a:p>
            <a:pPr algn="ctr"/>
          </a:p>
        </p:txBody>
      </p:sp>
      <p:sp>
        <p:nvSpPr>
          <p:cNvPr id="8" name="ring-seg-3-done"/>
          <p:cNvSpPr/>
          <p:nvPr/>
        </p:nvSpPr>
        <p:spPr>
          <a:xfrm>
            <a:off x="1206500" y="2222500"/>
            <a:ext cx="3175000" cy="3175000"/>
          </a:xfrm>
          <a:prstGeom prst="arc">
            <a:avLst>
              <a:gd name="adj1" fmla="val 3652530"/>
              <a:gd name="adj2" fmla="val 7147470"/>
            </a:avLst>
          </a:prstGeom>
          <a:noFill/>
          <a:ln w="190500" cap="rnd">
            <a:solidFill>
              <a:srgbClr val="A3B6C9"/>
            </a:solidFill>
          </a:ln>
        </p:spPr>
        <p:txBody>
          <a:bodyPr rtlCol="0" anchor="ctr"/>
          <a:lstStyle/>
          <a:p>
            <a:pPr algn="ctr"/>
          </a:p>
        </p:txBody>
      </p:sp>
      <p:sp>
        <p:nvSpPr>
          <p:cNvPr id="9" name="ring-seg-4-done"/>
          <p:cNvSpPr/>
          <p:nvPr/>
        </p:nvSpPr>
        <p:spPr>
          <a:xfrm>
            <a:off x="1206500" y="2222500"/>
            <a:ext cx="3175000" cy="3175000"/>
          </a:xfrm>
          <a:prstGeom prst="arc">
            <a:avLst>
              <a:gd name="adj1" fmla="val 7972530"/>
              <a:gd name="adj2" fmla="val 11467470"/>
            </a:avLst>
          </a:prstGeom>
          <a:noFill/>
          <a:ln w="190500" cap="rnd">
            <a:solidFill>
              <a:srgbClr val="A3B6C9"/>
            </a:solidFill>
          </a:ln>
        </p:spPr>
        <p:txBody>
          <a:bodyPr rtlCol="0" anchor="ctr"/>
          <a:lstStyle/>
          <a:p>
            <a:pPr algn="ctr"/>
          </a:p>
        </p:txBody>
      </p:sp>
      <p:sp>
        <p:nvSpPr>
          <p:cNvPr id="10" name="ring-seg-5-active"/>
          <p:cNvSpPr/>
          <p:nvPr/>
        </p:nvSpPr>
        <p:spPr>
          <a:xfrm>
            <a:off x="1206500" y="2222500"/>
            <a:ext cx="3175000" cy="3175000"/>
          </a:xfrm>
          <a:prstGeom prst="arc">
            <a:avLst>
              <a:gd name="adj1" fmla="val 12292530"/>
              <a:gd name="adj2" fmla="val 15787470"/>
            </a:avLst>
          </a:prstGeom>
          <a:noFill/>
          <a:ln w="190500" cap="rnd">
            <a:solidFill>
              <a:srgbClr val="6EA52E"/>
            </a:solidFill>
          </a:ln>
        </p:spPr>
        <p:txBody>
          <a:bodyPr rtlCol="0" anchor="ctr"/>
          <a:lstStyle/>
          <a:p>
            <a:pPr algn="ctr"/>
          </a:p>
        </p:txBody>
      </p:sp>
      <p:sp>
        <p:nvSpPr>
          <p:cNvPr id="11"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12"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13"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14"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A3B6C9"/>
                </a:solidFill>
                <a:latin typeface="IBM Plex Mono"/>
              </a:rPr>
              <a:t>04</a:t>
            </a:r>
            <a:r>
              <a:rPr sz="1200" b="0" i="0" lang="de-DE">
                <a:solidFill>
                  <a:srgbClr val="A3B6C9"/>
                </a:solidFill>
                <a:latin typeface="IBM Plex Mono"/>
              </a:rPr>
              <a:t> </a:t>
            </a:r>
            <a:r>
              <a:rPr sz="1200" b="0" i="0" lang="de-DE" cap="all" spc="72">
                <a:solidFill>
                  <a:srgbClr val="A3B6C9"/>
                </a:solidFill>
                <a:latin typeface="IBM Plex Sans Medium"/>
              </a:rPr>
              <a:t>Rechtsrahmen</a:t>
            </a:r>
          </a:p>
        </p:txBody>
      </p:sp>
      <p:sp>
        <p:nvSpPr>
          <p:cNvPr id="15" name="nav-5-active"/>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8FC65A"/>
                </a:solidFill>
                <a:latin typeface="IBM Plex Mono"/>
              </a:rPr>
              <a:t>05</a:t>
            </a:r>
            <a:r>
              <a:rPr sz="1200" b="0" i="0" lang="de-DE">
                <a:solidFill>
                  <a:srgbClr val="FFFFFF"/>
                </a:solidFill>
                <a:latin typeface="IBM Plex Mono"/>
              </a:rPr>
              <a:t> </a:t>
            </a:r>
            <a:r>
              <a:rPr sz="1200" b="0" i="0" lang="de-DE" cap="all" spc="72">
                <a:solidFill>
                  <a:srgbClr val="FFFFFF"/>
                </a:solidFill>
                <a:latin typeface="IBM Plex Sans Medium"/>
              </a:rPr>
              <a:t>Zusammenarbeit</a:t>
            </a:r>
          </a:p>
        </p:txBody>
      </p:sp>
      <p:sp>
        <p:nvSpPr>
          <p:cNvPr id="16" name="nav-underline"/>
          <p:cNvSpPr/>
          <p:nvPr/>
        </p:nvSpPr>
        <p:spPr>
          <a:xfrm>
            <a:off x="9652075" y="685800"/>
            <a:ext cx="1777925" cy="25400"/>
          </a:xfrm>
          <a:prstGeom prst="rect">
            <a:avLst/>
          </a:prstGeom>
          <a:solidFill>
            <a:srgbClr val="8FC65A"/>
          </a:solidFill>
          <a:ln>
            <a:noFill/>
          </a:ln>
        </p:spPr>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05 · Zusammenarbeit</a:t>
            </a:r>
          </a:p>
        </p:txBody>
      </p:sp>
      <p:sp>
        <p:nvSpPr>
          <p:cNvPr id="3" name="Title 2"/>
          <p:cNvSpPr>
            <a:spLocks noGrp="1"/>
          </p:cNvSpPr>
          <p:nvPr>
            <p:ph type="title"/>
          </p:nvPr>
        </p:nvSpPr>
        <p:spPr/>
        <p:txBody>
          <a:bodyPr/>
          <a:lstStyle/>
          <a:p>
            <a:r>
              <a:t>Kreislaufwirtschaft aus einer Hand</a:t>
            </a:r>
          </a:p>
        </p:txBody>
      </p:sp>
      <p:sp>
        <p:nvSpPr>
          <p:cNvPr id="4" name="sum-check-1"/>
          <p:cNvSpPr/>
          <p:nvPr/>
        </p:nvSpPr>
        <p:spPr>
          <a:xfrm>
            <a:off x="762000" y="2159000"/>
            <a:ext cx="279400" cy="279400"/>
          </a:xfrm>
          <a:prstGeom prst="ellipse">
            <a:avLst/>
          </a:prstGeom>
          <a:solidFill>
            <a:srgbClr val="6EA52E"/>
          </a:solidFill>
          <a:ln>
            <a:noFill/>
          </a:ln>
        </p:spPr>
        <p:txBody>
          <a:bodyPr rtlCol="0" anchor="ctr"/>
          <a:lstStyle/>
          <a:p>
            <a:pPr algn="ctr"/>
          </a:p>
        </p:txBody>
      </p:sp>
      <p:grpSp>
        <p:nvGrpSpPr>
          <p:cNvPr id="5" name="sum-check-icon-1"/>
          <p:cNvGrpSpPr/>
          <p:nvPr/>
        </p:nvGrpSpPr>
        <p:grpSpPr>
          <a:xfrm>
            <a:off x="839470" y="2248916"/>
            <a:ext cx="126238" cy="99568"/>
            <a:chOff x="839470" y="2248916"/>
            <a:chExt cx="126238" cy="99568"/>
          </a:xfrm>
        </p:grpSpPr>
        <p:cxnSp>
          <p:nvCxnSpPr>
            <p:cNvPr id="6" name="Connector 5"/>
            <p:cNvCxnSpPr/>
            <p:nvPr/>
          </p:nvCxnSpPr>
          <p:spPr>
            <a:xfrm>
              <a:off x="839470" y="2302256"/>
              <a:ext cx="44450" cy="4622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83920" y="2248916"/>
              <a:ext cx="81788" cy="9956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8" name="sum-title-1"/>
          <p:cNvSpPr txBox="1"/>
          <p:nvPr/>
        </p:nvSpPr>
        <p:spPr>
          <a:xfrm>
            <a:off x="1219200" y="2159000"/>
            <a:ext cx="4572000" cy="329387"/>
          </a:xfrm>
          <a:prstGeom prst="rect">
            <a:avLst/>
          </a:prstGeom>
          <a:noFill/>
        </p:spPr>
        <p:txBody>
          <a:bodyPr wrap="square" lIns="0" rIns="0" tIns="0" bIns="0" anchor="t">
            <a:noAutofit/>
          </a:bodyPr>
          <a:lstStyle/>
          <a:p>
            <a:pPr algn="l"/>
            <a:r>
              <a:rPr sz="2200" b="0" i="0" lang="de-DE">
                <a:solidFill>
                  <a:srgbClr val="043751"/>
                </a:solidFill>
                <a:latin typeface="Archivo SemiBold"/>
              </a:rPr>
              <a:t>Ganzheitlich</a:t>
            </a:r>
          </a:p>
        </p:txBody>
      </p:sp>
      <p:sp>
        <p:nvSpPr>
          <p:cNvPr id="9" name="sum-text-1"/>
          <p:cNvSpPr txBox="1"/>
          <p:nvPr/>
        </p:nvSpPr>
        <p:spPr>
          <a:xfrm>
            <a:off x="1219200" y="2526487"/>
            <a:ext cx="4572000" cy="648513"/>
          </a:xfrm>
          <a:prstGeom prst="rect">
            <a:avLst/>
          </a:prstGeom>
          <a:noFill/>
        </p:spPr>
        <p:txBody>
          <a:bodyPr wrap="square" lIns="0" rIns="0" tIns="0" bIns="0" anchor="t">
            <a:noAutofit/>
          </a:bodyPr>
          <a:lstStyle/>
          <a:p>
            <a:pPr algn="l"/>
            <a:r>
              <a:rPr sz="1700" b="0" i="0" lang="de-DE">
                <a:solidFill>
                  <a:srgbClr val="4A6079"/>
                </a:solidFill>
                <a:latin typeface="IBM Plex Sans"/>
              </a:rPr>
              <a:t>Beratung, Systembetrieb und Fläche greifen ineinander.</a:t>
            </a:r>
          </a:p>
        </p:txBody>
      </p:sp>
      <p:sp>
        <p:nvSpPr>
          <p:cNvPr id="10" name="sum-check-2"/>
          <p:cNvSpPr/>
          <p:nvPr/>
        </p:nvSpPr>
        <p:spPr>
          <a:xfrm>
            <a:off x="762000" y="3365500"/>
            <a:ext cx="279400" cy="279400"/>
          </a:xfrm>
          <a:prstGeom prst="ellipse">
            <a:avLst/>
          </a:prstGeom>
          <a:solidFill>
            <a:srgbClr val="6EA52E"/>
          </a:solidFill>
          <a:ln>
            <a:noFill/>
          </a:ln>
        </p:spPr>
        <p:txBody>
          <a:bodyPr rtlCol="0" anchor="ctr"/>
          <a:lstStyle/>
          <a:p>
            <a:pPr algn="ctr"/>
          </a:p>
        </p:txBody>
      </p:sp>
      <p:grpSp>
        <p:nvGrpSpPr>
          <p:cNvPr id="11" name="sum-check-icon-2"/>
          <p:cNvGrpSpPr/>
          <p:nvPr/>
        </p:nvGrpSpPr>
        <p:grpSpPr>
          <a:xfrm>
            <a:off x="839470" y="3455416"/>
            <a:ext cx="126238" cy="99568"/>
            <a:chOff x="839470" y="3455416"/>
            <a:chExt cx="126238" cy="99568"/>
          </a:xfrm>
        </p:grpSpPr>
        <p:cxnSp>
          <p:nvCxnSpPr>
            <p:cNvPr id="12" name="Connector 11"/>
            <p:cNvCxnSpPr/>
            <p:nvPr/>
          </p:nvCxnSpPr>
          <p:spPr>
            <a:xfrm>
              <a:off x="839470" y="3508756"/>
              <a:ext cx="44450" cy="4622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83920" y="3455416"/>
              <a:ext cx="81788" cy="9956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14" name="sum-title-2"/>
          <p:cNvSpPr txBox="1"/>
          <p:nvPr/>
        </p:nvSpPr>
        <p:spPr>
          <a:xfrm>
            <a:off x="1219200" y="3365500"/>
            <a:ext cx="4572000" cy="329387"/>
          </a:xfrm>
          <a:prstGeom prst="rect">
            <a:avLst/>
          </a:prstGeom>
          <a:noFill/>
        </p:spPr>
        <p:txBody>
          <a:bodyPr wrap="square" lIns="0" rIns="0" tIns="0" bIns="0" anchor="t">
            <a:noAutofit/>
          </a:bodyPr>
          <a:lstStyle/>
          <a:p>
            <a:pPr algn="l"/>
            <a:r>
              <a:rPr sz="2200" b="0" i="0" lang="de-DE">
                <a:solidFill>
                  <a:srgbClr val="043751"/>
                </a:solidFill>
                <a:latin typeface="Archivo SemiBold"/>
              </a:rPr>
              <a:t>Rechtskonform</a:t>
            </a:r>
          </a:p>
        </p:txBody>
      </p:sp>
      <p:sp>
        <p:nvSpPr>
          <p:cNvPr id="15" name="sum-text-2"/>
          <p:cNvSpPr txBox="1"/>
          <p:nvPr/>
        </p:nvSpPr>
        <p:spPr>
          <a:xfrm>
            <a:off x="1219200" y="3732987"/>
            <a:ext cx="4572000" cy="648513"/>
          </a:xfrm>
          <a:prstGeom prst="rect">
            <a:avLst/>
          </a:prstGeom>
          <a:noFill/>
        </p:spPr>
        <p:txBody>
          <a:bodyPr wrap="square" lIns="0" rIns="0" tIns="0" bIns="0" anchor="t">
            <a:noAutofit/>
          </a:bodyPr>
          <a:lstStyle/>
          <a:p>
            <a:pPr algn="l"/>
            <a:r>
              <a:rPr sz="1700" b="0" i="0" lang="de-DE">
                <a:solidFill>
                  <a:srgbClr val="4A6079"/>
                </a:solidFill>
                <a:latin typeface="IBM Plex Sans"/>
              </a:rPr>
              <a:t>Pflichten nach Rolle zugeordnet, umgesetzt und dokumentiert.</a:t>
            </a:r>
          </a:p>
        </p:txBody>
      </p:sp>
      <p:sp>
        <p:nvSpPr>
          <p:cNvPr id="16" name="sum-check-3"/>
          <p:cNvSpPr/>
          <p:nvPr/>
        </p:nvSpPr>
        <p:spPr>
          <a:xfrm>
            <a:off x="762000" y="4572000"/>
            <a:ext cx="279400" cy="279400"/>
          </a:xfrm>
          <a:prstGeom prst="ellipse">
            <a:avLst/>
          </a:prstGeom>
          <a:solidFill>
            <a:srgbClr val="6EA52E"/>
          </a:solidFill>
          <a:ln>
            <a:noFill/>
          </a:ln>
        </p:spPr>
        <p:txBody>
          <a:bodyPr rtlCol="0" anchor="ctr"/>
          <a:lstStyle/>
          <a:p>
            <a:pPr algn="ctr"/>
          </a:p>
        </p:txBody>
      </p:sp>
      <p:grpSp>
        <p:nvGrpSpPr>
          <p:cNvPr id="17" name="sum-check-icon-3"/>
          <p:cNvGrpSpPr/>
          <p:nvPr/>
        </p:nvGrpSpPr>
        <p:grpSpPr>
          <a:xfrm>
            <a:off x="839470" y="4661916"/>
            <a:ext cx="126238" cy="99568"/>
            <a:chOff x="839470" y="4661916"/>
            <a:chExt cx="126238" cy="99568"/>
          </a:xfrm>
        </p:grpSpPr>
        <p:cxnSp>
          <p:nvCxnSpPr>
            <p:cNvPr id="18" name="Connector 17"/>
            <p:cNvCxnSpPr/>
            <p:nvPr/>
          </p:nvCxnSpPr>
          <p:spPr>
            <a:xfrm>
              <a:off x="839470" y="4715256"/>
              <a:ext cx="44450" cy="4622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883920" y="4661916"/>
              <a:ext cx="81788" cy="9956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0" name="sum-title-3"/>
          <p:cNvSpPr txBox="1"/>
          <p:nvPr/>
        </p:nvSpPr>
        <p:spPr>
          <a:xfrm>
            <a:off x="1219200" y="4572000"/>
            <a:ext cx="4572000" cy="329387"/>
          </a:xfrm>
          <a:prstGeom prst="rect">
            <a:avLst/>
          </a:prstGeom>
          <a:noFill/>
        </p:spPr>
        <p:txBody>
          <a:bodyPr wrap="square" lIns="0" rIns="0" tIns="0" bIns="0" anchor="t">
            <a:noAutofit/>
          </a:bodyPr>
          <a:lstStyle/>
          <a:p>
            <a:pPr algn="l"/>
            <a:r>
              <a:rPr sz="2200" b="0" i="0" lang="de-DE">
                <a:solidFill>
                  <a:srgbClr val="043751"/>
                </a:solidFill>
                <a:latin typeface="Archivo SemiBold"/>
              </a:rPr>
              <a:t>Nachhaltig</a:t>
            </a:r>
          </a:p>
        </p:txBody>
      </p:sp>
      <p:sp>
        <p:nvSpPr>
          <p:cNvPr id="21" name="sum-text-3"/>
          <p:cNvSpPr txBox="1"/>
          <p:nvPr/>
        </p:nvSpPr>
        <p:spPr>
          <a:xfrm>
            <a:off x="1219200" y="4939487"/>
            <a:ext cx="4572000" cy="648513"/>
          </a:xfrm>
          <a:prstGeom prst="rect">
            <a:avLst/>
          </a:prstGeom>
          <a:noFill/>
        </p:spPr>
        <p:txBody>
          <a:bodyPr wrap="square" lIns="0" rIns="0" tIns="0" bIns="0" anchor="t">
            <a:noAutofit/>
          </a:bodyPr>
          <a:lstStyle/>
          <a:p>
            <a:pPr algn="l"/>
            <a:r>
              <a:rPr sz="1700" b="0" i="0" lang="de-DE">
                <a:solidFill>
                  <a:srgbClr val="4A6079"/>
                </a:solidFill>
                <a:latin typeface="IBM Plex Sans"/>
              </a:rPr>
              <a:t>Aus gesetzlichen Auflagen wird ein Beitrag für die Zukunft.</a:t>
            </a:r>
          </a:p>
        </p:txBody>
      </p:sp>
      <p:sp>
        <p:nvSpPr>
          <p:cNvPr id="22" name="sum-check-4"/>
          <p:cNvSpPr/>
          <p:nvPr/>
        </p:nvSpPr>
        <p:spPr>
          <a:xfrm>
            <a:off x="6223000" y="2159000"/>
            <a:ext cx="279400" cy="279400"/>
          </a:xfrm>
          <a:prstGeom prst="ellipse">
            <a:avLst/>
          </a:prstGeom>
          <a:solidFill>
            <a:srgbClr val="6EA52E"/>
          </a:solidFill>
          <a:ln>
            <a:noFill/>
          </a:ln>
        </p:spPr>
        <p:txBody>
          <a:bodyPr rtlCol="0" anchor="ctr"/>
          <a:lstStyle/>
          <a:p>
            <a:pPr algn="ctr"/>
          </a:p>
        </p:txBody>
      </p:sp>
      <p:grpSp>
        <p:nvGrpSpPr>
          <p:cNvPr id="23" name="sum-check-icon-4"/>
          <p:cNvGrpSpPr/>
          <p:nvPr/>
        </p:nvGrpSpPr>
        <p:grpSpPr>
          <a:xfrm>
            <a:off x="6300470" y="2248916"/>
            <a:ext cx="126238" cy="99568"/>
            <a:chOff x="6300470" y="2248916"/>
            <a:chExt cx="126238" cy="99568"/>
          </a:xfrm>
        </p:grpSpPr>
        <p:cxnSp>
          <p:nvCxnSpPr>
            <p:cNvPr id="24" name="Connector 23"/>
            <p:cNvCxnSpPr/>
            <p:nvPr/>
          </p:nvCxnSpPr>
          <p:spPr>
            <a:xfrm>
              <a:off x="6300470" y="2302256"/>
              <a:ext cx="44450" cy="4622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6344920" y="2248916"/>
              <a:ext cx="81788" cy="9956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26" name="sum-title-4"/>
          <p:cNvSpPr txBox="1"/>
          <p:nvPr/>
        </p:nvSpPr>
        <p:spPr>
          <a:xfrm>
            <a:off x="6680200" y="2159000"/>
            <a:ext cx="4572000" cy="329387"/>
          </a:xfrm>
          <a:prstGeom prst="rect">
            <a:avLst/>
          </a:prstGeom>
          <a:noFill/>
        </p:spPr>
        <p:txBody>
          <a:bodyPr wrap="square" lIns="0" rIns="0" tIns="0" bIns="0" anchor="t">
            <a:noAutofit/>
          </a:bodyPr>
          <a:lstStyle/>
          <a:p>
            <a:pPr algn="l"/>
            <a:r>
              <a:rPr sz="2200" b="0" i="0" lang="de-DE">
                <a:solidFill>
                  <a:srgbClr val="043751"/>
                </a:solidFill>
                <a:latin typeface="Archivo SemiBold"/>
              </a:rPr>
              <a:t>Ein Vertragspartner</a:t>
            </a:r>
          </a:p>
        </p:txBody>
      </p:sp>
      <p:sp>
        <p:nvSpPr>
          <p:cNvPr id="27" name="sum-text-4"/>
          <p:cNvSpPr txBox="1"/>
          <p:nvPr/>
        </p:nvSpPr>
        <p:spPr>
          <a:xfrm>
            <a:off x="6680200" y="2526487"/>
            <a:ext cx="4572000" cy="648513"/>
          </a:xfrm>
          <a:prstGeom prst="rect">
            <a:avLst/>
          </a:prstGeom>
          <a:noFill/>
        </p:spPr>
        <p:txBody>
          <a:bodyPr wrap="square" lIns="0" rIns="0" tIns="0" bIns="0" anchor="t">
            <a:noAutofit/>
          </a:bodyPr>
          <a:lstStyle/>
          <a:p>
            <a:pPr algn="l"/>
            <a:r>
              <a:rPr sz="1700" b="0" i="0" lang="de-DE">
                <a:solidFill>
                  <a:srgbClr val="4A6079"/>
                </a:solidFill>
                <a:latin typeface="IBM Plex Sans"/>
              </a:rPr>
              <a:t>Alle drei Marken über die ecowerth GmbH.</a:t>
            </a:r>
          </a:p>
        </p:txBody>
      </p:sp>
      <p:sp>
        <p:nvSpPr>
          <p:cNvPr id="28" name="sum-check-5"/>
          <p:cNvSpPr/>
          <p:nvPr/>
        </p:nvSpPr>
        <p:spPr>
          <a:xfrm>
            <a:off x="6223000" y="3365500"/>
            <a:ext cx="279400" cy="279400"/>
          </a:xfrm>
          <a:prstGeom prst="ellipse">
            <a:avLst/>
          </a:prstGeom>
          <a:solidFill>
            <a:srgbClr val="6EA52E"/>
          </a:solidFill>
          <a:ln>
            <a:noFill/>
          </a:ln>
        </p:spPr>
        <p:txBody>
          <a:bodyPr rtlCol="0" anchor="ctr"/>
          <a:lstStyle/>
          <a:p>
            <a:pPr algn="ctr"/>
          </a:p>
        </p:txBody>
      </p:sp>
      <p:grpSp>
        <p:nvGrpSpPr>
          <p:cNvPr id="29" name="sum-check-icon-5"/>
          <p:cNvGrpSpPr/>
          <p:nvPr/>
        </p:nvGrpSpPr>
        <p:grpSpPr>
          <a:xfrm>
            <a:off x="6300470" y="3455416"/>
            <a:ext cx="126238" cy="99568"/>
            <a:chOff x="6300470" y="3455416"/>
            <a:chExt cx="126238" cy="99568"/>
          </a:xfrm>
        </p:grpSpPr>
        <p:cxnSp>
          <p:nvCxnSpPr>
            <p:cNvPr id="30" name="Connector 29"/>
            <p:cNvCxnSpPr/>
            <p:nvPr/>
          </p:nvCxnSpPr>
          <p:spPr>
            <a:xfrm>
              <a:off x="6300470" y="3508756"/>
              <a:ext cx="44450" cy="4622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6344920" y="3455416"/>
              <a:ext cx="81788" cy="99568"/>
            </a:xfrm>
            <a:prstGeom prst="line">
              <a:avLst/>
            </a:prstGeom>
            <a:ln w="21336">
              <a:solidFill>
                <a:srgbClr val="FFFFFF"/>
              </a:solidFill>
            </a:ln>
          </p:spPr>
          <p:style>
            <a:lnRef idx="2">
              <a:schemeClr val="accent1"/>
            </a:lnRef>
            <a:fillRef idx="0">
              <a:schemeClr val="accent1"/>
            </a:fillRef>
            <a:effectRef idx="1">
              <a:schemeClr val="accent1"/>
            </a:effectRef>
            <a:fontRef idx="minor">
              <a:schemeClr val="tx1"/>
            </a:fontRef>
          </p:style>
        </p:cxnSp>
      </p:grpSp>
      <p:sp>
        <p:nvSpPr>
          <p:cNvPr id="32" name="sum-title-5"/>
          <p:cNvSpPr txBox="1"/>
          <p:nvPr/>
        </p:nvSpPr>
        <p:spPr>
          <a:xfrm>
            <a:off x="6680200" y="3365500"/>
            <a:ext cx="4572000" cy="329387"/>
          </a:xfrm>
          <a:prstGeom prst="rect">
            <a:avLst/>
          </a:prstGeom>
          <a:noFill/>
        </p:spPr>
        <p:txBody>
          <a:bodyPr wrap="square" lIns="0" rIns="0" tIns="0" bIns="0" anchor="t">
            <a:noAutofit/>
          </a:bodyPr>
          <a:lstStyle/>
          <a:p>
            <a:pPr algn="l"/>
            <a:r>
              <a:rPr sz="2200" b="0" i="0" lang="de-DE">
                <a:solidFill>
                  <a:srgbClr val="043751"/>
                </a:solidFill>
                <a:latin typeface="Archivo SemiBold"/>
              </a:rPr>
              <a:t>Gleiche Ansprechpartner</a:t>
            </a:r>
          </a:p>
        </p:txBody>
      </p:sp>
      <p:sp>
        <p:nvSpPr>
          <p:cNvPr id="33" name="sum-text-5"/>
          <p:cNvSpPr txBox="1"/>
          <p:nvPr/>
        </p:nvSpPr>
        <p:spPr>
          <a:xfrm>
            <a:off x="6680200" y="3732987"/>
            <a:ext cx="4572000" cy="648513"/>
          </a:xfrm>
          <a:prstGeom prst="rect">
            <a:avLst/>
          </a:prstGeom>
          <a:noFill/>
        </p:spPr>
        <p:txBody>
          <a:bodyPr wrap="square" lIns="0" rIns="0" tIns="0" bIns="0" anchor="t">
            <a:noAutofit/>
          </a:bodyPr>
          <a:lstStyle/>
          <a:p>
            <a:pPr algn="l"/>
            <a:r>
              <a:rPr sz="1700" b="0" i="0" lang="de-DE">
                <a:solidFill>
                  <a:srgbClr val="4A6079"/>
                </a:solidFill>
                <a:latin typeface="IBM Plex Sans"/>
              </a:rPr>
              <a:t>Teams und Mandate bleiben, wie sie sind.</a:t>
            </a:r>
          </a:p>
        </p:txBody>
      </p:sp>
      <p:sp>
        <p:nvSpPr>
          <p:cNvPr id="34"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4A6079"/>
                </a:solidFill>
                <a:latin typeface="IBM Plex Mono"/>
              </a:rPr>
              <a:t>01</a:t>
            </a:r>
            <a:r>
              <a:rPr sz="1200" b="0" i="0" lang="de-DE">
                <a:solidFill>
                  <a:srgbClr val="4A6079"/>
                </a:solidFill>
                <a:latin typeface="IBM Plex Mono"/>
              </a:rPr>
              <a:t> </a:t>
            </a:r>
            <a:r>
              <a:rPr sz="1200" b="0" i="0" lang="de-DE" cap="all" spc="72">
                <a:solidFill>
                  <a:srgbClr val="4A6079"/>
                </a:solidFill>
                <a:latin typeface="IBM Plex Sans Medium"/>
              </a:rPr>
              <a:t>Die Gruppe</a:t>
            </a:r>
          </a:p>
        </p:txBody>
      </p:sp>
      <p:sp>
        <p:nvSpPr>
          <p:cNvPr id="35"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4A6079"/>
                </a:solidFill>
                <a:latin typeface="IBM Plex Mono"/>
              </a:rPr>
              <a:t>02</a:t>
            </a:r>
            <a:r>
              <a:rPr sz="1200" b="0" i="0" lang="de-DE">
                <a:solidFill>
                  <a:srgbClr val="4A6079"/>
                </a:solidFill>
                <a:latin typeface="IBM Plex Mono"/>
              </a:rPr>
              <a:t> </a:t>
            </a:r>
            <a:r>
              <a:rPr sz="1200" b="0" i="0" lang="de-DE" cap="all" spc="72">
                <a:solidFill>
                  <a:srgbClr val="4A6079"/>
                </a:solidFill>
                <a:latin typeface="IBM Plex Sans Medium"/>
              </a:rPr>
              <a:t>Unsere Marken</a:t>
            </a:r>
          </a:p>
        </p:txBody>
      </p:sp>
      <p:sp>
        <p:nvSpPr>
          <p:cNvPr id="36"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4A6079"/>
                </a:solidFill>
                <a:latin typeface="IBM Plex Mono"/>
              </a:rPr>
              <a:t>03</a:t>
            </a:r>
            <a:r>
              <a:rPr sz="1200" b="0" i="0" lang="de-DE">
                <a:solidFill>
                  <a:srgbClr val="4A6079"/>
                </a:solidFill>
                <a:latin typeface="IBM Plex Mono"/>
              </a:rPr>
              <a:t> </a:t>
            </a:r>
            <a:r>
              <a:rPr sz="1200" b="0" i="0" lang="de-DE" cap="all" spc="72">
                <a:solidFill>
                  <a:srgbClr val="4A6079"/>
                </a:solidFill>
                <a:latin typeface="IBM Plex Sans Medium"/>
              </a:rPr>
              <a:t>Leistungen</a:t>
            </a:r>
          </a:p>
        </p:txBody>
      </p:sp>
      <p:sp>
        <p:nvSpPr>
          <p:cNvPr id="37"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4A6079"/>
                </a:solidFill>
                <a:latin typeface="IBM Plex Mono"/>
              </a:rPr>
              <a:t>04</a:t>
            </a:r>
            <a:r>
              <a:rPr sz="1200" b="0" i="0" lang="de-DE">
                <a:solidFill>
                  <a:srgbClr val="4A6079"/>
                </a:solidFill>
                <a:latin typeface="IBM Plex Mono"/>
              </a:rPr>
              <a:t> </a:t>
            </a:r>
            <a:r>
              <a:rPr sz="1200" b="0" i="0" lang="de-DE" cap="all" spc="72">
                <a:solidFill>
                  <a:srgbClr val="4A6079"/>
                </a:solidFill>
                <a:latin typeface="IBM Plex Sans Medium"/>
              </a:rPr>
              <a:t>Rechtsrahmen</a:t>
            </a:r>
          </a:p>
        </p:txBody>
      </p:sp>
      <p:sp>
        <p:nvSpPr>
          <p:cNvPr id="38" name="nav-5-active"/>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4F7A1E"/>
                </a:solidFill>
                <a:latin typeface="IBM Plex Mono"/>
              </a:rPr>
              <a:t>05</a:t>
            </a:r>
            <a:r>
              <a:rPr sz="1200" b="0" i="0" lang="de-DE">
                <a:solidFill>
                  <a:srgbClr val="043751"/>
                </a:solidFill>
                <a:latin typeface="IBM Plex Mono"/>
              </a:rPr>
              <a:t> </a:t>
            </a:r>
            <a:r>
              <a:rPr sz="1200" b="0" i="0" lang="de-DE" cap="all" spc="72">
                <a:solidFill>
                  <a:srgbClr val="043751"/>
                </a:solidFill>
                <a:latin typeface="IBM Plex Sans Medium"/>
              </a:rPr>
              <a:t>Zusammenarbeit</a:t>
            </a:r>
          </a:p>
        </p:txBody>
      </p:sp>
      <p:sp>
        <p:nvSpPr>
          <p:cNvPr id="39" name="nav-underline"/>
          <p:cNvSpPr/>
          <p:nvPr/>
        </p:nvSpPr>
        <p:spPr>
          <a:xfrm>
            <a:off x="9652075" y="685800"/>
            <a:ext cx="1777925" cy="25400"/>
          </a:xfrm>
          <a:prstGeom prst="rect">
            <a:avLst/>
          </a:prstGeom>
          <a:solidFill>
            <a:srgbClr val="6EA52E"/>
          </a:solidFill>
          <a:ln>
            <a:noFill/>
          </a:ln>
        </p:spPr>
        <p:txBody>
          <a:bodyPr rtlCol="0" anchor="ctr"/>
          <a:lstStyle/>
          <a:p>
            <a:pPr algn="ctr"/>
          </a:p>
        </p:txBody>
      </p:sp>
      <p:sp>
        <p:nvSpPr>
          <p:cNvPr id="40"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4A6079"/>
                </a:solidFill>
                <a:latin typeface="IBM Plex Mono Medium"/>
              </a:rPr>
              <a:t>Zukunft im Kreislauf</a:t>
            </a:r>
          </a:p>
        </p:txBody>
      </p:sp>
      <p:sp>
        <p:nvSpPr>
          <p:cNvPr id="41"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4A6079"/>
                </a:solidFill>
                <a:latin typeface="IBM Plex Mono Medium"/>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a:lstStyle/>
          <a:p>
            <a:r>
              <a:t>05 · Zusammenarbeit</a:t>
            </a:r>
          </a:p>
        </p:txBody>
      </p:sp>
      <p:sp>
        <p:nvSpPr>
          <p:cNvPr id="3" name="Title 2"/>
          <p:cNvSpPr>
            <a:spLocks noGrp="1"/>
          </p:cNvSpPr>
          <p:nvPr>
            <p:ph type="title"/>
          </p:nvPr>
        </p:nvSpPr>
        <p:spPr/>
        <p:txBody>
          <a:bodyPr/>
          <a:lstStyle/>
          <a:p>
            <a:r>
              <a:t>Ein Gespräch, das Ihre Pflichten sortiert</a:t>
            </a:r>
          </a:p>
        </p:txBody>
      </p:sp>
      <p:sp>
        <p:nvSpPr>
          <p:cNvPr id="4" name="Text Placeholder 3"/>
          <p:cNvSpPr>
            <a:spLocks noGrp="1"/>
          </p:cNvSpPr>
          <p:nvPr>
            <p:ph type="body" idx="23"/>
          </p:nvPr>
        </p:nvSpPr>
        <p:spPr/>
        <p:txBody>
          <a:bodyPr/>
          <a:lstStyle/>
          <a:p>
            <a:r>
              <a:t>Kontakt</a:t>
            </a:r>
          </a:p>
        </p:txBody>
      </p:sp>
      <p:sp>
        <p:nvSpPr>
          <p:cNvPr id="5" name="Text Placeholder 4"/>
          <p:cNvSpPr>
            <a:spLocks noGrp="1"/>
          </p:cNvSpPr>
          <p:nvPr>
            <p:ph type="body" idx="24"/>
          </p:nvPr>
        </p:nvSpPr>
        <p:spPr/>
        <p:txBody>
          <a:bodyPr/>
          <a:lstStyle/>
          <a:p>
            <a:r>
              <a:t>Florian Werthmann</a:t>
            </a:r>
          </a:p>
        </p:txBody>
      </p:sp>
      <p:sp>
        <p:nvSpPr>
          <p:cNvPr id="6" name="Text Placeholder 5"/>
          <p:cNvSpPr>
            <a:spLocks noGrp="1"/>
          </p:cNvSpPr>
          <p:nvPr>
            <p:ph type="body" idx="25"/>
          </p:nvPr>
        </p:nvSpPr>
        <p:spPr/>
        <p:txBody>
          <a:bodyPr/>
          <a:lstStyle/>
          <a:p>
            <a:r>
              <a:t>Geschäftsführer, ecowerth GmbH</a:t>
            </a:r>
          </a:p>
          <a:p>
            <a:r>
              <a:t>+49 151 10 855 833</a:t>
            </a:r>
          </a:p>
          <a:p>
            <a:r>
              <a:t>florian.werthmann@ecowerth.de</a:t>
            </a:r>
          </a:p>
        </p:txBody>
      </p:sp>
      <p:sp>
        <p:nvSpPr>
          <p:cNvPr id="7" name="next-step-rule"/>
          <p:cNvSpPr/>
          <p:nvPr/>
        </p:nvSpPr>
        <p:spPr>
          <a:xfrm>
            <a:off x="762000" y="2152650"/>
            <a:ext cx="5842000" cy="12700"/>
          </a:xfrm>
          <a:prstGeom prst="rect">
            <a:avLst/>
          </a:prstGeom>
          <a:solidFill>
            <a:srgbClr val="325C72"/>
          </a:solidFill>
          <a:ln>
            <a:noFill/>
          </a:ln>
        </p:spPr>
        <p:txBody>
          <a:bodyPr rtlCol="0" anchor="ctr"/>
          <a:lstStyle/>
          <a:p>
            <a:pPr algn="ctr"/>
          </a:p>
        </p:txBody>
      </p:sp>
      <p:sp>
        <p:nvSpPr>
          <p:cNvPr id="8" name="next-step-num-1"/>
          <p:cNvSpPr txBox="1"/>
          <p:nvPr/>
        </p:nvSpPr>
        <p:spPr>
          <a:xfrm>
            <a:off x="762000" y="2324100"/>
            <a:ext cx="444500" cy="279400"/>
          </a:xfrm>
          <a:prstGeom prst="rect">
            <a:avLst/>
          </a:prstGeom>
          <a:noFill/>
        </p:spPr>
        <p:txBody>
          <a:bodyPr wrap="square" lIns="0" rIns="0" tIns="0" bIns="0" anchor="t">
            <a:noAutofit/>
          </a:bodyPr>
          <a:lstStyle/>
          <a:p>
            <a:pPr algn="l"/>
            <a:r>
              <a:rPr sz="1600" b="0" i="0" lang="de-DE">
                <a:solidFill>
                  <a:srgbClr val="8FC65A"/>
                </a:solidFill>
                <a:latin typeface="IBM Plex Mono Medium"/>
              </a:rPr>
              <a:t>01</a:t>
            </a:r>
          </a:p>
        </p:txBody>
      </p:sp>
      <p:sp>
        <p:nvSpPr>
          <p:cNvPr id="9" name="next-step-title-1"/>
          <p:cNvSpPr txBox="1"/>
          <p:nvPr/>
        </p:nvSpPr>
        <p:spPr>
          <a:xfrm>
            <a:off x="1333500" y="2324100"/>
            <a:ext cx="5270500" cy="329387"/>
          </a:xfrm>
          <a:prstGeom prst="rect">
            <a:avLst/>
          </a:prstGeom>
          <a:noFill/>
        </p:spPr>
        <p:txBody>
          <a:bodyPr wrap="square" lIns="0" rIns="0" tIns="0" bIns="0" anchor="t">
            <a:noAutofit/>
          </a:bodyPr>
          <a:lstStyle/>
          <a:p>
            <a:pPr algn="l"/>
            <a:r>
              <a:rPr sz="2200" b="0" i="0" lang="de-DE">
                <a:solidFill>
                  <a:srgbClr val="FFFFFF"/>
                </a:solidFill>
                <a:latin typeface="Archivo SemiBold"/>
              </a:rPr>
              <a:t>Rolle und Produkte schildern</a:t>
            </a:r>
          </a:p>
        </p:txBody>
      </p:sp>
      <p:sp>
        <p:nvSpPr>
          <p:cNvPr id="10" name="next-step-text-1"/>
          <p:cNvSpPr txBox="1"/>
          <p:nvPr/>
        </p:nvSpPr>
        <p:spPr>
          <a:xfrm>
            <a:off x="1333500" y="2678887"/>
            <a:ext cx="5270500" cy="586740"/>
          </a:xfrm>
          <a:prstGeom prst="rect">
            <a:avLst/>
          </a:prstGeom>
          <a:noFill/>
        </p:spPr>
        <p:txBody>
          <a:bodyPr wrap="square" lIns="0" rIns="0" tIns="0" bIns="0" anchor="t">
            <a:noAutofit/>
          </a:bodyPr>
          <a:lstStyle/>
          <a:p>
            <a:pPr algn="l"/>
            <a:r>
              <a:rPr sz="1700" b="0" i="0" lang="de-DE">
                <a:solidFill>
                  <a:srgbClr val="E8EEF4"/>
                </a:solidFill>
                <a:latin typeface="IBM Plex Sans"/>
              </a:rPr>
              <a:t>Welche Produkte Sie in Verkehr bringen oder welche Abfälle anfallen.</a:t>
            </a:r>
          </a:p>
        </p:txBody>
      </p:sp>
      <p:sp>
        <p:nvSpPr>
          <p:cNvPr id="11" name="next-step-line-1"/>
          <p:cNvSpPr/>
          <p:nvPr/>
        </p:nvSpPr>
        <p:spPr>
          <a:xfrm>
            <a:off x="762000" y="3424377"/>
            <a:ext cx="5842000" cy="12700"/>
          </a:xfrm>
          <a:prstGeom prst="rect">
            <a:avLst/>
          </a:prstGeom>
          <a:solidFill>
            <a:srgbClr val="325C72"/>
          </a:solidFill>
          <a:ln>
            <a:noFill/>
          </a:ln>
        </p:spPr>
        <p:txBody>
          <a:bodyPr rtlCol="0" anchor="ctr"/>
          <a:lstStyle/>
          <a:p>
            <a:pPr algn="ctr"/>
          </a:p>
        </p:txBody>
      </p:sp>
      <p:sp>
        <p:nvSpPr>
          <p:cNvPr id="12" name="next-step-num-2"/>
          <p:cNvSpPr txBox="1"/>
          <p:nvPr/>
        </p:nvSpPr>
        <p:spPr>
          <a:xfrm>
            <a:off x="762000" y="3595827"/>
            <a:ext cx="444500" cy="279400"/>
          </a:xfrm>
          <a:prstGeom prst="rect">
            <a:avLst/>
          </a:prstGeom>
          <a:noFill/>
        </p:spPr>
        <p:txBody>
          <a:bodyPr wrap="square" lIns="0" rIns="0" tIns="0" bIns="0" anchor="t">
            <a:noAutofit/>
          </a:bodyPr>
          <a:lstStyle/>
          <a:p>
            <a:pPr algn="l"/>
            <a:r>
              <a:rPr sz="1600" b="0" i="0" lang="de-DE">
                <a:solidFill>
                  <a:srgbClr val="8FC65A"/>
                </a:solidFill>
                <a:latin typeface="IBM Plex Mono Medium"/>
              </a:rPr>
              <a:t>02</a:t>
            </a:r>
          </a:p>
        </p:txBody>
      </p:sp>
      <p:sp>
        <p:nvSpPr>
          <p:cNvPr id="13" name="next-step-title-2"/>
          <p:cNvSpPr txBox="1"/>
          <p:nvPr/>
        </p:nvSpPr>
        <p:spPr>
          <a:xfrm>
            <a:off x="1333500" y="3595827"/>
            <a:ext cx="5270500" cy="329387"/>
          </a:xfrm>
          <a:prstGeom prst="rect">
            <a:avLst/>
          </a:prstGeom>
          <a:noFill/>
        </p:spPr>
        <p:txBody>
          <a:bodyPr wrap="square" lIns="0" rIns="0" tIns="0" bIns="0" anchor="t">
            <a:noAutofit/>
          </a:bodyPr>
          <a:lstStyle/>
          <a:p>
            <a:pPr algn="l"/>
            <a:r>
              <a:rPr sz="2200" b="0" i="0" lang="de-DE">
                <a:solidFill>
                  <a:srgbClr val="FFFFFF"/>
                </a:solidFill>
                <a:latin typeface="Archivo SemiBold"/>
              </a:rPr>
              <a:t>Pflichten sortieren</a:t>
            </a:r>
          </a:p>
        </p:txBody>
      </p:sp>
      <p:sp>
        <p:nvSpPr>
          <p:cNvPr id="14" name="next-step-text-2"/>
          <p:cNvSpPr txBox="1"/>
          <p:nvPr/>
        </p:nvSpPr>
        <p:spPr>
          <a:xfrm>
            <a:off x="1333500" y="3950614"/>
            <a:ext cx="5270500" cy="306070"/>
          </a:xfrm>
          <a:prstGeom prst="rect">
            <a:avLst/>
          </a:prstGeom>
          <a:noFill/>
        </p:spPr>
        <p:txBody>
          <a:bodyPr wrap="square" lIns="0" rIns="0" tIns="0" bIns="0" anchor="t">
            <a:noAutofit/>
          </a:bodyPr>
          <a:lstStyle/>
          <a:p>
            <a:pPr algn="l"/>
            <a:r>
              <a:rPr sz="1700" b="0" i="0" lang="de-DE">
                <a:solidFill>
                  <a:srgbClr val="E8EEF4"/>
                </a:solidFill>
                <a:latin typeface="IBM Plex Sans"/>
              </a:rPr>
              <a:t>Wir ordnen zu, welche Regelwerke für Sie gelten.</a:t>
            </a:r>
          </a:p>
        </p:txBody>
      </p:sp>
      <p:sp>
        <p:nvSpPr>
          <p:cNvPr id="15" name="next-step-line-2"/>
          <p:cNvSpPr/>
          <p:nvPr/>
        </p:nvSpPr>
        <p:spPr>
          <a:xfrm>
            <a:off x="762000" y="4415434"/>
            <a:ext cx="5842000" cy="12700"/>
          </a:xfrm>
          <a:prstGeom prst="rect">
            <a:avLst/>
          </a:prstGeom>
          <a:solidFill>
            <a:srgbClr val="325C72"/>
          </a:solidFill>
          <a:ln>
            <a:noFill/>
          </a:ln>
        </p:spPr>
        <p:txBody>
          <a:bodyPr rtlCol="0" anchor="ctr"/>
          <a:lstStyle/>
          <a:p>
            <a:pPr algn="ctr"/>
          </a:p>
        </p:txBody>
      </p:sp>
      <p:sp>
        <p:nvSpPr>
          <p:cNvPr id="16" name="next-step-num-3"/>
          <p:cNvSpPr txBox="1"/>
          <p:nvPr/>
        </p:nvSpPr>
        <p:spPr>
          <a:xfrm>
            <a:off x="762000" y="4586884"/>
            <a:ext cx="444500" cy="279400"/>
          </a:xfrm>
          <a:prstGeom prst="rect">
            <a:avLst/>
          </a:prstGeom>
          <a:noFill/>
        </p:spPr>
        <p:txBody>
          <a:bodyPr wrap="square" lIns="0" rIns="0" tIns="0" bIns="0" anchor="t">
            <a:noAutofit/>
          </a:bodyPr>
          <a:lstStyle/>
          <a:p>
            <a:pPr algn="l"/>
            <a:r>
              <a:rPr sz="1600" b="0" i="0" lang="de-DE">
                <a:solidFill>
                  <a:srgbClr val="8FC65A"/>
                </a:solidFill>
                <a:latin typeface="IBM Plex Mono Medium"/>
              </a:rPr>
              <a:t>03</a:t>
            </a:r>
          </a:p>
        </p:txBody>
      </p:sp>
      <p:sp>
        <p:nvSpPr>
          <p:cNvPr id="17" name="next-step-title-3"/>
          <p:cNvSpPr txBox="1"/>
          <p:nvPr/>
        </p:nvSpPr>
        <p:spPr>
          <a:xfrm>
            <a:off x="1333500" y="4586884"/>
            <a:ext cx="5270500" cy="329387"/>
          </a:xfrm>
          <a:prstGeom prst="rect">
            <a:avLst/>
          </a:prstGeom>
          <a:noFill/>
        </p:spPr>
        <p:txBody>
          <a:bodyPr wrap="square" lIns="0" rIns="0" tIns="0" bIns="0" anchor="t">
            <a:noAutofit/>
          </a:bodyPr>
          <a:lstStyle/>
          <a:p>
            <a:pPr algn="l"/>
            <a:r>
              <a:rPr sz="2200" b="0" i="0" lang="de-DE">
                <a:solidFill>
                  <a:srgbClr val="FFFFFF"/>
                </a:solidFill>
                <a:latin typeface="Archivo SemiBold"/>
              </a:rPr>
              <a:t>Umsetzung aus einer Hand</a:t>
            </a:r>
          </a:p>
        </p:txBody>
      </p:sp>
      <p:sp>
        <p:nvSpPr>
          <p:cNvPr id="18" name="next-step-text-3"/>
          <p:cNvSpPr txBox="1"/>
          <p:nvPr/>
        </p:nvSpPr>
        <p:spPr>
          <a:xfrm>
            <a:off x="1333500" y="4941672"/>
            <a:ext cx="5270500" cy="586740"/>
          </a:xfrm>
          <a:prstGeom prst="rect">
            <a:avLst/>
          </a:prstGeom>
          <a:noFill/>
        </p:spPr>
        <p:txBody>
          <a:bodyPr wrap="square" lIns="0" rIns="0" tIns="0" bIns="0" anchor="t">
            <a:noAutofit/>
          </a:bodyPr>
          <a:lstStyle/>
          <a:p>
            <a:pPr algn="l"/>
            <a:r>
              <a:rPr sz="1700" b="0" i="0" lang="de-DE">
                <a:solidFill>
                  <a:srgbClr val="E8EEF4"/>
                </a:solidFill>
                <a:latin typeface="IBM Plex Sans"/>
              </a:rPr>
              <a:t>Beratung, Systembetrieb und Fläche mit einem Vertragspartner.</a:t>
            </a:r>
          </a:p>
        </p:txBody>
      </p:sp>
      <p:sp>
        <p:nvSpPr>
          <p:cNvPr id="19" name="next-step-line-3"/>
          <p:cNvSpPr/>
          <p:nvPr/>
        </p:nvSpPr>
        <p:spPr>
          <a:xfrm>
            <a:off x="762000" y="5687162"/>
            <a:ext cx="5842000" cy="12700"/>
          </a:xfrm>
          <a:prstGeom prst="rect">
            <a:avLst/>
          </a:prstGeom>
          <a:solidFill>
            <a:srgbClr val="325C72"/>
          </a:solidFill>
          <a:ln>
            <a:noFill/>
          </a:ln>
        </p:spPr>
        <p:txBody>
          <a:bodyPr rtlCol="0" anchor="ctr"/>
          <a:lstStyle/>
          <a:p>
            <a:pPr algn="ctr"/>
          </a:p>
        </p:txBody>
      </p:sp>
      <p:sp>
        <p:nvSpPr>
          <p:cNvPr id="20" name="nav-1"/>
          <p:cNvSpPr txBox="1"/>
          <p:nvPr/>
        </p:nvSpPr>
        <p:spPr>
          <a:xfrm>
            <a:off x="2850015" y="254000"/>
            <a:ext cx="1402814" cy="203200"/>
          </a:xfrm>
          <a:prstGeom prst="rect">
            <a:avLst/>
          </a:prstGeom>
          <a:noFill/>
        </p:spPr>
        <p:txBody>
          <a:bodyPr wrap="square" lIns="0" rIns="0" tIns="0" bIns="0" anchor="ctr">
            <a:noAutofit/>
          </a:bodyPr>
          <a:lstStyle/>
          <a:p>
            <a:pPr algn="l"/>
            <a:r>
              <a:rPr sz="1200" b="0" i="0" lang="de-DE">
                <a:solidFill>
                  <a:srgbClr val="A3B6C9"/>
                </a:solidFill>
                <a:latin typeface="IBM Plex Mono"/>
              </a:rPr>
              <a:t>01</a:t>
            </a:r>
            <a:r>
              <a:rPr sz="1200" b="0" i="0" lang="de-DE">
                <a:solidFill>
                  <a:srgbClr val="A3B6C9"/>
                </a:solidFill>
                <a:latin typeface="IBM Plex Mono"/>
              </a:rPr>
              <a:t> </a:t>
            </a:r>
            <a:r>
              <a:rPr sz="1200" b="0" i="0" lang="de-DE" cap="all" spc="72">
                <a:solidFill>
                  <a:srgbClr val="A3B6C9"/>
                </a:solidFill>
                <a:latin typeface="IBM Plex Sans Medium"/>
              </a:rPr>
              <a:t>Die Gruppe</a:t>
            </a:r>
          </a:p>
        </p:txBody>
      </p:sp>
      <p:sp>
        <p:nvSpPr>
          <p:cNvPr id="21" name="nav-2"/>
          <p:cNvSpPr txBox="1"/>
          <p:nvPr/>
        </p:nvSpPr>
        <p:spPr>
          <a:xfrm>
            <a:off x="4354429" y="254000"/>
            <a:ext cx="1791204" cy="203200"/>
          </a:xfrm>
          <a:prstGeom prst="rect">
            <a:avLst/>
          </a:prstGeom>
          <a:noFill/>
        </p:spPr>
        <p:txBody>
          <a:bodyPr wrap="square" lIns="0" rIns="0" tIns="0" bIns="0" anchor="ctr">
            <a:noAutofit/>
          </a:bodyPr>
          <a:lstStyle/>
          <a:p>
            <a:pPr algn="l"/>
            <a:r>
              <a:rPr sz="1200" b="0" i="0" lang="de-DE">
                <a:solidFill>
                  <a:srgbClr val="A3B6C9"/>
                </a:solidFill>
                <a:latin typeface="IBM Plex Mono"/>
              </a:rPr>
              <a:t>02</a:t>
            </a:r>
            <a:r>
              <a:rPr sz="1200" b="0" i="0" lang="de-DE">
                <a:solidFill>
                  <a:srgbClr val="A3B6C9"/>
                </a:solidFill>
                <a:latin typeface="IBM Plex Mono"/>
              </a:rPr>
              <a:t> </a:t>
            </a:r>
            <a:r>
              <a:rPr sz="1200" b="0" i="0" lang="de-DE" cap="all" spc="72">
                <a:solidFill>
                  <a:srgbClr val="A3B6C9"/>
                </a:solidFill>
                <a:latin typeface="IBM Plex Sans Medium"/>
              </a:rPr>
              <a:t>Unsere Marken</a:t>
            </a:r>
          </a:p>
        </p:txBody>
      </p:sp>
      <p:sp>
        <p:nvSpPr>
          <p:cNvPr id="22" name="nav-3"/>
          <p:cNvSpPr txBox="1"/>
          <p:nvPr/>
        </p:nvSpPr>
        <p:spPr>
          <a:xfrm>
            <a:off x="6247233" y="254000"/>
            <a:ext cx="1446470" cy="203200"/>
          </a:xfrm>
          <a:prstGeom prst="rect">
            <a:avLst/>
          </a:prstGeom>
          <a:noFill/>
        </p:spPr>
        <p:txBody>
          <a:bodyPr wrap="square" lIns="0" rIns="0" tIns="0" bIns="0" anchor="ctr">
            <a:noAutofit/>
          </a:bodyPr>
          <a:lstStyle/>
          <a:p>
            <a:pPr algn="l"/>
            <a:r>
              <a:rPr sz="1200" b="0" i="0" lang="de-DE">
                <a:solidFill>
                  <a:srgbClr val="A3B6C9"/>
                </a:solidFill>
                <a:latin typeface="IBM Plex Mono"/>
              </a:rPr>
              <a:t>03</a:t>
            </a:r>
            <a:r>
              <a:rPr sz="1200" b="0" i="0" lang="de-DE">
                <a:solidFill>
                  <a:srgbClr val="A3B6C9"/>
                </a:solidFill>
                <a:latin typeface="IBM Plex Mono"/>
              </a:rPr>
              <a:t> </a:t>
            </a:r>
            <a:r>
              <a:rPr sz="1200" b="0" i="0" lang="de-DE" cap="all" spc="72">
                <a:solidFill>
                  <a:srgbClr val="A3B6C9"/>
                </a:solidFill>
                <a:latin typeface="IBM Plex Sans Medium"/>
              </a:rPr>
              <a:t>Leistungen</a:t>
            </a:r>
          </a:p>
        </p:txBody>
      </p:sp>
      <p:sp>
        <p:nvSpPr>
          <p:cNvPr id="23" name="nav-4"/>
          <p:cNvSpPr txBox="1"/>
          <p:nvPr/>
        </p:nvSpPr>
        <p:spPr>
          <a:xfrm>
            <a:off x="7795304" y="254000"/>
            <a:ext cx="1742472" cy="203200"/>
          </a:xfrm>
          <a:prstGeom prst="rect">
            <a:avLst/>
          </a:prstGeom>
          <a:noFill/>
        </p:spPr>
        <p:txBody>
          <a:bodyPr wrap="square" lIns="0" rIns="0" tIns="0" bIns="0" anchor="ctr">
            <a:noAutofit/>
          </a:bodyPr>
          <a:lstStyle/>
          <a:p>
            <a:pPr algn="l"/>
            <a:r>
              <a:rPr sz="1200" b="0" i="0" lang="de-DE">
                <a:solidFill>
                  <a:srgbClr val="A3B6C9"/>
                </a:solidFill>
                <a:latin typeface="IBM Plex Mono"/>
              </a:rPr>
              <a:t>04</a:t>
            </a:r>
            <a:r>
              <a:rPr sz="1200" b="0" i="0" lang="de-DE">
                <a:solidFill>
                  <a:srgbClr val="A3B6C9"/>
                </a:solidFill>
                <a:latin typeface="IBM Plex Mono"/>
              </a:rPr>
              <a:t> </a:t>
            </a:r>
            <a:r>
              <a:rPr sz="1200" b="0" i="0" lang="de-DE" cap="all" spc="72">
                <a:solidFill>
                  <a:srgbClr val="A3B6C9"/>
                </a:solidFill>
                <a:latin typeface="IBM Plex Sans Medium"/>
              </a:rPr>
              <a:t>Rechtsrahmen</a:t>
            </a:r>
          </a:p>
        </p:txBody>
      </p:sp>
      <p:sp>
        <p:nvSpPr>
          <p:cNvPr id="24" name="nav-5-active"/>
          <p:cNvSpPr txBox="1"/>
          <p:nvPr/>
        </p:nvSpPr>
        <p:spPr>
          <a:xfrm>
            <a:off x="9639375" y="254000"/>
            <a:ext cx="1930325" cy="203200"/>
          </a:xfrm>
          <a:prstGeom prst="rect">
            <a:avLst/>
          </a:prstGeom>
          <a:noFill/>
        </p:spPr>
        <p:txBody>
          <a:bodyPr wrap="square" lIns="0" rIns="0" tIns="0" bIns="0" anchor="ctr">
            <a:noAutofit/>
          </a:bodyPr>
          <a:lstStyle/>
          <a:p>
            <a:pPr algn="l"/>
            <a:r>
              <a:rPr sz="1200" b="0" i="0" lang="de-DE">
                <a:solidFill>
                  <a:srgbClr val="8FC65A"/>
                </a:solidFill>
                <a:latin typeface="IBM Plex Mono"/>
              </a:rPr>
              <a:t>05</a:t>
            </a:r>
            <a:r>
              <a:rPr sz="1200" b="0" i="0" lang="de-DE">
                <a:solidFill>
                  <a:srgbClr val="FFFFFF"/>
                </a:solidFill>
                <a:latin typeface="IBM Plex Mono"/>
              </a:rPr>
              <a:t> </a:t>
            </a:r>
            <a:r>
              <a:rPr sz="1200" b="0" i="0" lang="de-DE" cap="all" spc="72">
                <a:solidFill>
                  <a:srgbClr val="FFFFFF"/>
                </a:solidFill>
                <a:latin typeface="IBM Plex Sans Medium"/>
              </a:rPr>
              <a:t>Zusammenarbeit</a:t>
            </a:r>
          </a:p>
        </p:txBody>
      </p:sp>
      <p:sp>
        <p:nvSpPr>
          <p:cNvPr id="25" name="nav-underline"/>
          <p:cNvSpPr/>
          <p:nvPr/>
        </p:nvSpPr>
        <p:spPr>
          <a:xfrm>
            <a:off x="9652075" y="685800"/>
            <a:ext cx="1777925" cy="25400"/>
          </a:xfrm>
          <a:prstGeom prst="rect">
            <a:avLst/>
          </a:prstGeom>
          <a:solidFill>
            <a:srgbClr val="8FC65A"/>
          </a:solidFill>
          <a:ln>
            <a:noFill/>
          </a:ln>
        </p:spPr>
        <p:txBody>
          <a:bodyPr rtlCol="0" anchor="ctr"/>
          <a:lstStyle/>
          <a:p>
            <a:pPr algn="ctr"/>
          </a:p>
        </p:txBody>
      </p:sp>
      <p:sp>
        <p:nvSpPr>
          <p:cNvPr id="26" name="footer"/>
          <p:cNvSpPr txBox="1"/>
          <p:nvPr/>
        </p:nvSpPr>
        <p:spPr>
          <a:xfrm>
            <a:off x="762000" y="6350000"/>
            <a:ext cx="8255000" cy="190500"/>
          </a:xfrm>
          <a:prstGeom prst="rect">
            <a:avLst/>
          </a:prstGeom>
          <a:noFill/>
        </p:spPr>
        <p:txBody>
          <a:bodyPr wrap="square" lIns="0" rIns="0" tIns="0" bIns="0" anchor="ctr">
            <a:noAutofit/>
          </a:bodyPr>
          <a:lstStyle/>
          <a:p>
            <a:pPr algn="l"/>
            <a:r>
              <a:rPr sz="1000" b="0" i="0" lang="de-DE" cap="all" spc="110">
                <a:solidFill>
                  <a:srgbClr val="A3B6C9"/>
                </a:solidFill>
                <a:latin typeface="IBM Plex Mono Medium"/>
              </a:rPr>
              <a:t>Zukunft im Kreislauf</a:t>
            </a:r>
          </a:p>
        </p:txBody>
      </p:sp>
      <p:sp>
        <p:nvSpPr>
          <p:cNvPr id="27" name="page-number"/>
          <p:cNvSpPr txBox="1"/>
          <p:nvPr/>
        </p:nvSpPr>
        <p:spPr>
          <a:xfrm>
            <a:off x="10160000" y="6350000"/>
            <a:ext cx="1270000" cy="190500"/>
          </a:xfrm>
          <a:prstGeom prst="rect">
            <a:avLst/>
          </a:prstGeom>
          <a:noFill/>
        </p:spPr>
        <p:txBody>
          <a:bodyPr wrap="square" lIns="0" rIns="0" tIns="0" bIns="0" anchor="ctr">
            <a:noAutofit/>
          </a:bodyPr>
          <a:lstStyle/>
          <a:p>
            <a:pPr algn="r"/>
            <a:r>
              <a:rPr sz="1000" b="0" i="0" lang="de-DE">
                <a:solidFill>
                  <a:srgbClr val="A3B6C9"/>
                </a:solidFill>
                <a:latin typeface="IBM Plex Mono Medium"/>
              </a:rPr>
              <a:t>30</a:t>
            </a:r>
          </a:p>
        </p:txBody>
      </p:sp>
    </p:spTree>
  </p:cSld>
  <p:clrMapOvr>
    <a:masterClrMapping/>
  </p:clrMapOvr>
</p:sld>
</file>

<file path=ppt/theme/theme1.xml><?xml version="1.0" encoding="utf-8"?>
<a:theme xmlns:a="http://schemas.openxmlformats.org/drawingml/2006/main" name="ECOWERTH Campus">
  <a:themeElements>
    <a:clrScheme name="ECOWERTH Campus">
      <a:dk1>
        <a:srgbClr val="043751"/>
      </a:dk1>
      <a:lt1>
        <a:srgbClr val="FFFFFF"/>
      </a:lt1>
      <a:dk2>
        <a:srgbClr val="032C41"/>
      </a:dk2>
      <a:lt2>
        <a:srgbClr val="F4F6F8"/>
      </a:lt2>
      <a:accent1>
        <a:srgbClr val="6EA52E"/>
      </a:accent1>
      <a:accent2>
        <a:srgbClr val="117EC2"/>
      </a:accent2>
      <a:accent3>
        <a:srgbClr val="AC1920"/>
      </a:accent3>
      <a:accent4>
        <a:srgbClr val="4A6079"/>
      </a:accent4>
      <a:accent5>
        <a:srgbClr val="A3B6C9"/>
      </a:accent5>
      <a:accent6>
        <a:srgbClr val="D9D9D9"/>
      </a:accent6>
      <a:hlink>
        <a:srgbClr val="0F6AA6"/>
      </a:hlink>
      <a:folHlink>
        <a:srgbClr val="4A6079"/>
      </a:folHlink>
    </a:clrScheme>
    <a:fontScheme name="ECOWERTH Campus">
      <a:majorFont>
        <a:latin typeface="Archivo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BM Plex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Zukunft im Kreislauf</dc:title>
  <dc:subject/>
  <dc:creator>ECOWERTH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de-DE</dc:language>
</cp:coreProperties>
</file>